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0000"/>
            <a:ext cx="1109472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10243C"/>
                </a:solidFill>
                <a:latin typeface="Cambria"/>
              </a:rPr>
              <a:t>Paired tumour-vs-normal T cells from 43 patients: which genes does a foundation model read as T-cell state?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50000"/>
            <a:ext cx="110947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10243C"/>
                </a:solidFill>
                <a:latin typeface="Calibri"/>
              </a:rPr>
              <a:t>Kaisar Dauyey</a:t>
            </a:r>
            <a:r>
              <a:rPr sz="1400" b="0" i="0">
                <a:solidFill>
                  <a:srgbClr val="10243C"/>
                </a:solidFill>
                <a:latin typeface="Calibri"/>
              </a:rPr>
              <a:t>  ·  </a:t>
            </a:r>
            <a:r>
              <a:rPr sz="1400" b="1" i="0">
                <a:solidFill>
                  <a:srgbClr val="10243C"/>
                </a:solidFill>
                <a:latin typeface="Calibri"/>
              </a:rPr>
              <a:t>Shinji Nakaoka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80000"/>
            <a:ext cx="110947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Laboratory of Mathematical Biology, Faculty of Advanced Life Science, Hokkaido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00000"/>
            <a:ext cx="3444906" cy="1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B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60000"/>
            <a:ext cx="2987706" cy="7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43 donors, both tissues,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100 cells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546" y="3800000"/>
            <a:ext cx="3444906" cy="1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3D2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2146" y="3960000"/>
            <a:ext cx="2987706" cy="7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Delete AND overexpress,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donor's own normal as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98452" y="3800000"/>
            <a:ext cx="3444906" cy="1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8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27052" y="3960000"/>
            <a:ext cx="2987706" cy="74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Registered before any number;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all 54 rows reported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50000"/>
            <a:ext cx="110947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1">
                <a:solidFill>
                  <a:srgbClr val="B8465E"/>
                </a:solidFill>
                <a:latin typeface="Calibri"/>
              </a:rPr>
              <a:t>Geneformer V2-316M (bf16) · in silico perturbation is a hypothesis generator, not a knockout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Two registered questions, one cleaner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00000"/>
            <a:ext cx="5397360" cy="2300000"/>
          </a:xfrm>
          <a:prstGeom prst="roundRect">
            <a:avLst>
              <a:gd name="adj" fmla="val 4000"/>
            </a:avLst>
          </a:prstGeom>
          <a:solidFill>
            <a:srgbClr val="E8F2EC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0000"/>
            <a:ext cx="494016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Panel A — do the July hits replicate?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0000"/>
            <a:ext cx="4940160" cy="17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The 15 LUAD→normal top genes of the July screen.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July compared LUAD with normal tissue from other studies (study-confounded).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000" y="1300000"/>
            <a:ext cx="5397360" cy="2300000"/>
          </a:xfrm>
          <a:prstGeom prst="roundRect">
            <a:avLst>
              <a:gd name="adj" fmla="val 4000"/>
            </a:avLst>
          </a:prstGeom>
          <a:solidFill>
            <a:srgbClr val="F0EDF9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4600" y="1460000"/>
            <a:ext cx="494016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3D2F6B"/>
                </a:solidFill>
                <a:latin typeface="Calibri"/>
              </a:rPr>
              <a:t>Panel B — does the model read T-cell genes?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4600" y="1790000"/>
            <a:ext cx="4940160" cy="17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The lab's 39 curated T-cell genes (36 perturbable).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July never ranked them in its top 120.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50000"/>
            <a:ext cx="11094720" cy="1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10000"/>
            <a:ext cx="106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What 'a hit' means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0000"/>
            <a:ext cx="10637520" cy="13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Per donor: shift of tumour T cells toward the SAME donor's normal T cells, minus the median of 20 matched control genes.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Exact Wilcoxon over donors, Holm per panel, for deletion and overexpression separately.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A signal needs BOTH arms significant with opposite signs (dose concordance).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Pairing within a donor cancels study, chemistry and person — not ambient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Balanced paired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1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0000"/>
            <a:ext cx="8398632" cy="355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950000"/>
            <a:ext cx="11094720" cy="1150000"/>
          </a:xfrm>
          <a:prstGeom prst="roundRect">
            <a:avLst>
              <a:gd name="adj" fmla="val 4000"/>
            </a:avLst>
          </a:prstGeom>
          <a:solidFill>
            <a:srgbClr val="F9ECE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10000"/>
            <a:ext cx="106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B8465E"/>
                </a:solidFill>
                <a:latin typeface="Calibri"/>
              </a:rPr>
              <a:t>What pairing cannot 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40000"/>
            <a:ext cx="10637520" cy="5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Tumour and normal tissue differ in ambient contamination within each donor. 20 of 43 donors overlap July's LUAD pool. Selection favours T-cell-rich samples; 17 unpaired donors excluded.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CLASSIFIER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The model tells a donor's tumour from normal T cells: 43/43 donors above chance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Held-out, 5-fold donor cross-fitting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2_classifier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00000"/>
            <a:ext cx="6878726" cy="30345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60208" y="1300000"/>
            <a:ext cx="3883151" cy="2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8808" y="1460000"/>
            <a:ext cx="3425951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Gate: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8808" y="1790000"/>
            <a:ext cx="3425951" cy="1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Pooled balanced accuracy 0.825 (gate 0.60).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Sign test p = 2.3e-13.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Every donor scored by a model that never saw it.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Fine-tune not bit-reproducible (band 0.045 per donor); cannot flip the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PANEL A — JULY HITS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13 of 15 July hits are not expressed in T cells — not testable, not refuted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NOT_RUN is not non-replication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3_panel_a_te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0000"/>
            <a:ext cx="7100619" cy="307316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82102" y="1250000"/>
            <a:ext cx="3661257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0702" y="1410000"/>
            <a:ext cx="3204057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Reading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0702" y="1740000"/>
            <a:ext cx="3204057" cy="27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Keratins, mucin, a secretoglobin, a haemoglobin chain: epithelial and blood markers, present in ≤ 8 of 43 donors' T cells.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The one testable gene, POLR2J3, is OPEN (p = 0.10 / 0.25).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The design did not refute the July panel; it showed the panel is mostly not T-cell biology.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Confound: 316M replaced 104M (no 104M arm), so a non-replication could not be attributed — moot, none occurred.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PANEL B — T-CELL 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13 of 34 tested T-cell genes give a dose-concordant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Curated T-cell 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6_panel_b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50000"/>
            <a:ext cx="5600000" cy="51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48640" y="1250000"/>
            <a:ext cx="5294720" cy="1700000"/>
          </a:xfrm>
          <a:prstGeom prst="roundRect">
            <a:avLst>
              <a:gd name="adj" fmla="val 4000"/>
            </a:avLst>
          </a:prstGeom>
          <a:solidFill>
            <a:srgbClr val="E8F2EC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7240" y="1410000"/>
            <a:ext cx="48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Toward normal (11)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7240" y="1740000"/>
            <a:ext cx="4837520" cy="11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CD3D, CD3G, CD247, CD7, LCK, LAT, CD8A, CCR7, GZMA, CD27, 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8640" y="3050000"/>
            <a:ext cx="5294720" cy="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7240" y="3210000"/>
            <a:ext cx="48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B8465E"/>
                </a:solidFill>
                <a:latin typeface="Calibri"/>
              </a:rPr>
              <a:t>Away from normal 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7240" y="3540000"/>
            <a:ext cx="4837520" cy="2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ITK, CTSW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8640" y="3950000"/>
            <a:ext cx="5294720" cy="20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7240" y="4110000"/>
            <a:ext cx="48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Stable — and what cannot be judged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7240" y="4440000"/>
            <a:ext cx="4837520" cy="14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None of the 13 moves under any registered sensitivity.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Below the design d_min of 11 (registered): CD28, CTLA4, LEF1, PDCD1. Of these, CD28, CTLA4, PDCD1 cannot attain significance at any effect size in this family (post hoc) — no evidence either way.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TRAC/TRBC1/TRBC2: not in the model's vocabulary.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DOSE CONCORDANCE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Opposite-signed arms are common even for control genes — effect size separates few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Both arms on the same token-positive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4_dose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00000"/>
            <a:ext cx="5698433" cy="50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48640" y="1300000"/>
            <a:ext cx="4994720" cy="2300000"/>
          </a:xfrm>
          <a:prstGeom prst="roundRect">
            <a:avLst>
              <a:gd name="adj" fmla="val 4000"/>
            </a:avLst>
          </a:prstGeom>
          <a:solidFill>
            <a:srgbClr val="F9ECE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7240" y="1460000"/>
            <a:ext cx="45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B8465E"/>
                </a:solidFill>
                <a:latin typeface="Calibri"/>
              </a:rPr>
              <a:t>Confound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7240" y="1790000"/>
            <a:ext cx="4537520" cy="17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360 matched control entries are anti-correlated too (ρ = −0.62); 35% sit in the toward-normal quadrant.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Post hoc, descriptive: only CCR7, CD3D, GZMA, CD7 (and CD27 on overexpression) lie beyond ~95% of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48640" y="3750000"/>
            <a:ext cx="4994720" cy="22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7240" y="3910000"/>
            <a:ext cx="45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Measured on the same cells (Amendment 3h)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7240" y="4240000"/>
            <a:ext cx="4537520" cy="16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Geneformer overexpresses into all cells; the token-positive subset was reconstructed and checked.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15,142 / 15,142 count checks; 8 / 8 GPU identity pairs bit-identical.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PER DONOR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The medians are not carried by a few donors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Per-donor control-adjusted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5_per_don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50000"/>
            <a:ext cx="7545741" cy="51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SENSITIVITIES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The coherent set does not move under any registered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Reported alongside; never used to change a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7_sensi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50000"/>
            <a:ext cx="11094720" cy="29490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450000"/>
            <a:ext cx="11094720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10000"/>
            <a:ext cx="1063752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Three fragile rows, outside the coherent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40000"/>
            <a:ext cx="10637520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GZMK: deletion-only → away under all-cells overexpress.  PRF1: open → deletion-only if any control counts.  CD69: deletion-only → dose-incoherent under Holm-over-tested and under the global goal.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4A5768"/>
                </a:solidFill>
                <a:latin typeface="Calibri"/>
              </a:rPr>
              <a:t>Panel-level: 21 toward vs 13 away, sign test p = 0.23 — genes share controls, so signs are not independent.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What each status licenses — 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Interpretation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50000"/>
            <a:ext cx="262368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B6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0000"/>
            <a:ext cx="216648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T-cell signal (13)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0000"/>
            <a:ext cx="2166480" cy="23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Licenses: Model-internal, donor-consistent, dose-concordant response beyond matched controls.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Does not: Not a causal driver; mostly not unusual among genes.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2320" y="1350000"/>
            <a:ext cx="262368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920" y="1510000"/>
            <a:ext cx="216648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E69F00"/>
                </a:solidFill>
                <a:latin typeface="Calibri"/>
              </a:rPr>
              <a:t>Deletion only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920" y="1840000"/>
            <a:ext cx="2166480" cy="23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Licenses: A consistent deletion effect.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Does not: No direction; no signal claim.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000" y="1350000"/>
            <a:ext cx="262368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4A57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4600" y="1510000"/>
            <a:ext cx="216648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10243C"/>
                </a:solidFill>
                <a:latin typeface="Calibri"/>
              </a:rPr>
              <a:t>Open (20)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4600" y="1840000"/>
            <a:ext cx="2166480" cy="23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Licenses: The registered test did not call it.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Does not: Not 'no effect'; for CD28/CTLA4/PDCD1 no evidence either 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9680" y="1350000"/>
            <a:ext cx="262368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93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8280" y="1510000"/>
            <a:ext cx="216648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93A3B5"/>
                </a:solidFill>
                <a:latin typeface="Calibri"/>
              </a:rPr>
              <a:t>Not run (18) · no controls 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280" y="1840000"/>
            <a:ext cx="2166480" cy="23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Licenses: Not expressed in enough donors' T cells, or not in the vocabulary.</a:t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Does not: Not non-replication; not no effect.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What this design still cannot rule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Ambient 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Tumour vs normal tissue differ in contamination within a donor; pairing cannot remove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3546" y="13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2146" y="15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Model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2146" y="18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316M bf16 replaced July's 104M fp32; no 104M arm.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8452" y="13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7052" y="15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Not independent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052" y="18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20 of 43 donors overlap July's LUAD pool.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T-cell-rich samples only; 17 unpaired donors excluded.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546" y="30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2146" y="32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Nondeterminism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2146" y="35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Fine-tuning is not bit-reproducible; the ISP inherits these fold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8452" y="3050000"/>
            <a:ext cx="3564906" cy="1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7052" y="3210000"/>
            <a:ext cx="3107706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052" y="3540000"/>
            <a:ext cx="3107706" cy="9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150" b="0" i="0">
                <a:solidFill>
                  <a:srgbClr val="4A5768"/>
                </a:solidFill>
                <a:latin typeface="Calibri"/>
              </a:rPr>
              <a:t>No-op and wrapper checks ran after Phase 6 started; the overexpress cell set was fixed by Amendment 3h after Phase 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"/>
            <a:ext cx="11094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50" b="1" i="0" spc="200">
                <a:solidFill>
                  <a:srgbClr val="0B6F6A"/>
                </a:solidFill>
                <a:latin typeface="Calibri"/>
              </a:rPr>
              <a:t>SO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1094720" cy="76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10243C"/>
                </a:solidFill>
                <a:latin typeface="Cambria"/>
              </a:rPr>
              <a:t>For the July screen: its LUAD→normal list was mostly not T-cell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Implications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19088"/>
            <a:ext cx="6400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4A5768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50000"/>
            <a:ext cx="5397360" cy="2800000"/>
          </a:xfrm>
          <a:prstGeom prst="roundRect">
            <a:avLst>
              <a:gd name="adj" fmla="val 4000"/>
            </a:avLst>
          </a:prstGeom>
          <a:solidFill>
            <a:srgbClr val="E8F2EC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10000"/>
            <a:ext cx="494016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What this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40000"/>
            <a:ext cx="4940160" cy="22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13 of 15 July hits cannot be tested in T cells under a paired, balanced design.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The model does read canonical T-cell genes (CD3 complex, LCK, LAT, CD8A, CCR7, GZMA) in a donor-consistent, dose-concordant way.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Effect size, not significance, separates a handful from arbitrary genes.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6000" y="1350000"/>
            <a:ext cx="5397360" cy="28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4600" y="1510000"/>
            <a:ext cx="4940160" cy="3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50" b="1" i="0">
                <a:solidFill>
                  <a:srgbClr val="0B6F6A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4600" y="1840000"/>
            <a:ext cx="4940160" cy="221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Genome-wide control distribution, to rank effect size formally (registered first).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Checkpoint genes (CTLA4, PDCD1, CD28) need more token-positive donors: a larger cohort or a looser cap.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A 104M arm, if attribution to model vs design is wanted.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4A5768"/>
                </a:solidFill>
                <a:latin typeface="Calibri"/>
              </a:rPr>
              <a:t>Independent tissue validation for the top four (CCR7, CD3D, GZMA, CD7).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