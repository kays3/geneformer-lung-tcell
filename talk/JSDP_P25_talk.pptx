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50" b="0" i="0" u="none" strike="noStrike">
                <a:solidFill>
                  <a:srgbClr val="10243C"/>
                </a:solidFill>
                <a:latin typeface="Calibri"/>
              </a:defRPr>
            </a:pPr>
            <a:r>
              <a:rPr sz="1250" b="0" i="0" u="none" strike="noStrike">
                <a:solidFill>
                  <a:srgbClr val="10243C"/>
                </a:solidFill>
                <a:latin typeface="Calibri"/>
              </a:rPr>
              <a:t>Spatial ρ by programme</a:t>
            </a:r>
          </a:p>
        </c:rich>
      </c:tx>
      <c:layout/>
      <c:overlay val="0"/>
    </c:title>
    <c:autoTitleDeleted val="0"/>
    <c:plotArea>
      <c:layout/>
      <c:barChart>
        <c:barDir val="bar"/>
        <c:grouping val="clustered"/>
        <c:varyColors val="0"/>
        <c:ser>
          <c:idx val="0"/>
          <c:order val="0"/>
          <c:tx>
            <c:strRef>
              <c:f>Sheet1!$B$1</c:f>
              <c:strCache>
                <c:ptCount val="1"/>
                <c:pt idx="0">
                  <c:v>Raw rho</c:v>
                </c:pt>
              </c:strCache>
            </c:strRef>
          </c:tx>
          <c:spPr>
            <a:solidFill>
              <a:srgbClr val="0B6F6A"/>
            </a:solidFill>
            <a:effectLst/>
          </c:spPr>
          <c:invertIfNegative val="0"/>
          <c:dLbls>
            <c:numFmt formatCode="0.000" sourceLinked="0"/>
            <c:txPr>
              <a:bodyPr/>
              <a:lstStyle/>
              <a:p>
                <a:pPr>
                  <a:defRPr b="0" i="0" strike="noStrike" sz="1000" u="none">
                    <a:solidFill>
                      <a:srgbClr val="4A5768"/>
                    </a:solidFill>
                    <a:latin typeface="Calibri"/>
                  </a:defRPr>
                </a:pPr>
              </a:p>
            </c:txPr>
            <c:showLegendKey val="0"/>
            <c:showVal val="1"/>
            <c:showCatName val="0"/>
            <c:showSerName val="0"/>
            <c:showPercent val="0"/>
            <c:showBubbleSize val="0"/>
            <c:showLeaderLines val="0"/>
          </c:dLbls>
          <c:dPt>
            <c:idx val="0"/>
            <c:invertIfNegative val="0"/>
            <c:bubble3D val="0"/>
            <c:spPr>
              <a:solidFill>
                <a:srgbClr val="0B6F6A"/>
              </a:solidFill>
              <a:effectLst/>
            </c:spPr>
          </c:dPt>
          <c:dPt>
            <c:idx val="1"/>
            <c:invertIfNegative val="0"/>
            <c:bubble3D val="0"/>
            <c:spPr>
              <a:solidFill>
                <a:srgbClr val="3D2F6B"/>
              </a:solidFill>
              <a:effectLst/>
            </c:spPr>
          </c:dPt>
          <c:dPt>
            <c:idx val="2"/>
            <c:invertIfNegative val="0"/>
            <c:bubble3D val="0"/>
            <c:spPr>
              <a:solidFill>
                <a:srgbClr val="8FA6B8"/>
              </a:solidFill>
              <a:effectLst/>
            </c:spPr>
          </c:dPt>
          <c:dPt>
            <c:idx val="3"/>
            <c:invertIfNegative val="0"/>
            <c:bubble3D val="0"/>
            <c:spPr>
              <a:solidFill>
                <a:srgbClr val="AEBCCB"/>
              </a:solidFill>
              <a:effectLst/>
            </c:spPr>
          </c:dPt>
          <c:dPt>
            <c:idx val="4"/>
            <c:invertIfNegative val="0"/>
            <c:bubble3D val="0"/>
            <c:spPr>
              <a:solidFill>
                <a:srgbClr val="C9D3DE"/>
              </a:solidFill>
              <a:effectLst/>
            </c:spPr>
          </c:dPt>
          <c:cat>
            <c:multiLvlStrRef>
              <c:f>Sheet1!$A$2:$A$6</c:f>
              <c:multiLvlStrCache>
                <c:ptCount val="5"/>
                <c:lvl>
                  <c:pt idx="0">
                    <c:v>Cytotoxic effector</c:v>
                  </c:pt>
                  <c:pt idx="1">
                    <c:v>Antigen presentation</c:v>
                  </c:pt>
                  <c:pt idx="2">
                    <c:v>Interferon</c:v>
                  </c:pt>
                  <c:pt idx="3">
                    <c:v>Checkpoint/exhaustion</c:v>
                  </c:pt>
                  <c:pt idx="4">
                    <c:v>Dysfunction benchmark</c:v>
                  </c:pt>
                </c:lvl>
              </c:multiLvlStrCache>
            </c:multiLvlStrRef>
          </c:cat>
          <c:val>
            <c:numRef>
              <c:f>Sheet1!$B$2:$B$6</c:f>
              <c:numCache>
                <c:formatCode>General</c:formatCode>
                <c:ptCount val="5"/>
                <c:pt idx="0">
                  <c:v>0.413</c:v>
                </c:pt>
                <c:pt idx="1">
                  <c:v>0.361</c:v>
                </c:pt>
                <c:pt idx="2">
                  <c:v>0.28</c:v>
                </c:pt>
                <c:pt idx="3">
                  <c:v>0.218</c:v>
                </c:pt>
                <c:pt idx="4">
                  <c:v>0.161</c:v>
                </c:pt>
              </c:numCache>
            </c:numRef>
          </c:val>
        </c:ser>
        <c:dLbls>
          <c:numFmt formatCode="0.000" sourceLinked="0"/>
          <c:txPr>
            <a:bodyPr/>
            <a:lstStyle/>
            <a:p>
              <a:pPr>
                <a:defRPr b="0" i="0" strike="noStrike" sz="1000" u="none">
                  <a:solidFill>
                    <a:srgbClr val="4A5768"/>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4A5768"/>
                </a:solidFill>
                <a:latin typeface="Calibri"/>
              </a:defRPr>
            </a:pPr>
            <a:endParaRPr lang="en-US"/>
          </a:p>
        </c:txPr>
        <c:crossAx val="2094734552"/>
        <c:crosses val="autoZero"/>
        <c:auto val="1"/>
        <c:lblAlgn val="ctr"/>
        <c:noMultiLvlLbl val="1"/>
      </c:catAx>
      <c:valAx>
        <c:axId val="2094734552"/>
        <c:scaling>
          <c:orientation val="minMax"/>
          <c:max val="0.5"/>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clinical stake: SCLC is the most aggressive thoracic malignancy and barely responds to checkpoint blockade, despite a high mutational burden that should make it visible to the immune system.
State the result up front: a foundation model, perturbed in silico, nominates dysfunction candidates in SCLC T cells; the programme it points to is associated with T-cell abundance in independent tumour tissue.
Name the honest framing now — this is a hypothesis generator validated against tissue, not a knockout experiment. Saying it early buys credibility for everything that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four stages in plain language, pausing on stage 2 — the key mental model is that Geneformer reads a cell as an ordered list of its genes, most-expressed first. It is a rank order, not expression values.
Deleting a gene drops it out of the list and everything below moves up a rank; overexpressing moves it to the top. Re-reading the modified cell gives a predicted change in cell state, averaged over thousands of real cells.
Stage 4 is the measurement: the model places cells on a map of disease states, and the perturbation shifts a cell along that map — here, toward the normal T-cell state.
Say the caveat out loud: nothing is edited in a laboratory here. This is the conceptual keystone for a non-modelling audience, so do not rush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bridge between the method and every number that follows. Two rules decide what counts.
Rule one is bidirectional concordance: a gene only counts when deleting it and overexpressing it move cells in OPPOSITE directions. If both edits push the cell the same way, the model is not responding to the direction of the change, and the gene is discarded. This is the internal consistency check, and it is stricter than a significance threshold.
Rule two is replication: the four headline edits hold the same sign in all three SCLC donors, at FDR &lt; 0.05 in both arms, with at least 100 detected source cells.
On the right, be explicit about what a 'shift' is: a change in similarity on the model's own scale, running about 0.001 to 0.01, pooled over thousands of real cells. Small numbers are expected — and slide 7 explains why the big ones are the suspicious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Provenance first: HTAN MSK collection via the CELLxGENE 'T cells' dataset — 46,140 CD4+CD8 T cells x 24,540 features from 42 individuals.
Explain the 45-vs-42 arithmetic before anyone asks: the split table has one row per donor x disease, so a donor contributing both tumour and normal tissue appears twice. The three-row difference is exactly the three paired tumour-normal donors, RU675, RU682, RU684.
The credibility point: splits are donor-disjoint and audited — zero leakage across all 42 individuals, with a cross-disease guard for the paired donors. Every performance number downstream is measured on people the model never saw. This is checked by assertion at build time, not by trusting a stored PASS string.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Headline the metrics: 91.9% accuracy, macro F1 0.903 on 9,377 held-out cells from 8 donors. Donor-held-out performance separates SCLC, Normal and LUAD well enough to support the downstream perturbation screen.
Do not skip the diagonal. Normal recall is 98.6% and LUAD 95.9%, but SCLC is 80.0% — and the 20% that is missed goes almost entirely to LUAD, 484 cells. Flag it yourself before a reviewer does.
Preview the tension: that SCLC-to-LUAD confusion reappears on slide 7 as a directional result the model produces, and it is the one thing you have not reconciled. Planting it here makes slide 7 land as rigour rather than as a hole.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Scope the screen: 50 checkpoint and T-cell engineering genes, tested on the SCLC to Normal transition. Of 123 concordant hits genome-wide, 43 are fully donor-consistent; within this targeted panel, four edits survive every filter.
State the conjunction, because it is stricter than 'biggest effect': concordant in both perturbation arms, FDR &lt; 0.05 in both, same sign in all three SCLC donors, and detected in at least 100 source cells. These rows are selected in code by that conjunction, so the table cannot drift from the criteria printed beside it.
Read the biology plainly: deleting TIM-3, TIGIT, CTLA-4 or IL7R moves SCLC T cells toward a normal T-cell state; overexpressing moves them away. Then set up slide 7 — before you believe the ranking, one control changes how you read these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control that reframes the screen: across the 50-gene panel, detection count and nominal effect size are strongly anti-correlated, Spearman rho = -0.60 (p = 2.7e-5, n = 42). The fewer cells a gene is detected in, the larger its apparent shift. Effect magnitude alone is therefore not a ranking criterion — which is exactly why slide 6 ranked on replication and detection instead.
Reinforce with the gaps: 8 of 50 genes have no deletion result at all — undetected in SCLC source cells, so deletion is undefined, not zero — and 18 fall below 100 detected cells.
Then the honest part, and give it real time: on the exhaustion axis the model orders states Normal &lt; SCLC &lt; LUAD. TIGIT overexpression moves SCLC cells away from Normal but toward LUAD. That runs opposite to the clinical picture of SCLC as a cold, ICI-resistant tumour. Present it as an open question — a tumour-level clinical phenotype and a T-cell-intrinsic model axis are not the same measurement.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Separate the four hits by how interpretable they are, because they are not equivalent: TIGIT has the strongest external CAR-T support; TIM-3 has direct knockout precedent in solid-tumour models; CTLA-4 is a real signal with less CAR-T-specific evidence; IL7R is a persistence/fitness target, not an exhaustion checkpoint at all. Grouping them as 'four checkpoints' would be wrong.
The structural limit, stated as design not apology: this is a T-cell atlas, so it can only test T-cell-intrinsic edits. The CAR-T tumour antigens — DLL3, SEZ6, NCAM1, CD276, CEACAM5 — are not perturbable here because they are not expressed by T cells. Likewise PD-L1 is absent from the atlas, so this screen cannot speak to PD-L1 biology.
Land the translational read: the actionable axis is checkpoint knockout in the T-cell product (TIGIT, HAVCR2) plus persistence engineering (IL7R) — which is precisely the CRISPR experiment on slide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independence: GSE263196 is a different cohort, a different assay and a different lab — five fresh-frozen SCLC sections, 15,632 of 15,774 in-tissue spots retained (99.1%), all 21 marker genes present in every specimen. No donor, cell or read is shared with the discovery atlas.
Explain the measurement in one breath: at every spatially indexed spot you score two disjoint marker panels — T-cell abundance and T-cell dysfunction — then correlate them within each specimen. The panels share no genes, so the correlation cannot be a self-correlation.
Walk the figure top to bottom: row A is the T-cell identity score, row B the dysfunction score, row C the per-specimen effects with the pooled estimate.
Give both numbers, correctly attributed. The benchmark 7-gene dysfunction panel gives pooled rho = 0.161 [0.146, 0.176], significant in 4 of 5 specimens. The 13-gene antigen-presentation programme is stronger at rho = 0.361, rising to 0.384 controlling for sequencing depth, and sits 7.95 sigma above an expression-matched random null. Depth control RAISING the estimate is the opposite of what a technical artifact does.
Be straight about effect size: modest correlations with high between-specimen heterogeneity, I-squared about 99%, consistent with real differences in tumour microenvironment composition rather than measurement noise.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that the four replicated edits are not scattered: all 11 ICI/CAR-T candidates map onto a connected STRING neighbourhood, 54 filtered edges among 16 context genes, with TIM-3, TIGIT, CTLA-4 and IL7R sitting close to the cytotoxic and interferon machinery.
State the epistemics without hedging: this map is a literature overlay, prior interaction evidence — it is NOT a gene-to-gene network inferred from these cells. It provides context for the hits; it is not independent evidence for them.
Point out the informative absences: TOX and LAYN carry no STRING edge above threshold, and PD-L1 is not in the T-cell atlas at all. TIM-3 is the strongest individual hit but has no supported non-text-mining edge to another checkpoint here — an explicit asymmetry, not a plotting omission.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 these as deliberate scope, briskly and without apology — a clean limits slide pre-empts the hostile version of every Q&amp;A question, and this audience will respect it.
The one that matters most: perturbation shifts are model-derived interventions on a rank-value encoding, not experimental knockouts. Everything upstream is a prioritised hypothesis. Say this sentence verbatim.
The measurement caveats, quickly: detection is source-state specific, so absence of a result is not evidence of absence; the spatial work uses marker-score proxies rather than formal deconvolution; there are no Normal or LUAD sections, so SCLC-specificity of the spatial association is untested; and the design is correlational, in archival tissue.
This is a spoken slide. Hold it briefly — the audience should be listening, not reading ahead.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loop in three beats: a donor-clean fine-tuned model (91.9%, F1 0.903) leads to four replicated, detection-adequate candidate edits, which lead to an antigen-presentation programme that tracks T-cell abundance in independent tumour tissue (rho 0.361, 7.95 sigma).
Name the falsifying experiment concretely: CRISPR knockout of TIGIT and HAVCR2 in an SCLC co-culture, and Perturb-seq in primary T cells read directly against these in silico predictions. That is what turns predicted shifts into measured ones.
Leave the open question open — the Normal &lt; SCLC &lt; LUAD axis. Inviting the room to argue about it is a better close than a tidy conclusion, and it is the honest state of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9-1.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43C"/>
        </a:solidFill>
      </p:bgPr>
    </p:bg>
    <p:spTree>
      <p:nvGrpSpPr>
        <p:cNvPr id="1" name=""/>
        <p:cNvGrpSpPr/>
        <p:nvPr/>
      </p:nvGrpSpPr>
      <p:grpSpPr>
        <a:xfrm>
          <a:off x="0" y="0"/>
          <a:ext cx="0" cy="0"/>
          <a:chOff x="0" y="0"/>
          <a:chExt cx="0" cy="0"/>
        </a:xfrm>
      </p:grpSpPr>
      <p:sp>
        <p:nvSpPr>
          <p:cNvPr id="2" name="Text 0"/>
          <p:cNvSpPr/>
          <p:nvPr/>
        </p:nvSpPr>
        <p:spPr>
          <a:xfrm>
            <a:off x="548640" y="502920"/>
            <a:ext cx="11094415" cy="274320"/>
          </a:xfrm>
          <a:prstGeom prst="rect">
            <a:avLst/>
          </a:prstGeom>
          <a:noFill/>
          <a:ln/>
        </p:spPr>
        <p:txBody>
          <a:bodyPr wrap="square" lIns="0" tIns="0" rIns="0" bIns="0" rtlCol="0" anchor="ctr"/>
          <a:lstStyle/>
          <a:p>
            <a:pPr indent="0" marL="0">
              <a:buNone/>
            </a:pPr>
            <a:r>
              <a:rPr lang="en-US" sz="1200" b="1" spc="200" kern="0" dirty="0">
                <a:solidFill>
                  <a:srgbClr val="8FB3C9"/>
                </a:solidFill>
                <a:latin typeface="Calibri" pitchFamily="34" charset="0"/>
                <a:ea typeface="Calibri" pitchFamily="34" charset="-122"/>
                <a:cs typeface="Calibri" pitchFamily="34" charset="-120"/>
              </a:rPr>
              <a:t>24JSDP  ·  ABSTRACT P25</a:t>
            </a:r>
            <a:endParaRPr lang="en-US" sz="1200" dirty="0"/>
          </a:p>
        </p:txBody>
      </p:sp>
      <p:sp>
        <p:nvSpPr>
          <p:cNvPr id="3" name="Text 1"/>
          <p:cNvSpPr/>
          <p:nvPr/>
        </p:nvSpPr>
        <p:spPr>
          <a:xfrm>
            <a:off x="548640" y="914400"/>
            <a:ext cx="10911535" cy="16459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A foundation model points to antigen presentation in SCLC T-cell dysfunction — and independent tissue agrees</a:t>
            </a:r>
            <a:endParaRPr lang="en-US" sz="3000" dirty="0"/>
          </a:p>
        </p:txBody>
      </p:sp>
      <p:sp>
        <p:nvSpPr>
          <p:cNvPr id="4" name="Text 2"/>
          <p:cNvSpPr/>
          <p:nvPr/>
        </p:nvSpPr>
        <p:spPr>
          <a:xfrm>
            <a:off x="548640" y="2670048"/>
            <a:ext cx="11094415" cy="2743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Kaisar Dauyey</a:t>
            </a:r>
            <a:pPr indent="0" marL="0">
              <a:buNone/>
            </a:pPr>
            <a:r>
              <a:rPr lang="en-US" sz="1500" dirty="0">
                <a:solidFill>
                  <a:srgbClr val="6E8AA6"/>
                </a:solidFill>
                <a:latin typeface="Calibri" pitchFamily="34" charset="0"/>
                <a:ea typeface="Calibri" pitchFamily="34" charset="-122"/>
                <a:cs typeface="Calibri" pitchFamily="34" charset="-120"/>
              </a:rPr>
              <a:t>  ·  </a:t>
            </a:r>
            <a:pPr indent="0" marL="0">
              <a:buNone/>
            </a:pPr>
            <a:r>
              <a:rPr lang="en-US" sz="1500" b="1" dirty="0">
                <a:solidFill>
                  <a:srgbClr val="FFFFFF"/>
                </a:solidFill>
                <a:latin typeface="Calibri" pitchFamily="34" charset="0"/>
                <a:ea typeface="Calibri" pitchFamily="34" charset="-122"/>
                <a:cs typeface="Calibri" pitchFamily="34" charset="-120"/>
              </a:rPr>
              <a:t>Shinji Nakaoka</a:t>
            </a:r>
            <a:endParaRPr lang="en-US" sz="1500" dirty="0"/>
          </a:p>
        </p:txBody>
      </p:sp>
      <p:sp>
        <p:nvSpPr>
          <p:cNvPr id="5" name="Text 3"/>
          <p:cNvSpPr/>
          <p:nvPr/>
        </p:nvSpPr>
        <p:spPr>
          <a:xfrm>
            <a:off x="548640" y="2944368"/>
            <a:ext cx="11094415" cy="274320"/>
          </a:xfrm>
          <a:prstGeom prst="rect">
            <a:avLst/>
          </a:prstGeom>
          <a:noFill/>
          <a:ln/>
        </p:spPr>
        <p:txBody>
          <a:bodyPr wrap="square" lIns="0" tIns="0" rIns="0" bIns="0" rtlCol="0" anchor="ctr"/>
          <a:lstStyle/>
          <a:p>
            <a:pPr indent="0" marL="0">
              <a:buNone/>
            </a:pPr>
            <a:r>
              <a:rPr lang="en-US" sz="1200" dirty="0">
                <a:solidFill>
                  <a:srgbClr val="9DB4C8"/>
                </a:solidFill>
                <a:latin typeface="Calibri" pitchFamily="34" charset="0"/>
                <a:ea typeface="Calibri" pitchFamily="34" charset="-122"/>
                <a:cs typeface="Calibri" pitchFamily="34" charset="-120"/>
              </a:rPr>
              <a:t>Laboratory of Mathematical Biology, Faculty of Advanced Life Science, Hokkaido University</a:t>
            </a:r>
            <a:endParaRPr lang="en-US" sz="1200" dirty="0"/>
          </a:p>
        </p:txBody>
      </p:sp>
      <p:sp>
        <p:nvSpPr>
          <p:cNvPr id="6" name="Shape 4"/>
          <p:cNvSpPr/>
          <p:nvPr/>
        </p:nvSpPr>
        <p:spPr>
          <a:xfrm>
            <a:off x="548640" y="3794760"/>
            <a:ext cx="3442106" cy="1078992"/>
          </a:xfrm>
          <a:prstGeom prst="roundRect">
            <a:avLst>
              <a:gd name="adj" fmla="val 6780"/>
            </a:avLst>
          </a:prstGeom>
          <a:solidFill>
            <a:srgbClr val="1B3454"/>
          </a:solidFill>
          <a:ln w="19050">
            <a:solidFill>
              <a:srgbClr val="0B6F6A"/>
            </a:solidFill>
            <a:prstDash val="solid"/>
          </a:ln>
        </p:spPr>
      </p:sp>
      <p:sp>
        <p:nvSpPr>
          <p:cNvPr id="7" name="Text 5"/>
          <p:cNvSpPr/>
          <p:nvPr/>
        </p:nvSpPr>
        <p:spPr>
          <a:xfrm>
            <a:off x="658368" y="3794760"/>
            <a:ext cx="3222650" cy="1078992"/>
          </a:xfrm>
          <a:prstGeom prst="rect">
            <a:avLst/>
          </a:prstGeom>
          <a:noFill/>
          <a:ln/>
        </p:spPr>
        <p:txBody>
          <a:bodyPr wrap="square" lIns="0" tIns="0" rIns="0" bIns="0" rtlCol="0" anchor="ctr"/>
          <a:lstStyle/>
          <a:p>
            <a:pPr algn="ctr" indent="0" marL="0">
              <a:buNone/>
            </a:pPr>
            <a:r>
              <a:rPr lang="en-US" sz="1250" dirty="0">
                <a:solidFill>
                  <a:srgbClr val="FFFFFF"/>
                </a:solidFill>
                <a:latin typeface="Calibri" pitchFamily="34" charset="0"/>
                <a:ea typeface="Calibri" pitchFamily="34" charset="-122"/>
                <a:cs typeface="Calibri" pitchFamily="34" charset="-120"/>
              </a:rPr>
              <a:t>Model-derived dysfunction</a:t>
            </a:r>
            <a:endParaRPr lang="en-US" sz="1250" dirty="0"/>
          </a:p>
          <a:p>
            <a:pPr algn="ctr" indent="0" marL="0">
              <a:buNone/>
            </a:pPr>
            <a:r>
              <a:rPr lang="en-US" sz="1250" dirty="0">
                <a:solidFill>
                  <a:srgbClr val="FFFFFF"/>
                </a:solidFill>
                <a:latin typeface="Calibri" pitchFamily="34" charset="0"/>
                <a:ea typeface="Calibri" pitchFamily="34" charset="-122"/>
                <a:cs typeface="Calibri" pitchFamily="34" charset="-120"/>
              </a:rPr>
              <a:t>candidates in SCLC</a:t>
            </a:r>
            <a:endParaRPr lang="en-US" sz="1250" dirty="0"/>
          </a:p>
        </p:txBody>
      </p:sp>
      <p:sp>
        <p:nvSpPr>
          <p:cNvPr id="8" name="Text 6"/>
          <p:cNvSpPr/>
          <p:nvPr/>
        </p:nvSpPr>
        <p:spPr>
          <a:xfrm>
            <a:off x="3990746" y="3794760"/>
            <a:ext cx="384048" cy="1078992"/>
          </a:xfrm>
          <a:prstGeom prst="rect">
            <a:avLst/>
          </a:prstGeom>
          <a:noFill/>
          <a:ln/>
        </p:spPr>
        <p:txBody>
          <a:bodyPr wrap="square" lIns="0" tIns="0" rIns="0" bIns="0" rtlCol="0" anchor="ctr"/>
          <a:lstStyle/>
          <a:p>
            <a:pPr algn="ctr" indent="0" marL="0">
              <a:buNone/>
            </a:pPr>
            <a:r>
              <a:rPr lang="en-US" sz="2000" dirty="0">
                <a:solidFill>
                  <a:srgbClr val="6E8AA6"/>
                </a:solidFill>
                <a:latin typeface="Calibri" pitchFamily="34" charset="0"/>
                <a:ea typeface="Calibri" pitchFamily="34" charset="-122"/>
                <a:cs typeface="Calibri" pitchFamily="34" charset="-120"/>
              </a:rPr>
              <a:t>→</a:t>
            </a:r>
            <a:endParaRPr lang="en-US" sz="2000" dirty="0"/>
          </a:p>
        </p:txBody>
      </p:sp>
      <p:sp>
        <p:nvSpPr>
          <p:cNvPr id="9" name="Shape 7"/>
          <p:cNvSpPr/>
          <p:nvPr/>
        </p:nvSpPr>
        <p:spPr>
          <a:xfrm>
            <a:off x="4374794" y="3794760"/>
            <a:ext cx="3442106" cy="1078992"/>
          </a:xfrm>
          <a:prstGeom prst="roundRect">
            <a:avLst>
              <a:gd name="adj" fmla="val 6780"/>
            </a:avLst>
          </a:prstGeom>
          <a:solidFill>
            <a:srgbClr val="1B3454"/>
          </a:solidFill>
          <a:ln w="19050">
            <a:solidFill>
              <a:srgbClr val="6B5AA8"/>
            </a:solidFill>
            <a:prstDash val="solid"/>
          </a:ln>
        </p:spPr>
      </p:sp>
      <p:sp>
        <p:nvSpPr>
          <p:cNvPr id="10" name="Text 8"/>
          <p:cNvSpPr/>
          <p:nvPr/>
        </p:nvSpPr>
        <p:spPr>
          <a:xfrm>
            <a:off x="4484522" y="3794760"/>
            <a:ext cx="3222650" cy="1078992"/>
          </a:xfrm>
          <a:prstGeom prst="rect">
            <a:avLst/>
          </a:prstGeom>
          <a:noFill/>
          <a:ln/>
        </p:spPr>
        <p:txBody>
          <a:bodyPr wrap="square" lIns="0" tIns="0" rIns="0" bIns="0" rtlCol="0" anchor="ctr"/>
          <a:lstStyle/>
          <a:p>
            <a:pPr algn="ctr" indent="0" marL="0">
              <a:buNone/>
            </a:pPr>
            <a:r>
              <a:rPr lang="en-US" sz="1250" dirty="0">
                <a:solidFill>
                  <a:srgbClr val="FFFFFF"/>
                </a:solidFill>
                <a:latin typeface="Calibri" pitchFamily="34" charset="0"/>
                <a:ea typeface="Calibri" pitchFamily="34" charset="-122"/>
                <a:cs typeface="Calibri" pitchFamily="34" charset="-120"/>
              </a:rPr>
              <a:t>Antigen-presentation</a:t>
            </a:r>
            <a:endParaRPr lang="en-US" sz="1250" dirty="0"/>
          </a:p>
          <a:p>
            <a:pPr algn="ctr" indent="0" marL="0">
              <a:buNone/>
            </a:pPr>
            <a:r>
              <a:rPr lang="en-US" sz="1250" dirty="0">
                <a:solidFill>
                  <a:srgbClr val="FFFFFF"/>
                </a:solidFill>
                <a:latin typeface="Calibri" pitchFamily="34" charset="0"/>
                <a:ea typeface="Calibri" pitchFamily="34" charset="-122"/>
                <a:cs typeface="Calibri" pitchFamily="34" charset="-120"/>
              </a:rPr>
              <a:t>programme</a:t>
            </a:r>
            <a:endParaRPr lang="en-US" sz="1250" dirty="0"/>
          </a:p>
        </p:txBody>
      </p:sp>
      <p:sp>
        <p:nvSpPr>
          <p:cNvPr id="11" name="Text 9"/>
          <p:cNvSpPr/>
          <p:nvPr/>
        </p:nvSpPr>
        <p:spPr>
          <a:xfrm>
            <a:off x="7816901" y="3794760"/>
            <a:ext cx="384048" cy="1078992"/>
          </a:xfrm>
          <a:prstGeom prst="rect">
            <a:avLst/>
          </a:prstGeom>
          <a:noFill/>
          <a:ln/>
        </p:spPr>
        <p:txBody>
          <a:bodyPr wrap="square" lIns="0" tIns="0" rIns="0" bIns="0" rtlCol="0" anchor="ctr"/>
          <a:lstStyle/>
          <a:p>
            <a:pPr algn="ctr" indent="0" marL="0">
              <a:buNone/>
            </a:pPr>
            <a:r>
              <a:rPr lang="en-US" sz="2000" dirty="0">
                <a:solidFill>
                  <a:srgbClr val="6E8AA6"/>
                </a:solidFill>
                <a:latin typeface="Calibri" pitchFamily="34" charset="0"/>
                <a:ea typeface="Calibri" pitchFamily="34" charset="-122"/>
                <a:cs typeface="Calibri" pitchFamily="34" charset="-120"/>
              </a:rPr>
              <a:t>→</a:t>
            </a:r>
            <a:endParaRPr lang="en-US" sz="2000" dirty="0"/>
          </a:p>
        </p:txBody>
      </p:sp>
      <p:sp>
        <p:nvSpPr>
          <p:cNvPr id="12" name="Shape 10"/>
          <p:cNvSpPr/>
          <p:nvPr/>
        </p:nvSpPr>
        <p:spPr>
          <a:xfrm>
            <a:off x="8200949" y="3794760"/>
            <a:ext cx="3442106" cy="1078992"/>
          </a:xfrm>
          <a:prstGeom prst="roundRect">
            <a:avLst>
              <a:gd name="adj" fmla="val 6780"/>
            </a:avLst>
          </a:prstGeom>
          <a:solidFill>
            <a:srgbClr val="1B3454"/>
          </a:solidFill>
          <a:ln w="19050">
            <a:solidFill>
              <a:srgbClr val="B8465E"/>
            </a:solidFill>
            <a:prstDash val="solid"/>
          </a:ln>
        </p:spPr>
      </p:sp>
      <p:sp>
        <p:nvSpPr>
          <p:cNvPr id="13" name="Text 11"/>
          <p:cNvSpPr/>
          <p:nvPr/>
        </p:nvSpPr>
        <p:spPr>
          <a:xfrm>
            <a:off x="8310677" y="3794760"/>
            <a:ext cx="3222650" cy="1078992"/>
          </a:xfrm>
          <a:prstGeom prst="rect">
            <a:avLst/>
          </a:prstGeom>
          <a:noFill/>
          <a:ln/>
        </p:spPr>
        <p:txBody>
          <a:bodyPr wrap="square" lIns="0" tIns="0" rIns="0" bIns="0" rtlCol="0" anchor="ctr"/>
          <a:lstStyle/>
          <a:p>
            <a:pPr algn="ctr" indent="0" marL="0">
              <a:buNone/>
            </a:pPr>
            <a:r>
              <a:rPr lang="en-US" sz="1250" dirty="0">
                <a:solidFill>
                  <a:srgbClr val="FFFFFF"/>
                </a:solidFill>
                <a:latin typeface="Calibri" pitchFamily="34" charset="0"/>
                <a:ea typeface="Calibri" pitchFamily="34" charset="-122"/>
                <a:cs typeface="Calibri" pitchFamily="34" charset="-120"/>
              </a:rPr>
              <a:t>Associated with T-cell abundance</a:t>
            </a:r>
            <a:endParaRPr lang="en-US" sz="1250" dirty="0"/>
          </a:p>
          <a:p>
            <a:pPr algn="ctr" indent="0" marL="0">
              <a:buNone/>
            </a:pPr>
            <a:r>
              <a:rPr lang="en-US" sz="1250" dirty="0">
                <a:solidFill>
                  <a:srgbClr val="FFFFFF"/>
                </a:solidFill>
                <a:latin typeface="Calibri" pitchFamily="34" charset="0"/>
                <a:ea typeface="Calibri" pitchFamily="34" charset="-122"/>
                <a:cs typeface="Calibri" pitchFamily="34" charset="-120"/>
              </a:rPr>
              <a:t>in independent tumour tissue</a:t>
            </a:r>
            <a:endParaRPr lang="en-US" sz="1250" dirty="0"/>
          </a:p>
        </p:txBody>
      </p:sp>
      <p:sp>
        <p:nvSpPr>
          <p:cNvPr id="14" name="Text 12"/>
          <p:cNvSpPr/>
          <p:nvPr/>
        </p:nvSpPr>
        <p:spPr>
          <a:xfrm>
            <a:off x="548640" y="5138928"/>
            <a:ext cx="9768535" cy="310896"/>
          </a:xfrm>
          <a:prstGeom prst="rect">
            <a:avLst/>
          </a:prstGeom>
          <a:noFill/>
          <a:ln/>
        </p:spPr>
        <p:txBody>
          <a:bodyPr wrap="square" lIns="0" tIns="0" rIns="0" bIns="0" rtlCol="0" anchor="ctr"/>
          <a:lstStyle/>
          <a:p>
            <a:pPr indent="0" marL="0">
              <a:buNone/>
            </a:pPr>
            <a:r>
              <a:rPr lang="en-US" sz="1350" b="1" i="1" dirty="0">
                <a:solidFill>
                  <a:srgbClr val="F0C9D3"/>
                </a:solidFill>
                <a:latin typeface="Calibri" pitchFamily="34" charset="0"/>
                <a:ea typeface="Calibri" pitchFamily="34" charset="-122"/>
                <a:cs typeface="Calibri" pitchFamily="34" charset="-120"/>
              </a:rPr>
              <a:t>Hypothesis generator, tissue-validated — not a knockout screen</a:t>
            </a:r>
            <a:endParaRPr lang="en-US" sz="1350" dirty="0"/>
          </a:p>
        </p:txBody>
      </p:sp>
      <p:pic>
        <p:nvPicPr>
          <p:cNvPr id="15" name="Image 0" descr="/Users/kaisar/workspace/geneformer-lung-tcell/talk/assets/qr.png">    </p:cNvPr>
          <p:cNvPicPr>
            <a:picLocks noChangeAspect="1"/>
          </p:cNvPicPr>
          <p:nvPr/>
        </p:nvPicPr>
        <p:blipFill>
          <a:blip r:embed="rId1"/>
          <a:stretch>
            <a:fillRect/>
          </a:stretch>
        </p:blipFill>
        <p:spPr>
          <a:xfrm>
            <a:off x="10564063" y="5138928"/>
            <a:ext cx="1078992" cy="1078992"/>
          </a:xfrm>
          <a:prstGeom prst="rect">
            <a:avLst/>
          </a:prstGeom>
        </p:spPr>
      </p:pic>
      <p:sp>
        <p:nvSpPr>
          <p:cNvPr id="16" name="Text 13"/>
          <p:cNvSpPr/>
          <p:nvPr/>
        </p:nvSpPr>
        <p:spPr>
          <a:xfrm>
            <a:off x="548640" y="5870448"/>
            <a:ext cx="6858000" cy="274320"/>
          </a:xfrm>
          <a:prstGeom prst="rect">
            <a:avLst/>
          </a:prstGeom>
          <a:noFill/>
          <a:ln/>
        </p:spPr>
        <p:txBody>
          <a:bodyPr wrap="square" lIns="0" tIns="0" rIns="0" bIns="0" rtlCol="0" anchor="ctr"/>
          <a:lstStyle/>
          <a:p>
            <a:pPr indent="0" marL="0">
              <a:buNone/>
            </a:pPr>
            <a:r>
              <a:rPr lang="en-US" sz="1100" dirty="0">
                <a:solidFill>
                  <a:srgbClr val="8FB3C9"/>
                </a:solidFill>
                <a:latin typeface="Calibri" pitchFamily="34" charset="0"/>
                <a:ea typeface="Calibri" pitchFamily="34" charset="-122"/>
                <a:cs typeface="Calibri" pitchFamily="34" charset="-120"/>
              </a:rPr>
              <a:t>github.com/Kays3/geneformer-lung-tcell</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91440"/>
            <a:ext cx="11094415" cy="201168"/>
          </a:xfrm>
          <a:prstGeom prst="rect">
            <a:avLst/>
          </a:prstGeom>
          <a:noFill/>
          <a:ln/>
        </p:spPr>
        <p:txBody>
          <a:bodyPr wrap="square" lIns="0" tIns="0" rIns="0" bIns="0" rtlCol="0" anchor="ctr"/>
          <a:lstStyle/>
          <a:p>
            <a:pPr indent="0" marL="0">
              <a:buNone/>
            </a:pPr>
            <a:r>
              <a:rPr lang="en-US" sz="1100" b="1" spc="160" kern="0" dirty="0">
                <a:solidFill>
                  <a:srgbClr val="0B6F6A"/>
                </a:solidFill>
                <a:latin typeface="Calibri" pitchFamily="34" charset="0"/>
                <a:ea typeface="Calibri" pitchFamily="34" charset="-122"/>
                <a:cs typeface="Calibri" pitchFamily="34" charset="-120"/>
              </a:rPr>
              <a:t>METHOD</a:t>
            </a:r>
            <a:endParaRPr lang="en-US" sz="1100" dirty="0"/>
          </a:p>
        </p:txBody>
      </p:sp>
      <p:sp>
        <p:nvSpPr>
          <p:cNvPr id="3" name="Text 1"/>
          <p:cNvSpPr/>
          <p:nvPr/>
        </p:nvSpPr>
        <p:spPr>
          <a:xfrm>
            <a:off x="548640" y="329184"/>
            <a:ext cx="11094415" cy="658368"/>
          </a:xfrm>
          <a:prstGeom prst="rect">
            <a:avLst/>
          </a:prstGeom>
          <a:noFill/>
          <a:ln/>
        </p:spPr>
        <p:txBody>
          <a:bodyPr wrap="square" lIns="0" tIns="0" rIns="0" bIns="0" rtlCol="0" anchor="t"/>
          <a:lstStyle/>
          <a:p>
            <a:pPr algn="l" indent="0" marL="0">
              <a:buNone/>
            </a:pPr>
            <a:r>
              <a:rPr lang="en-US" sz="2700" b="1" dirty="0">
                <a:solidFill>
                  <a:srgbClr val="10243C"/>
                </a:solidFill>
                <a:latin typeface="Cambria" pitchFamily="34" charset="0"/>
                <a:ea typeface="Cambria" pitchFamily="34" charset="-122"/>
                <a:cs typeface="Cambria" pitchFamily="34" charset="-120"/>
              </a:rPr>
              <a:t>What is an in silico perturbation?</a:t>
            </a:r>
            <a:endParaRPr lang="en-US" sz="2700" dirty="0"/>
          </a:p>
        </p:txBody>
      </p:sp>
      <p:sp>
        <p:nvSpPr>
          <p:cNvPr id="4" name="Text 2"/>
          <p:cNvSpPr/>
          <p:nvPr/>
        </p:nvSpPr>
        <p:spPr>
          <a:xfrm>
            <a:off x="548640" y="6419088"/>
            <a:ext cx="7315200" cy="256032"/>
          </a:xfrm>
          <a:prstGeom prst="rect">
            <a:avLst/>
          </a:prstGeom>
          <a:noFill/>
          <a:ln/>
        </p:spPr>
        <p:txBody>
          <a:bodyPr wrap="square" lIns="0" tIns="0" rIns="0" bIns="0" rtlCol="0" anchor="ctr"/>
          <a:lstStyle/>
          <a:p>
            <a:pPr indent="0" marL="0">
              <a:buNone/>
            </a:pPr>
            <a:r>
              <a:rPr lang="en-US" sz="950" dirty="0">
                <a:solidFill>
                  <a:srgbClr val="7A8798"/>
                </a:solidFill>
                <a:latin typeface="Calibri" pitchFamily="34" charset="0"/>
                <a:ea typeface="Calibri" pitchFamily="34" charset="-122"/>
                <a:cs typeface="Calibri" pitchFamily="34" charset="-120"/>
              </a:rPr>
              <a:t>Reading a cell as a ranked gene list</a:t>
            </a:r>
            <a:endParaRPr lang="en-US" sz="950" dirty="0"/>
          </a:p>
        </p:txBody>
      </p:sp>
      <p:sp>
        <p:nvSpPr>
          <p:cNvPr id="5" name="Text 3"/>
          <p:cNvSpPr/>
          <p:nvPr/>
        </p:nvSpPr>
        <p:spPr>
          <a:xfrm>
            <a:off x="11002975" y="6419088"/>
            <a:ext cx="640080" cy="256032"/>
          </a:xfrm>
          <a:prstGeom prst="rect">
            <a:avLst/>
          </a:prstGeom>
          <a:noFill/>
          <a:ln/>
        </p:spPr>
        <p:txBody>
          <a:bodyPr wrap="square" lIns="0" tIns="0" rIns="0" bIns="0" rtlCol="0" anchor="ctr"/>
          <a:lstStyle/>
          <a:p>
            <a:pPr algn="r" indent="0" marL="0">
              <a:buNone/>
            </a:pPr>
            <a:r>
              <a:rPr lang="en-US" sz="950" dirty="0">
                <a:solidFill>
                  <a:srgbClr val="7A8798"/>
                </a:solidFill>
                <a:latin typeface="Calibri" pitchFamily="34" charset="0"/>
                <a:ea typeface="Calibri" pitchFamily="34" charset="-122"/>
                <a:cs typeface="Calibri" pitchFamily="34" charset="-120"/>
              </a:rPr>
              <a:t>2</a:t>
            </a:r>
            <a:endParaRPr lang="en-US" sz="950" dirty="0"/>
          </a:p>
        </p:txBody>
      </p:sp>
      <p:sp>
        <p:nvSpPr>
          <p:cNvPr id="6" name="Text 4"/>
          <p:cNvSpPr/>
          <p:nvPr/>
        </p:nvSpPr>
        <p:spPr>
          <a:xfrm>
            <a:off x="548640" y="1097280"/>
            <a:ext cx="11094415" cy="658368"/>
          </a:xfrm>
          <a:prstGeom prst="rect">
            <a:avLst/>
          </a:prstGeom>
          <a:noFill/>
          <a:ln/>
        </p:spPr>
        <p:txBody>
          <a:bodyPr wrap="square" lIns="0" tIns="0" rIns="0" bIns="0" rtlCol="0" anchor="t"/>
          <a:lstStyle/>
          <a:p>
            <a:pPr indent="0" marL="0">
              <a:lnSpc>
                <a:spcPts val="2100"/>
              </a:lnSpc>
              <a:buNone/>
            </a:pPr>
            <a:r>
              <a:rPr lang="en-US" sz="1450" dirty="0">
                <a:solidFill>
                  <a:srgbClr val="16202C"/>
                </a:solidFill>
                <a:latin typeface="Calibri" pitchFamily="34" charset="0"/>
                <a:ea typeface="Calibri" pitchFamily="34" charset="-122"/>
                <a:cs typeface="Calibri" pitchFamily="34" charset="-120"/>
              </a:rPr>
              <a:t>Geneformer reads a cell as an </a:t>
            </a:r>
            <a:pPr indent="0" marL="0">
              <a:lnSpc>
                <a:spcPts val="2100"/>
              </a:lnSpc>
              <a:buNone/>
            </a:pPr>
            <a:r>
              <a:rPr lang="en-US" sz="1450" b="1" dirty="0">
                <a:solidFill>
                  <a:srgbClr val="16202C"/>
                </a:solidFill>
                <a:latin typeface="Calibri" pitchFamily="34" charset="0"/>
                <a:ea typeface="Calibri" pitchFamily="34" charset="-122"/>
                <a:cs typeface="Calibri" pitchFamily="34" charset="-120"/>
              </a:rPr>
              <a:t>ordered list of its genes</a:t>
            </a:r>
            <a:pPr indent="0" marL="0">
              <a:lnSpc>
                <a:spcPts val="2100"/>
              </a:lnSpc>
              <a:buNone/>
            </a:pPr>
            <a:r>
              <a:rPr lang="en-US" sz="1450" dirty="0">
                <a:solidFill>
                  <a:srgbClr val="16202C"/>
                </a:solidFill>
                <a:latin typeface="Calibri" pitchFamily="34" charset="0"/>
                <a:ea typeface="Calibri" pitchFamily="34" charset="-122"/>
                <a:cs typeface="Calibri" pitchFamily="34" charset="-120"/>
              </a:rPr>
              <a:t>, most-expressed first. Deleting or inserting one gene in that list and re-reading the cell asks a counterfactual question: </a:t>
            </a:r>
            <a:pPr indent="0" marL="0">
              <a:lnSpc>
                <a:spcPts val="2100"/>
              </a:lnSpc>
              <a:buNone/>
            </a:pPr>
            <a:r>
              <a:rPr lang="en-US" sz="1450" i="1" dirty="0">
                <a:solidFill>
                  <a:srgbClr val="0B6F6A"/>
                </a:solidFill>
                <a:latin typeface="Calibri" pitchFamily="34" charset="0"/>
                <a:ea typeface="Calibri" pitchFamily="34" charset="-122"/>
                <a:cs typeface="Calibri" pitchFamily="34" charset="-120"/>
              </a:rPr>
              <a:t>if this gene changed, would the cell look more like a different disease state?</a:t>
            </a:r>
            <a:endParaRPr lang="en-US" sz="1450" dirty="0"/>
          </a:p>
        </p:txBody>
      </p:sp>
      <p:sp>
        <p:nvSpPr>
          <p:cNvPr id="7" name="Shape 5"/>
          <p:cNvSpPr/>
          <p:nvPr/>
        </p:nvSpPr>
        <p:spPr>
          <a:xfrm>
            <a:off x="548640" y="2121408"/>
            <a:ext cx="301752" cy="301752"/>
          </a:xfrm>
          <a:prstGeom prst="ellipse">
            <a:avLst/>
          </a:prstGeom>
          <a:solidFill>
            <a:srgbClr val="0B6F6A"/>
          </a:solidFill>
          <a:ln w="12700">
            <a:solidFill>
              <a:srgbClr val="0B6F6A"/>
            </a:solidFill>
            <a:prstDash val="solid"/>
          </a:ln>
        </p:spPr>
      </p:sp>
      <p:sp>
        <p:nvSpPr>
          <p:cNvPr id="8" name="Text 6"/>
          <p:cNvSpPr/>
          <p:nvPr/>
        </p:nvSpPr>
        <p:spPr>
          <a:xfrm>
            <a:off x="548640" y="2121408"/>
            <a:ext cx="301752" cy="30175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932688" y="2121408"/>
            <a:ext cx="2197532" cy="301752"/>
          </a:xfrm>
          <a:prstGeom prst="rect">
            <a:avLst/>
          </a:prstGeom>
          <a:noFill/>
          <a:ln/>
        </p:spPr>
        <p:txBody>
          <a:bodyPr wrap="square" lIns="0" tIns="0" rIns="0" bIns="0" rtlCol="0" anchor="ctr"/>
          <a:lstStyle/>
          <a:p>
            <a:pPr indent="0" marL="0">
              <a:buNone/>
            </a:pPr>
            <a:r>
              <a:rPr lang="en-US" sz="1500" b="1" dirty="0">
                <a:solidFill>
                  <a:srgbClr val="10243C"/>
                </a:solidFill>
                <a:latin typeface="Cambria" pitchFamily="34" charset="0"/>
                <a:ea typeface="Cambria" pitchFamily="34" charset="-122"/>
                <a:cs typeface="Cambria" pitchFamily="34" charset="-120"/>
              </a:rPr>
              <a:t>One T cell</a:t>
            </a:r>
            <a:endParaRPr lang="en-US" sz="1500" dirty="0"/>
          </a:p>
        </p:txBody>
      </p:sp>
      <p:sp>
        <p:nvSpPr>
          <p:cNvPr id="10" name="Shape 8"/>
          <p:cNvSpPr/>
          <p:nvPr/>
        </p:nvSpPr>
        <p:spPr>
          <a:xfrm>
            <a:off x="3386252" y="2121408"/>
            <a:ext cx="301752" cy="301752"/>
          </a:xfrm>
          <a:prstGeom prst="ellipse">
            <a:avLst/>
          </a:prstGeom>
          <a:solidFill>
            <a:srgbClr val="0B6F6A"/>
          </a:solidFill>
          <a:ln w="12700">
            <a:solidFill>
              <a:srgbClr val="0B6F6A"/>
            </a:solidFill>
            <a:prstDash val="solid"/>
          </a:ln>
        </p:spPr>
      </p:sp>
      <p:sp>
        <p:nvSpPr>
          <p:cNvPr id="11" name="Text 9"/>
          <p:cNvSpPr/>
          <p:nvPr/>
        </p:nvSpPr>
        <p:spPr>
          <a:xfrm>
            <a:off x="3386252" y="2121408"/>
            <a:ext cx="301752" cy="30175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3770300" y="2121408"/>
            <a:ext cx="2197532" cy="301752"/>
          </a:xfrm>
          <a:prstGeom prst="rect">
            <a:avLst/>
          </a:prstGeom>
          <a:noFill/>
          <a:ln/>
        </p:spPr>
        <p:txBody>
          <a:bodyPr wrap="square" lIns="0" tIns="0" rIns="0" bIns="0" rtlCol="0" anchor="ctr"/>
          <a:lstStyle/>
          <a:p>
            <a:pPr indent="0" marL="0">
              <a:buNone/>
            </a:pPr>
            <a:r>
              <a:rPr lang="en-US" sz="1500" b="1" dirty="0">
                <a:solidFill>
                  <a:srgbClr val="10243C"/>
                </a:solidFill>
                <a:latin typeface="Cambria" pitchFamily="34" charset="0"/>
                <a:ea typeface="Cambria" pitchFamily="34" charset="-122"/>
                <a:cs typeface="Cambria" pitchFamily="34" charset="-120"/>
              </a:rPr>
              <a:t>Rank its genes</a:t>
            </a:r>
            <a:endParaRPr lang="en-US" sz="1500" dirty="0"/>
          </a:p>
        </p:txBody>
      </p:sp>
      <p:sp>
        <p:nvSpPr>
          <p:cNvPr id="13" name="Shape 11"/>
          <p:cNvSpPr/>
          <p:nvPr/>
        </p:nvSpPr>
        <p:spPr>
          <a:xfrm>
            <a:off x="6223864" y="2121408"/>
            <a:ext cx="301752" cy="301752"/>
          </a:xfrm>
          <a:prstGeom prst="ellipse">
            <a:avLst/>
          </a:prstGeom>
          <a:solidFill>
            <a:srgbClr val="B8465E"/>
          </a:solidFill>
          <a:ln w="12700">
            <a:solidFill>
              <a:srgbClr val="B8465E"/>
            </a:solidFill>
            <a:prstDash val="solid"/>
          </a:ln>
        </p:spPr>
      </p:sp>
      <p:sp>
        <p:nvSpPr>
          <p:cNvPr id="14" name="Text 12"/>
          <p:cNvSpPr/>
          <p:nvPr/>
        </p:nvSpPr>
        <p:spPr>
          <a:xfrm>
            <a:off x="6223864" y="2121408"/>
            <a:ext cx="301752" cy="30175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p:nvPr/>
        </p:nvSpPr>
        <p:spPr>
          <a:xfrm>
            <a:off x="6607912" y="2121408"/>
            <a:ext cx="2197532" cy="301752"/>
          </a:xfrm>
          <a:prstGeom prst="rect">
            <a:avLst/>
          </a:prstGeom>
          <a:noFill/>
          <a:ln/>
        </p:spPr>
        <p:txBody>
          <a:bodyPr wrap="square" lIns="0" tIns="0" rIns="0" bIns="0" rtlCol="0" anchor="ctr"/>
          <a:lstStyle/>
          <a:p>
            <a:pPr indent="0" marL="0">
              <a:buNone/>
            </a:pPr>
            <a:r>
              <a:rPr lang="en-US" sz="1500" b="1" dirty="0">
                <a:solidFill>
                  <a:srgbClr val="10243C"/>
                </a:solidFill>
                <a:latin typeface="Cambria" pitchFamily="34" charset="0"/>
                <a:ea typeface="Cambria" pitchFamily="34" charset="-122"/>
                <a:cs typeface="Cambria" pitchFamily="34" charset="-120"/>
              </a:rPr>
              <a:t>Edit one gene</a:t>
            </a:r>
            <a:endParaRPr lang="en-US" sz="1500" dirty="0"/>
          </a:p>
        </p:txBody>
      </p:sp>
      <p:sp>
        <p:nvSpPr>
          <p:cNvPr id="16" name="Shape 14"/>
          <p:cNvSpPr/>
          <p:nvPr/>
        </p:nvSpPr>
        <p:spPr>
          <a:xfrm>
            <a:off x="9061475" y="2121408"/>
            <a:ext cx="301752" cy="301752"/>
          </a:xfrm>
          <a:prstGeom prst="ellipse">
            <a:avLst/>
          </a:prstGeom>
          <a:solidFill>
            <a:srgbClr val="1A6B3C"/>
          </a:solidFill>
          <a:ln w="12700">
            <a:solidFill>
              <a:srgbClr val="1A6B3C"/>
            </a:solidFill>
            <a:prstDash val="solid"/>
          </a:ln>
        </p:spPr>
      </p:sp>
      <p:sp>
        <p:nvSpPr>
          <p:cNvPr id="17" name="Text 15"/>
          <p:cNvSpPr/>
          <p:nvPr/>
        </p:nvSpPr>
        <p:spPr>
          <a:xfrm>
            <a:off x="9061475" y="2121408"/>
            <a:ext cx="301752" cy="30175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8" name="Text 16"/>
          <p:cNvSpPr/>
          <p:nvPr/>
        </p:nvSpPr>
        <p:spPr>
          <a:xfrm>
            <a:off x="9445523" y="2121408"/>
            <a:ext cx="2197532" cy="301752"/>
          </a:xfrm>
          <a:prstGeom prst="rect">
            <a:avLst/>
          </a:prstGeom>
          <a:noFill/>
          <a:ln/>
        </p:spPr>
        <p:txBody>
          <a:bodyPr wrap="square" lIns="0" tIns="0" rIns="0" bIns="0" rtlCol="0" anchor="ctr"/>
          <a:lstStyle/>
          <a:p>
            <a:pPr indent="0" marL="0">
              <a:buNone/>
            </a:pPr>
            <a:r>
              <a:rPr lang="en-US" sz="1500" b="1" dirty="0">
                <a:solidFill>
                  <a:srgbClr val="10243C"/>
                </a:solidFill>
                <a:latin typeface="Cambria" pitchFamily="34" charset="0"/>
                <a:ea typeface="Cambria" pitchFamily="34" charset="-122"/>
                <a:cs typeface="Cambria" pitchFamily="34" charset="-120"/>
              </a:rPr>
              <a:t>Measure the move</a:t>
            </a:r>
            <a:endParaRPr lang="en-US" sz="1500" dirty="0"/>
          </a:p>
        </p:txBody>
      </p:sp>
      <p:sp>
        <p:nvSpPr>
          <p:cNvPr id="19" name="Shape 17"/>
          <p:cNvSpPr/>
          <p:nvPr/>
        </p:nvSpPr>
        <p:spPr>
          <a:xfrm>
            <a:off x="1024128" y="2971800"/>
            <a:ext cx="1600200" cy="1600200"/>
          </a:xfrm>
          <a:prstGeom prst="ellipse">
            <a:avLst/>
          </a:prstGeom>
          <a:solidFill>
            <a:srgbClr val="EAF1F8"/>
          </a:solidFill>
          <a:ln w="19050">
            <a:solidFill>
              <a:srgbClr val="2C6E9B"/>
            </a:solidFill>
            <a:prstDash val="solid"/>
          </a:ln>
        </p:spPr>
      </p:sp>
      <p:sp>
        <p:nvSpPr>
          <p:cNvPr id="20" name="Shape 18"/>
          <p:cNvSpPr/>
          <p:nvPr/>
        </p:nvSpPr>
        <p:spPr>
          <a:xfrm>
            <a:off x="1572768" y="3520440"/>
            <a:ext cx="548640" cy="502920"/>
          </a:xfrm>
          <a:prstGeom prst="ellipse">
            <a:avLst/>
          </a:prstGeom>
          <a:solidFill>
            <a:srgbClr val="CFE0EC"/>
          </a:solidFill>
          <a:ln w="12700">
            <a:solidFill>
              <a:srgbClr val="2C6E9B"/>
            </a:solidFill>
            <a:prstDash val="solid"/>
          </a:ln>
        </p:spPr>
      </p:sp>
      <p:sp>
        <p:nvSpPr>
          <p:cNvPr id="21" name="Text 19"/>
          <p:cNvSpPr/>
          <p:nvPr/>
        </p:nvSpPr>
        <p:spPr>
          <a:xfrm>
            <a:off x="1572768" y="3520440"/>
            <a:ext cx="548640" cy="502920"/>
          </a:xfrm>
          <a:prstGeom prst="rect">
            <a:avLst/>
          </a:prstGeom>
          <a:noFill/>
          <a:ln/>
        </p:spPr>
        <p:txBody>
          <a:bodyPr wrap="square" lIns="0" tIns="0" rIns="0" bIns="0" rtlCol="0" anchor="ctr"/>
          <a:lstStyle/>
          <a:p>
            <a:pPr algn="ctr" indent="0" marL="0">
              <a:buNone/>
            </a:pPr>
            <a:r>
              <a:rPr lang="en-US" sz="750" dirty="0">
                <a:solidFill>
                  <a:srgbClr val="2C6E9B"/>
                </a:solidFill>
                <a:latin typeface="Calibri" pitchFamily="34" charset="0"/>
                <a:ea typeface="Calibri" pitchFamily="34" charset="-122"/>
                <a:cs typeface="Calibri" pitchFamily="34" charset="-120"/>
              </a:rPr>
              <a:t>nucleus</a:t>
            </a:r>
            <a:endParaRPr lang="en-US" sz="750" dirty="0"/>
          </a:p>
        </p:txBody>
      </p:sp>
      <p:sp>
        <p:nvSpPr>
          <p:cNvPr id="22" name="Shape 20"/>
          <p:cNvSpPr/>
          <p:nvPr/>
        </p:nvSpPr>
        <p:spPr>
          <a:xfrm>
            <a:off x="1280160" y="3282696"/>
            <a:ext cx="82296" cy="82296"/>
          </a:xfrm>
          <a:prstGeom prst="ellipse">
            <a:avLst/>
          </a:prstGeom>
          <a:solidFill>
            <a:srgbClr val="2C6E9B"/>
          </a:solidFill>
          <a:ln w="12700">
            <a:solidFill>
              <a:srgbClr val="2C6E9B"/>
            </a:solidFill>
            <a:prstDash val="solid"/>
          </a:ln>
        </p:spPr>
      </p:sp>
      <p:sp>
        <p:nvSpPr>
          <p:cNvPr id="23" name="Shape 21"/>
          <p:cNvSpPr/>
          <p:nvPr/>
        </p:nvSpPr>
        <p:spPr>
          <a:xfrm>
            <a:off x="2103120" y="3154680"/>
            <a:ext cx="82296" cy="82296"/>
          </a:xfrm>
          <a:prstGeom prst="ellipse">
            <a:avLst/>
          </a:prstGeom>
          <a:solidFill>
            <a:srgbClr val="2C6E9B"/>
          </a:solidFill>
          <a:ln w="12700">
            <a:solidFill>
              <a:srgbClr val="2C6E9B"/>
            </a:solidFill>
            <a:prstDash val="solid"/>
          </a:ln>
        </p:spPr>
      </p:sp>
      <p:sp>
        <p:nvSpPr>
          <p:cNvPr id="24" name="Shape 22"/>
          <p:cNvSpPr/>
          <p:nvPr/>
        </p:nvSpPr>
        <p:spPr>
          <a:xfrm>
            <a:off x="1335024" y="4069080"/>
            <a:ext cx="82296" cy="82296"/>
          </a:xfrm>
          <a:prstGeom prst="ellipse">
            <a:avLst/>
          </a:prstGeom>
          <a:solidFill>
            <a:srgbClr val="2C6E9B"/>
          </a:solidFill>
          <a:ln w="12700">
            <a:solidFill>
              <a:srgbClr val="2C6E9B"/>
            </a:solidFill>
            <a:prstDash val="solid"/>
          </a:ln>
        </p:spPr>
      </p:sp>
      <p:sp>
        <p:nvSpPr>
          <p:cNvPr id="25" name="Shape 23"/>
          <p:cNvSpPr/>
          <p:nvPr/>
        </p:nvSpPr>
        <p:spPr>
          <a:xfrm>
            <a:off x="2212848" y="4142232"/>
            <a:ext cx="82296" cy="82296"/>
          </a:xfrm>
          <a:prstGeom prst="ellipse">
            <a:avLst/>
          </a:prstGeom>
          <a:solidFill>
            <a:srgbClr val="2C6E9B"/>
          </a:solidFill>
          <a:ln w="12700">
            <a:solidFill>
              <a:srgbClr val="2C6E9B"/>
            </a:solidFill>
            <a:prstDash val="solid"/>
          </a:ln>
        </p:spPr>
      </p:sp>
      <p:sp>
        <p:nvSpPr>
          <p:cNvPr id="26" name="Shape 24"/>
          <p:cNvSpPr/>
          <p:nvPr/>
        </p:nvSpPr>
        <p:spPr>
          <a:xfrm>
            <a:off x="1682496" y="3099816"/>
            <a:ext cx="82296" cy="82296"/>
          </a:xfrm>
          <a:prstGeom prst="ellipse">
            <a:avLst/>
          </a:prstGeom>
          <a:solidFill>
            <a:srgbClr val="2C6E9B"/>
          </a:solidFill>
          <a:ln w="12700">
            <a:solidFill>
              <a:srgbClr val="2C6E9B"/>
            </a:solidFill>
            <a:prstDash val="solid"/>
          </a:ln>
        </p:spPr>
      </p:sp>
      <p:sp>
        <p:nvSpPr>
          <p:cNvPr id="27" name="Shape 25"/>
          <p:cNvSpPr/>
          <p:nvPr/>
        </p:nvSpPr>
        <p:spPr>
          <a:xfrm>
            <a:off x="2322576" y="3657600"/>
            <a:ext cx="82296" cy="82296"/>
          </a:xfrm>
          <a:prstGeom prst="ellipse">
            <a:avLst/>
          </a:prstGeom>
          <a:solidFill>
            <a:srgbClr val="2C6E9B"/>
          </a:solidFill>
          <a:ln w="12700">
            <a:solidFill>
              <a:srgbClr val="2C6E9B"/>
            </a:solidFill>
            <a:prstDash val="solid"/>
          </a:ln>
        </p:spPr>
      </p:sp>
      <p:sp>
        <p:nvSpPr>
          <p:cNvPr id="28" name="Text 26"/>
          <p:cNvSpPr/>
          <p:nvPr/>
        </p:nvSpPr>
        <p:spPr>
          <a:xfrm>
            <a:off x="3386252" y="2542032"/>
            <a:ext cx="2581580" cy="237744"/>
          </a:xfrm>
          <a:prstGeom prst="rect">
            <a:avLst/>
          </a:prstGeom>
          <a:noFill/>
          <a:ln/>
        </p:spPr>
        <p:txBody>
          <a:bodyPr wrap="square" lIns="0" tIns="0" rIns="0" bIns="0" rtlCol="0" anchor="ctr"/>
          <a:lstStyle/>
          <a:p>
            <a:pPr indent="0" marL="0">
              <a:buNone/>
            </a:pPr>
            <a:r>
              <a:rPr lang="en-US" sz="950" dirty="0">
                <a:solidFill>
                  <a:srgbClr val="7A8798"/>
                </a:solidFill>
                <a:latin typeface="Calibri" pitchFamily="34" charset="0"/>
                <a:ea typeface="Calibri" pitchFamily="34" charset="-122"/>
                <a:cs typeface="Calibri" pitchFamily="34" charset="-120"/>
              </a:rPr>
              <a:t>most expressed</a:t>
            </a:r>
            <a:endParaRPr lang="en-US" sz="950" dirty="0"/>
          </a:p>
        </p:txBody>
      </p:sp>
      <p:sp>
        <p:nvSpPr>
          <p:cNvPr id="29" name="Shape 27"/>
          <p:cNvSpPr/>
          <p:nvPr/>
        </p:nvSpPr>
        <p:spPr>
          <a:xfrm>
            <a:off x="3386252" y="2852928"/>
            <a:ext cx="2581580" cy="292608"/>
          </a:xfrm>
          <a:prstGeom prst="roundRect">
            <a:avLst>
              <a:gd name="adj" fmla="val 12500"/>
            </a:avLst>
          </a:prstGeom>
          <a:solidFill>
            <a:srgbClr val="FFFFFF"/>
          </a:solidFill>
          <a:ln w="9525">
            <a:solidFill>
              <a:srgbClr val="D5DEE7"/>
            </a:solidFill>
            <a:prstDash val="solid"/>
          </a:ln>
        </p:spPr>
      </p:sp>
      <p:sp>
        <p:nvSpPr>
          <p:cNvPr id="30" name="Text 28"/>
          <p:cNvSpPr/>
          <p:nvPr/>
        </p:nvSpPr>
        <p:spPr>
          <a:xfrm>
            <a:off x="3495980" y="2852928"/>
            <a:ext cx="914400" cy="292608"/>
          </a:xfrm>
          <a:prstGeom prst="rect">
            <a:avLst/>
          </a:prstGeom>
          <a:noFill/>
          <a:ln/>
        </p:spPr>
        <p:txBody>
          <a:bodyPr wrap="square" lIns="0" tIns="0" rIns="0" bIns="0" rtlCol="0" anchor="ctr"/>
          <a:lstStyle/>
          <a:p>
            <a:pPr indent="0" marL="0">
              <a:buNone/>
            </a:pPr>
            <a:r>
              <a:rPr lang="en-US" sz="1150" dirty="0">
                <a:solidFill>
                  <a:srgbClr val="16202C"/>
                </a:solidFill>
                <a:latin typeface="Calibri" pitchFamily="34" charset="0"/>
                <a:ea typeface="Calibri" pitchFamily="34" charset="-122"/>
                <a:cs typeface="Calibri" pitchFamily="34" charset="-120"/>
              </a:rPr>
              <a:t>CD3D</a:t>
            </a:r>
            <a:endParaRPr lang="en-US" sz="1150" dirty="0"/>
          </a:p>
        </p:txBody>
      </p:sp>
      <p:sp>
        <p:nvSpPr>
          <p:cNvPr id="31" name="Shape 29"/>
          <p:cNvSpPr/>
          <p:nvPr/>
        </p:nvSpPr>
        <p:spPr>
          <a:xfrm>
            <a:off x="4465244" y="2935224"/>
            <a:ext cx="1086431" cy="128016"/>
          </a:xfrm>
          <a:prstGeom prst="roundRect">
            <a:avLst>
              <a:gd name="adj" fmla="val 35714"/>
            </a:avLst>
          </a:prstGeom>
          <a:solidFill>
            <a:srgbClr val="2C6E9B"/>
          </a:solidFill>
          <a:ln w="12700">
            <a:solidFill>
              <a:srgbClr val="2C6E9B"/>
            </a:solidFill>
            <a:prstDash val="solid"/>
          </a:ln>
        </p:spPr>
      </p:sp>
      <p:sp>
        <p:nvSpPr>
          <p:cNvPr id="32" name="Shape 30"/>
          <p:cNvSpPr/>
          <p:nvPr/>
        </p:nvSpPr>
        <p:spPr>
          <a:xfrm>
            <a:off x="3386252" y="3200400"/>
            <a:ext cx="2581580" cy="292608"/>
          </a:xfrm>
          <a:prstGeom prst="roundRect">
            <a:avLst>
              <a:gd name="adj" fmla="val 12500"/>
            </a:avLst>
          </a:prstGeom>
          <a:solidFill>
            <a:srgbClr val="FFFFFF"/>
          </a:solidFill>
          <a:ln w="9525">
            <a:solidFill>
              <a:srgbClr val="D5DEE7"/>
            </a:solidFill>
            <a:prstDash val="solid"/>
          </a:ln>
        </p:spPr>
      </p:sp>
      <p:sp>
        <p:nvSpPr>
          <p:cNvPr id="33" name="Text 31"/>
          <p:cNvSpPr/>
          <p:nvPr/>
        </p:nvSpPr>
        <p:spPr>
          <a:xfrm>
            <a:off x="3495980" y="3200400"/>
            <a:ext cx="914400" cy="292608"/>
          </a:xfrm>
          <a:prstGeom prst="rect">
            <a:avLst/>
          </a:prstGeom>
          <a:noFill/>
          <a:ln/>
        </p:spPr>
        <p:txBody>
          <a:bodyPr wrap="square" lIns="0" tIns="0" rIns="0" bIns="0" rtlCol="0" anchor="ctr"/>
          <a:lstStyle/>
          <a:p>
            <a:pPr indent="0" marL="0">
              <a:buNone/>
            </a:pPr>
            <a:r>
              <a:rPr lang="en-US" sz="1150" dirty="0">
                <a:solidFill>
                  <a:srgbClr val="16202C"/>
                </a:solidFill>
                <a:latin typeface="Calibri" pitchFamily="34" charset="0"/>
                <a:ea typeface="Calibri" pitchFamily="34" charset="-122"/>
                <a:cs typeface="Calibri" pitchFamily="34" charset="-120"/>
              </a:rPr>
              <a:t>IL7R</a:t>
            </a:r>
            <a:endParaRPr lang="en-US" sz="1150" dirty="0"/>
          </a:p>
        </p:txBody>
      </p:sp>
      <p:sp>
        <p:nvSpPr>
          <p:cNvPr id="34" name="Shape 32"/>
          <p:cNvSpPr/>
          <p:nvPr/>
        </p:nvSpPr>
        <p:spPr>
          <a:xfrm>
            <a:off x="4465244" y="3282696"/>
            <a:ext cx="835716" cy="128016"/>
          </a:xfrm>
          <a:prstGeom prst="roundRect">
            <a:avLst>
              <a:gd name="adj" fmla="val 35714"/>
            </a:avLst>
          </a:prstGeom>
          <a:solidFill>
            <a:srgbClr val="2C6E9B"/>
          </a:solidFill>
          <a:ln w="12700">
            <a:solidFill>
              <a:srgbClr val="2C6E9B"/>
            </a:solidFill>
            <a:prstDash val="solid"/>
          </a:ln>
        </p:spPr>
      </p:sp>
      <p:sp>
        <p:nvSpPr>
          <p:cNvPr id="35" name="Shape 33"/>
          <p:cNvSpPr/>
          <p:nvPr/>
        </p:nvSpPr>
        <p:spPr>
          <a:xfrm>
            <a:off x="3386252" y="3547872"/>
            <a:ext cx="2581580" cy="292608"/>
          </a:xfrm>
          <a:prstGeom prst="roundRect">
            <a:avLst>
              <a:gd name="adj" fmla="val 12500"/>
            </a:avLst>
          </a:prstGeom>
          <a:solidFill>
            <a:srgbClr val="FDF0F3"/>
          </a:solidFill>
          <a:ln w="15875">
            <a:solidFill>
              <a:srgbClr val="B8465E"/>
            </a:solidFill>
            <a:prstDash val="solid"/>
          </a:ln>
        </p:spPr>
      </p:sp>
      <p:sp>
        <p:nvSpPr>
          <p:cNvPr id="36" name="Text 34"/>
          <p:cNvSpPr/>
          <p:nvPr/>
        </p:nvSpPr>
        <p:spPr>
          <a:xfrm>
            <a:off x="3495980" y="3547872"/>
            <a:ext cx="914400" cy="292608"/>
          </a:xfrm>
          <a:prstGeom prst="rect">
            <a:avLst/>
          </a:prstGeom>
          <a:noFill/>
          <a:ln/>
        </p:spPr>
        <p:txBody>
          <a:bodyPr wrap="square" lIns="0" tIns="0" rIns="0" bIns="0" rtlCol="0" anchor="ctr"/>
          <a:lstStyle/>
          <a:p>
            <a:pPr indent="0" marL="0">
              <a:buNone/>
            </a:pPr>
            <a:r>
              <a:rPr lang="en-US" sz="1150" b="1" dirty="0">
                <a:solidFill>
                  <a:srgbClr val="B8465E"/>
                </a:solidFill>
                <a:latin typeface="Calibri" pitchFamily="34" charset="0"/>
                <a:ea typeface="Calibri" pitchFamily="34" charset="-122"/>
                <a:cs typeface="Calibri" pitchFamily="34" charset="-120"/>
              </a:rPr>
              <a:t>TIGIT</a:t>
            </a:r>
            <a:endParaRPr lang="en-US" sz="1150" dirty="0"/>
          </a:p>
        </p:txBody>
      </p:sp>
      <p:sp>
        <p:nvSpPr>
          <p:cNvPr id="37" name="Shape 35"/>
          <p:cNvSpPr/>
          <p:nvPr/>
        </p:nvSpPr>
        <p:spPr>
          <a:xfrm>
            <a:off x="4465244" y="3630168"/>
            <a:ext cx="975002" cy="128016"/>
          </a:xfrm>
          <a:prstGeom prst="roundRect">
            <a:avLst>
              <a:gd name="adj" fmla="val 35714"/>
            </a:avLst>
          </a:prstGeom>
          <a:solidFill>
            <a:srgbClr val="B8465E"/>
          </a:solidFill>
          <a:ln w="12700">
            <a:solidFill>
              <a:srgbClr val="B8465E"/>
            </a:solidFill>
            <a:prstDash val="solid"/>
          </a:ln>
        </p:spPr>
      </p:sp>
      <p:sp>
        <p:nvSpPr>
          <p:cNvPr id="38" name="Shape 36"/>
          <p:cNvSpPr/>
          <p:nvPr/>
        </p:nvSpPr>
        <p:spPr>
          <a:xfrm>
            <a:off x="3386252" y="3895344"/>
            <a:ext cx="2581580" cy="292608"/>
          </a:xfrm>
          <a:prstGeom prst="roundRect">
            <a:avLst>
              <a:gd name="adj" fmla="val 12500"/>
            </a:avLst>
          </a:prstGeom>
          <a:solidFill>
            <a:srgbClr val="FFFFFF"/>
          </a:solidFill>
          <a:ln w="9525">
            <a:solidFill>
              <a:srgbClr val="D5DEE7"/>
            </a:solidFill>
            <a:prstDash val="solid"/>
          </a:ln>
        </p:spPr>
      </p:sp>
      <p:sp>
        <p:nvSpPr>
          <p:cNvPr id="39" name="Text 37"/>
          <p:cNvSpPr/>
          <p:nvPr/>
        </p:nvSpPr>
        <p:spPr>
          <a:xfrm>
            <a:off x="3495980" y="3895344"/>
            <a:ext cx="914400" cy="292608"/>
          </a:xfrm>
          <a:prstGeom prst="rect">
            <a:avLst/>
          </a:prstGeom>
          <a:noFill/>
          <a:ln/>
        </p:spPr>
        <p:txBody>
          <a:bodyPr wrap="square" lIns="0" tIns="0" rIns="0" bIns="0" rtlCol="0" anchor="ctr"/>
          <a:lstStyle/>
          <a:p>
            <a:pPr indent="0" marL="0">
              <a:buNone/>
            </a:pPr>
            <a:r>
              <a:rPr lang="en-US" sz="1150" dirty="0">
                <a:solidFill>
                  <a:srgbClr val="16202C"/>
                </a:solidFill>
                <a:latin typeface="Calibri" pitchFamily="34" charset="0"/>
                <a:ea typeface="Calibri" pitchFamily="34" charset="-122"/>
                <a:cs typeface="Calibri" pitchFamily="34" charset="-120"/>
              </a:rPr>
              <a:t>GZMB</a:t>
            </a:r>
            <a:endParaRPr lang="en-US" sz="1150" dirty="0"/>
          </a:p>
        </p:txBody>
      </p:sp>
      <p:sp>
        <p:nvSpPr>
          <p:cNvPr id="40" name="Shape 38"/>
          <p:cNvSpPr/>
          <p:nvPr/>
        </p:nvSpPr>
        <p:spPr>
          <a:xfrm>
            <a:off x="4465244" y="3977640"/>
            <a:ext cx="417858" cy="128016"/>
          </a:xfrm>
          <a:prstGeom prst="roundRect">
            <a:avLst>
              <a:gd name="adj" fmla="val 35714"/>
            </a:avLst>
          </a:prstGeom>
          <a:solidFill>
            <a:srgbClr val="2C6E9B"/>
          </a:solidFill>
          <a:ln w="12700">
            <a:solidFill>
              <a:srgbClr val="2C6E9B"/>
            </a:solidFill>
            <a:prstDash val="solid"/>
          </a:ln>
        </p:spPr>
      </p:sp>
      <p:sp>
        <p:nvSpPr>
          <p:cNvPr id="41" name="Shape 39"/>
          <p:cNvSpPr/>
          <p:nvPr/>
        </p:nvSpPr>
        <p:spPr>
          <a:xfrm>
            <a:off x="3386252" y="4242816"/>
            <a:ext cx="2581580" cy="292608"/>
          </a:xfrm>
          <a:prstGeom prst="roundRect">
            <a:avLst>
              <a:gd name="adj" fmla="val 12500"/>
            </a:avLst>
          </a:prstGeom>
          <a:solidFill>
            <a:srgbClr val="FFFFFF"/>
          </a:solidFill>
          <a:ln w="9525">
            <a:solidFill>
              <a:srgbClr val="D5DEE7"/>
            </a:solidFill>
            <a:prstDash val="solid"/>
          </a:ln>
        </p:spPr>
      </p:sp>
      <p:sp>
        <p:nvSpPr>
          <p:cNvPr id="42" name="Text 40"/>
          <p:cNvSpPr/>
          <p:nvPr/>
        </p:nvSpPr>
        <p:spPr>
          <a:xfrm>
            <a:off x="3495980" y="4242816"/>
            <a:ext cx="914400" cy="292608"/>
          </a:xfrm>
          <a:prstGeom prst="rect">
            <a:avLst/>
          </a:prstGeom>
          <a:noFill/>
          <a:ln/>
        </p:spPr>
        <p:txBody>
          <a:bodyPr wrap="square" lIns="0" tIns="0" rIns="0" bIns="0" rtlCol="0" anchor="ctr"/>
          <a:lstStyle/>
          <a:p>
            <a:pPr indent="0" marL="0">
              <a:buNone/>
            </a:pPr>
            <a:r>
              <a:rPr lang="en-US" sz="1150" dirty="0">
                <a:solidFill>
                  <a:srgbClr val="16202C"/>
                </a:solidFill>
                <a:latin typeface="Calibri" pitchFamily="34" charset="0"/>
                <a:ea typeface="Calibri" pitchFamily="34" charset="-122"/>
                <a:cs typeface="Calibri" pitchFamily="34" charset="-120"/>
              </a:rPr>
              <a:t>TOX</a:t>
            </a:r>
            <a:endParaRPr lang="en-US" sz="1150" dirty="0"/>
          </a:p>
        </p:txBody>
      </p:sp>
      <p:sp>
        <p:nvSpPr>
          <p:cNvPr id="43" name="Shape 41"/>
          <p:cNvSpPr/>
          <p:nvPr/>
        </p:nvSpPr>
        <p:spPr>
          <a:xfrm>
            <a:off x="4465244" y="4325112"/>
            <a:ext cx="278572" cy="128016"/>
          </a:xfrm>
          <a:prstGeom prst="roundRect">
            <a:avLst>
              <a:gd name="adj" fmla="val 35714"/>
            </a:avLst>
          </a:prstGeom>
          <a:solidFill>
            <a:srgbClr val="2C6E9B"/>
          </a:solidFill>
          <a:ln w="12700">
            <a:solidFill>
              <a:srgbClr val="2C6E9B"/>
            </a:solidFill>
            <a:prstDash val="solid"/>
          </a:ln>
        </p:spPr>
      </p:sp>
      <p:sp>
        <p:nvSpPr>
          <p:cNvPr id="44" name="Text 42"/>
          <p:cNvSpPr/>
          <p:nvPr/>
        </p:nvSpPr>
        <p:spPr>
          <a:xfrm>
            <a:off x="3386252" y="4645152"/>
            <a:ext cx="2581580" cy="237744"/>
          </a:xfrm>
          <a:prstGeom prst="rect">
            <a:avLst/>
          </a:prstGeom>
          <a:noFill/>
          <a:ln/>
        </p:spPr>
        <p:txBody>
          <a:bodyPr wrap="square" lIns="0" tIns="0" rIns="0" bIns="0" rtlCol="0" anchor="ctr"/>
          <a:lstStyle/>
          <a:p>
            <a:pPr algn="r" indent="0" marL="0">
              <a:buNone/>
            </a:pPr>
            <a:r>
              <a:rPr lang="en-US" sz="950" dirty="0">
                <a:solidFill>
                  <a:srgbClr val="7A8798"/>
                </a:solidFill>
                <a:latin typeface="Calibri" pitchFamily="34" charset="0"/>
                <a:ea typeface="Calibri" pitchFamily="34" charset="-122"/>
                <a:cs typeface="Calibri" pitchFamily="34" charset="-120"/>
              </a:rPr>
              <a:t>least expressed</a:t>
            </a:r>
            <a:endParaRPr lang="en-US" sz="950" dirty="0"/>
          </a:p>
        </p:txBody>
      </p:sp>
      <p:sp>
        <p:nvSpPr>
          <p:cNvPr id="45" name="Text 43"/>
          <p:cNvSpPr/>
          <p:nvPr/>
        </p:nvSpPr>
        <p:spPr>
          <a:xfrm>
            <a:off x="6223864" y="2542032"/>
            <a:ext cx="2581580" cy="237744"/>
          </a:xfrm>
          <a:prstGeom prst="rect">
            <a:avLst/>
          </a:prstGeom>
          <a:noFill/>
          <a:ln/>
        </p:spPr>
        <p:txBody>
          <a:bodyPr wrap="square" lIns="0" tIns="0" rIns="0" bIns="0" rtlCol="0" anchor="ctr"/>
          <a:lstStyle/>
          <a:p>
            <a:pPr indent="0" marL="0">
              <a:buNone/>
            </a:pPr>
            <a:r>
              <a:rPr lang="en-US" sz="1050" b="1" dirty="0">
                <a:solidFill>
                  <a:srgbClr val="B8465E"/>
                </a:solidFill>
                <a:latin typeface="Calibri" pitchFamily="34" charset="0"/>
                <a:ea typeface="Calibri" pitchFamily="34" charset="-122"/>
                <a:cs typeface="Calibri" pitchFamily="34" charset="-120"/>
              </a:rPr>
              <a:t>DELETE — drop it out</a:t>
            </a:r>
            <a:endParaRPr lang="en-US" sz="1050" dirty="0"/>
          </a:p>
        </p:txBody>
      </p:sp>
      <p:sp>
        <p:nvSpPr>
          <p:cNvPr id="46" name="Shape 44"/>
          <p:cNvSpPr/>
          <p:nvPr/>
        </p:nvSpPr>
        <p:spPr>
          <a:xfrm>
            <a:off x="6223864" y="2852928"/>
            <a:ext cx="2581580" cy="292608"/>
          </a:xfrm>
          <a:prstGeom prst="roundRect">
            <a:avLst>
              <a:gd name="adj" fmla="val 12500"/>
            </a:avLst>
          </a:prstGeom>
          <a:solidFill>
            <a:srgbClr val="FFFFFF"/>
          </a:solidFill>
          <a:ln w="9525">
            <a:solidFill>
              <a:srgbClr val="D5DEE7"/>
            </a:solidFill>
            <a:prstDash val="solid"/>
          </a:ln>
        </p:spPr>
      </p:sp>
      <p:sp>
        <p:nvSpPr>
          <p:cNvPr id="47" name="Text 45"/>
          <p:cNvSpPr/>
          <p:nvPr/>
        </p:nvSpPr>
        <p:spPr>
          <a:xfrm>
            <a:off x="6333592" y="2852928"/>
            <a:ext cx="1097280" cy="292608"/>
          </a:xfrm>
          <a:prstGeom prst="rect">
            <a:avLst/>
          </a:prstGeom>
          <a:noFill/>
          <a:ln/>
        </p:spPr>
        <p:txBody>
          <a:bodyPr wrap="square" lIns="0" tIns="0" rIns="0" bIns="0" rtlCol="0" anchor="ctr"/>
          <a:lstStyle/>
          <a:p>
            <a:pPr indent="0" marL="0">
              <a:buNone/>
            </a:pPr>
            <a:r>
              <a:rPr lang="en-US" sz="1150" dirty="0">
                <a:solidFill>
                  <a:srgbClr val="16202C"/>
                </a:solidFill>
                <a:latin typeface="Calibri" pitchFamily="34" charset="0"/>
                <a:ea typeface="Calibri" pitchFamily="34" charset="-122"/>
                <a:cs typeface="Calibri" pitchFamily="34" charset="-120"/>
              </a:rPr>
              <a:t>CD3D</a:t>
            </a:r>
            <a:endParaRPr lang="en-US" sz="1150" dirty="0"/>
          </a:p>
        </p:txBody>
      </p:sp>
      <p:sp>
        <p:nvSpPr>
          <p:cNvPr id="48" name="Shape 46"/>
          <p:cNvSpPr/>
          <p:nvPr/>
        </p:nvSpPr>
        <p:spPr>
          <a:xfrm>
            <a:off x="6223864" y="3200400"/>
            <a:ext cx="2581580" cy="292608"/>
          </a:xfrm>
          <a:prstGeom prst="roundRect">
            <a:avLst>
              <a:gd name="adj" fmla="val 12500"/>
            </a:avLst>
          </a:prstGeom>
          <a:solidFill>
            <a:srgbClr val="FFFFFF"/>
          </a:solidFill>
          <a:ln w="9525">
            <a:solidFill>
              <a:srgbClr val="D5DEE7"/>
            </a:solidFill>
            <a:prstDash val="solid"/>
          </a:ln>
        </p:spPr>
      </p:sp>
      <p:sp>
        <p:nvSpPr>
          <p:cNvPr id="49" name="Text 47"/>
          <p:cNvSpPr/>
          <p:nvPr/>
        </p:nvSpPr>
        <p:spPr>
          <a:xfrm>
            <a:off x="6333592" y="3200400"/>
            <a:ext cx="1097280" cy="292608"/>
          </a:xfrm>
          <a:prstGeom prst="rect">
            <a:avLst/>
          </a:prstGeom>
          <a:noFill/>
          <a:ln/>
        </p:spPr>
        <p:txBody>
          <a:bodyPr wrap="square" lIns="0" tIns="0" rIns="0" bIns="0" rtlCol="0" anchor="ctr"/>
          <a:lstStyle/>
          <a:p>
            <a:pPr indent="0" marL="0">
              <a:buNone/>
            </a:pPr>
            <a:r>
              <a:rPr lang="en-US" sz="1150" dirty="0">
                <a:solidFill>
                  <a:srgbClr val="16202C"/>
                </a:solidFill>
                <a:latin typeface="Calibri" pitchFamily="34" charset="0"/>
                <a:ea typeface="Calibri" pitchFamily="34" charset="-122"/>
                <a:cs typeface="Calibri" pitchFamily="34" charset="-120"/>
              </a:rPr>
              <a:t>IL7R</a:t>
            </a:r>
            <a:endParaRPr lang="en-US" sz="1150" dirty="0"/>
          </a:p>
        </p:txBody>
      </p:sp>
      <p:sp>
        <p:nvSpPr>
          <p:cNvPr id="50" name="Shape 48"/>
          <p:cNvSpPr/>
          <p:nvPr/>
        </p:nvSpPr>
        <p:spPr>
          <a:xfrm>
            <a:off x="6223864" y="3547872"/>
            <a:ext cx="2581580" cy="292608"/>
          </a:xfrm>
          <a:prstGeom prst="roundRect">
            <a:avLst>
              <a:gd name="adj" fmla="val 12500"/>
            </a:avLst>
          </a:prstGeom>
          <a:solidFill>
            <a:srgbClr val="F7F7F8"/>
          </a:solidFill>
          <a:ln w="9525">
            <a:solidFill>
              <a:srgbClr val="D5DEE7"/>
            </a:solidFill>
            <a:prstDash val="dash"/>
          </a:ln>
        </p:spPr>
      </p:sp>
      <p:sp>
        <p:nvSpPr>
          <p:cNvPr id="51" name="Text 49"/>
          <p:cNvSpPr/>
          <p:nvPr/>
        </p:nvSpPr>
        <p:spPr>
          <a:xfrm>
            <a:off x="6333592" y="3547872"/>
            <a:ext cx="1097280" cy="292608"/>
          </a:xfrm>
          <a:prstGeom prst="rect">
            <a:avLst/>
          </a:prstGeom>
          <a:noFill/>
          <a:ln/>
        </p:spPr>
        <p:txBody>
          <a:bodyPr wrap="square" lIns="0" tIns="0" rIns="0" bIns="0" rtlCol="0" anchor="ctr"/>
          <a:lstStyle/>
          <a:p>
            <a:pPr indent="0" marL="0">
              <a:buNone/>
            </a:pPr>
            <a:r>
              <a:rPr lang="en-US" sz="1150" strike="sngStrike" dirty="0">
                <a:solidFill>
                  <a:srgbClr val="7A8798"/>
                </a:solidFill>
                <a:latin typeface="Calibri" pitchFamily="34" charset="0"/>
                <a:ea typeface="Calibri" pitchFamily="34" charset="-122"/>
                <a:cs typeface="Calibri" pitchFamily="34" charset="-120"/>
              </a:rPr>
              <a:t>TIGIT</a:t>
            </a:r>
            <a:endParaRPr lang="en-US" sz="1150" dirty="0"/>
          </a:p>
        </p:txBody>
      </p:sp>
      <p:sp>
        <p:nvSpPr>
          <p:cNvPr id="52" name="Text 50"/>
          <p:cNvSpPr/>
          <p:nvPr/>
        </p:nvSpPr>
        <p:spPr>
          <a:xfrm>
            <a:off x="8421395" y="3547872"/>
            <a:ext cx="274320" cy="292608"/>
          </a:xfrm>
          <a:prstGeom prst="rect">
            <a:avLst/>
          </a:prstGeom>
          <a:noFill/>
          <a:ln/>
        </p:spPr>
        <p:txBody>
          <a:bodyPr wrap="square" lIns="0" tIns="0" rIns="0" bIns="0" rtlCol="0" anchor="ctr"/>
          <a:lstStyle/>
          <a:p>
            <a:pPr algn="ctr" indent="0" marL="0">
              <a:buNone/>
            </a:pPr>
            <a:r>
              <a:rPr lang="en-US" sz="1200" dirty="0">
                <a:solidFill>
                  <a:srgbClr val="B8465E"/>
                </a:solidFill>
                <a:latin typeface="Calibri" pitchFamily="34" charset="0"/>
                <a:ea typeface="Calibri" pitchFamily="34" charset="-122"/>
                <a:cs typeface="Calibri" pitchFamily="34" charset="-120"/>
              </a:rPr>
              <a:t>✕</a:t>
            </a:r>
            <a:endParaRPr lang="en-US" sz="1200" dirty="0"/>
          </a:p>
        </p:txBody>
      </p:sp>
      <p:sp>
        <p:nvSpPr>
          <p:cNvPr id="53" name="Shape 51"/>
          <p:cNvSpPr/>
          <p:nvPr/>
        </p:nvSpPr>
        <p:spPr>
          <a:xfrm>
            <a:off x="6223864" y="3895344"/>
            <a:ext cx="2581580" cy="292608"/>
          </a:xfrm>
          <a:prstGeom prst="roundRect">
            <a:avLst>
              <a:gd name="adj" fmla="val 12500"/>
            </a:avLst>
          </a:prstGeom>
          <a:solidFill>
            <a:srgbClr val="FFFFFF"/>
          </a:solidFill>
          <a:ln w="9525">
            <a:solidFill>
              <a:srgbClr val="D5DEE7"/>
            </a:solidFill>
            <a:prstDash val="solid"/>
          </a:ln>
        </p:spPr>
      </p:sp>
      <p:sp>
        <p:nvSpPr>
          <p:cNvPr id="54" name="Text 52"/>
          <p:cNvSpPr/>
          <p:nvPr/>
        </p:nvSpPr>
        <p:spPr>
          <a:xfrm>
            <a:off x="6333592" y="3895344"/>
            <a:ext cx="1097280" cy="292608"/>
          </a:xfrm>
          <a:prstGeom prst="rect">
            <a:avLst/>
          </a:prstGeom>
          <a:noFill/>
          <a:ln/>
        </p:spPr>
        <p:txBody>
          <a:bodyPr wrap="square" lIns="0" tIns="0" rIns="0" bIns="0" rtlCol="0" anchor="ctr"/>
          <a:lstStyle/>
          <a:p>
            <a:pPr indent="0" marL="0">
              <a:buNone/>
            </a:pPr>
            <a:r>
              <a:rPr lang="en-US" sz="1150" dirty="0">
                <a:solidFill>
                  <a:srgbClr val="16202C"/>
                </a:solidFill>
                <a:latin typeface="Calibri" pitchFamily="34" charset="0"/>
                <a:ea typeface="Calibri" pitchFamily="34" charset="-122"/>
                <a:cs typeface="Calibri" pitchFamily="34" charset="-120"/>
              </a:rPr>
              <a:t>GZMB</a:t>
            </a:r>
            <a:endParaRPr lang="en-US" sz="1150" dirty="0"/>
          </a:p>
        </p:txBody>
      </p:sp>
      <p:sp>
        <p:nvSpPr>
          <p:cNvPr id="55" name="Text 53"/>
          <p:cNvSpPr/>
          <p:nvPr/>
        </p:nvSpPr>
        <p:spPr>
          <a:xfrm>
            <a:off x="8348243" y="3895344"/>
            <a:ext cx="320040" cy="292608"/>
          </a:xfrm>
          <a:prstGeom prst="rect">
            <a:avLst/>
          </a:prstGeom>
          <a:noFill/>
          <a:ln/>
        </p:spPr>
        <p:txBody>
          <a:bodyPr wrap="square" lIns="0" tIns="0" rIns="0" bIns="0" rtlCol="0" anchor="ctr"/>
          <a:lstStyle/>
          <a:p>
            <a:pPr algn="ctr" indent="0" marL="0">
              <a:buNone/>
            </a:pPr>
            <a:r>
              <a:rPr lang="en-US" sz="900" dirty="0">
                <a:solidFill>
                  <a:srgbClr val="1A6B3C"/>
                </a:solidFill>
                <a:latin typeface="Calibri" pitchFamily="34" charset="0"/>
                <a:ea typeface="Calibri" pitchFamily="34" charset="-122"/>
                <a:cs typeface="Calibri" pitchFamily="34" charset="-120"/>
              </a:rPr>
              <a:t>▲</a:t>
            </a:r>
            <a:endParaRPr lang="en-US" sz="900" dirty="0"/>
          </a:p>
        </p:txBody>
      </p:sp>
      <p:sp>
        <p:nvSpPr>
          <p:cNvPr id="56" name="Shape 54"/>
          <p:cNvSpPr/>
          <p:nvPr/>
        </p:nvSpPr>
        <p:spPr>
          <a:xfrm>
            <a:off x="6223864" y="4242816"/>
            <a:ext cx="2581580" cy="292608"/>
          </a:xfrm>
          <a:prstGeom prst="roundRect">
            <a:avLst>
              <a:gd name="adj" fmla="val 12500"/>
            </a:avLst>
          </a:prstGeom>
          <a:solidFill>
            <a:srgbClr val="FFFFFF"/>
          </a:solidFill>
          <a:ln w="9525">
            <a:solidFill>
              <a:srgbClr val="D5DEE7"/>
            </a:solidFill>
            <a:prstDash val="solid"/>
          </a:ln>
        </p:spPr>
      </p:sp>
      <p:sp>
        <p:nvSpPr>
          <p:cNvPr id="57" name="Text 55"/>
          <p:cNvSpPr/>
          <p:nvPr/>
        </p:nvSpPr>
        <p:spPr>
          <a:xfrm>
            <a:off x="6333592" y="4242816"/>
            <a:ext cx="1097280" cy="292608"/>
          </a:xfrm>
          <a:prstGeom prst="rect">
            <a:avLst/>
          </a:prstGeom>
          <a:noFill/>
          <a:ln/>
        </p:spPr>
        <p:txBody>
          <a:bodyPr wrap="square" lIns="0" tIns="0" rIns="0" bIns="0" rtlCol="0" anchor="ctr"/>
          <a:lstStyle/>
          <a:p>
            <a:pPr indent="0" marL="0">
              <a:buNone/>
            </a:pPr>
            <a:r>
              <a:rPr lang="en-US" sz="1150" dirty="0">
                <a:solidFill>
                  <a:srgbClr val="16202C"/>
                </a:solidFill>
                <a:latin typeface="Calibri" pitchFamily="34" charset="0"/>
                <a:ea typeface="Calibri" pitchFamily="34" charset="-122"/>
                <a:cs typeface="Calibri" pitchFamily="34" charset="-120"/>
              </a:rPr>
              <a:t>TOX</a:t>
            </a:r>
            <a:endParaRPr lang="en-US" sz="1150" dirty="0"/>
          </a:p>
        </p:txBody>
      </p:sp>
      <p:sp>
        <p:nvSpPr>
          <p:cNvPr id="58" name="Text 56"/>
          <p:cNvSpPr/>
          <p:nvPr/>
        </p:nvSpPr>
        <p:spPr>
          <a:xfrm>
            <a:off x="8348243" y="4242816"/>
            <a:ext cx="320040" cy="292608"/>
          </a:xfrm>
          <a:prstGeom prst="rect">
            <a:avLst/>
          </a:prstGeom>
          <a:noFill/>
          <a:ln/>
        </p:spPr>
        <p:txBody>
          <a:bodyPr wrap="square" lIns="0" tIns="0" rIns="0" bIns="0" rtlCol="0" anchor="ctr"/>
          <a:lstStyle/>
          <a:p>
            <a:pPr algn="ctr" indent="0" marL="0">
              <a:buNone/>
            </a:pPr>
            <a:r>
              <a:rPr lang="en-US" sz="900" dirty="0">
                <a:solidFill>
                  <a:srgbClr val="1A6B3C"/>
                </a:solidFill>
                <a:latin typeface="Calibri" pitchFamily="34" charset="0"/>
                <a:ea typeface="Calibri" pitchFamily="34" charset="-122"/>
                <a:cs typeface="Calibri" pitchFamily="34" charset="-120"/>
              </a:rPr>
              <a:t>▲</a:t>
            </a:r>
            <a:endParaRPr lang="en-US" sz="900" dirty="0"/>
          </a:p>
        </p:txBody>
      </p:sp>
      <p:sp>
        <p:nvSpPr>
          <p:cNvPr id="59" name="Text 57"/>
          <p:cNvSpPr/>
          <p:nvPr/>
        </p:nvSpPr>
        <p:spPr>
          <a:xfrm>
            <a:off x="6223864" y="4645152"/>
            <a:ext cx="2581580" cy="237744"/>
          </a:xfrm>
          <a:prstGeom prst="rect">
            <a:avLst/>
          </a:prstGeom>
          <a:noFill/>
          <a:ln/>
        </p:spPr>
        <p:txBody>
          <a:bodyPr wrap="square" lIns="0" tIns="0" rIns="0" bIns="0" rtlCol="0" anchor="ctr"/>
          <a:lstStyle/>
          <a:p>
            <a:pPr indent="0" marL="0">
              <a:buNone/>
            </a:pPr>
            <a:r>
              <a:rPr lang="en-US" sz="950" dirty="0">
                <a:solidFill>
                  <a:srgbClr val="7A8798"/>
                </a:solidFill>
                <a:latin typeface="Calibri" pitchFamily="34" charset="0"/>
                <a:ea typeface="Calibri" pitchFamily="34" charset="-122"/>
                <a:cs typeface="Calibri" pitchFamily="34" charset="-120"/>
              </a:rPr>
              <a:t>the rest move up a rank</a:t>
            </a:r>
            <a:endParaRPr lang="en-US" sz="950" dirty="0"/>
          </a:p>
        </p:txBody>
      </p:sp>
      <p:sp>
        <p:nvSpPr>
          <p:cNvPr id="60" name="Text 58"/>
          <p:cNvSpPr/>
          <p:nvPr/>
        </p:nvSpPr>
        <p:spPr>
          <a:xfrm>
            <a:off x="6223864" y="4864608"/>
            <a:ext cx="2581580" cy="237744"/>
          </a:xfrm>
          <a:prstGeom prst="rect">
            <a:avLst/>
          </a:prstGeom>
          <a:noFill/>
          <a:ln/>
        </p:spPr>
        <p:txBody>
          <a:bodyPr wrap="square" lIns="0" tIns="0" rIns="0" bIns="0" rtlCol="0" anchor="ctr"/>
          <a:lstStyle/>
          <a:p>
            <a:pPr indent="0" marL="0">
              <a:buNone/>
            </a:pPr>
            <a:r>
              <a:rPr lang="en-US" sz="1050" b="1" dirty="0">
                <a:solidFill>
                  <a:srgbClr val="0B6F6A"/>
                </a:solidFill>
                <a:latin typeface="Calibri" pitchFamily="34" charset="0"/>
                <a:ea typeface="Calibri" pitchFamily="34" charset="-122"/>
                <a:cs typeface="Calibri" pitchFamily="34" charset="-120"/>
              </a:rPr>
              <a:t>OVEREXPRESS</a:t>
            </a:r>
            <a:pPr indent="0" marL="0">
              <a:buNone/>
            </a:pPr>
            <a:r>
              <a:rPr lang="en-US" sz="1050" dirty="0">
                <a:solidFill>
                  <a:srgbClr val="4A5768"/>
                </a:solidFill>
                <a:latin typeface="Calibri" pitchFamily="34" charset="0"/>
                <a:ea typeface="Calibri" pitchFamily="34" charset="-122"/>
                <a:cs typeface="Calibri" pitchFamily="34" charset="-120"/>
              </a:rPr>
              <a:t> — move it to the top</a:t>
            </a:r>
            <a:endParaRPr lang="en-US" sz="1050" dirty="0"/>
          </a:p>
        </p:txBody>
      </p:sp>
      <p:sp>
        <p:nvSpPr>
          <p:cNvPr id="61" name="Shape 59"/>
          <p:cNvSpPr/>
          <p:nvPr/>
        </p:nvSpPr>
        <p:spPr>
          <a:xfrm>
            <a:off x="9061475" y="2651760"/>
            <a:ext cx="2581580" cy="2267712"/>
          </a:xfrm>
          <a:prstGeom prst="roundRect">
            <a:avLst>
              <a:gd name="adj" fmla="val 2419"/>
            </a:avLst>
          </a:prstGeom>
          <a:solidFill>
            <a:srgbClr val="FFFFFF"/>
          </a:solidFill>
          <a:ln w="9525">
            <a:solidFill>
              <a:srgbClr val="D5DEE7"/>
            </a:solidFill>
            <a:prstDash val="solid"/>
          </a:ln>
        </p:spPr>
      </p:sp>
      <p:sp>
        <p:nvSpPr>
          <p:cNvPr id="62" name="Text 60"/>
          <p:cNvSpPr/>
          <p:nvPr/>
        </p:nvSpPr>
        <p:spPr>
          <a:xfrm>
            <a:off x="9171203" y="2724912"/>
            <a:ext cx="2362124" cy="219456"/>
          </a:xfrm>
          <a:prstGeom prst="rect">
            <a:avLst/>
          </a:prstGeom>
          <a:noFill/>
          <a:ln/>
        </p:spPr>
        <p:txBody>
          <a:bodyPr wrap="square" lIns="0" tIns="0" rIns="0" bIns="0" rtlCol="0" anchor="ctr"/>
          <a:lstStyle/>
          <a:p>
            <a:pPr algn="ctr" indent="0" marL="0">
              <a:buNone/>
            </a:pPr>
            <a:r>
              <a:rPr lang="en-US" sz="900" dirty="0">
                <a:solidFill>
                  <a:srgbClr val="7A8798"/>
                </a:solidFill>
                <a:latin typeface="Calibri" pitchFamily="34" charset="0"/>
                <a:ea typeface="Calibri" pitchFamily="34" charset="-122"/>
                <a:cs typeface="Calibri" pitchFamily="34" charset="-120"/>
              </a:rPr>
              <a:t>model's map of cell states</a:t>
            </a:r>
            <a:endParaRPr lang="en-US" sz="900" dirty="0"/>
          </a:p>
        </p:txBody>
      </p:sp>
      <p:sp>
        <p:nvSpPr>
          <p:cNvPr id="63" name="Shape 61"/>
          <p:cNvSpPr/>
          <p:nvPr/>
        </p:nvSpPr>
        <p:spPr>
          <a:xfrm>
            <a:off x="9226067" y="3767328"/>
            <a:ext cx="1234440" cy="804672"/>
          </a:xfrm>
          <a:prstGeom prst="ellipse">
            <a:avLst/>
          </a:prstGeom>
          <a:solidFill>
            <a:srgbClr val="F0EDF9"/>
          </a:solidFill>
          <a:ln w="15875">
            <a:solidFill>
              <a:srgbClr val="3D2F6B"/>
            </a:solidFill>
            <a:prstDash val="dash"/>
          </a:ln>
        </p:spPr>
      </p:sp>
      <p:sp>
        <p:nvSpPr>
          <p:cNvPr id="64" name="Text 62"/>
          <p:cNvSpPr/>
          <p:nvPr/>
        </p:nvSpPr>
        <p:spPr>
          <a:xfrm>
            <a:off x="9226067" y="3767328"/>
            <a:ext cx="1234440" cy="804672"/>
          </a:xfrm>
          <a:prstGeom prst="rect">
            <a:avLst/>
          </a:prstGeom>
          <a:noFill/>
          <a:ln/>
        </p:spPr>
        <p:txBody>
          <a:bodyPr wrap="square" lIns="0" tIns="0" rIns="0" bIns="0" rtlCol="0" anchor="ctr"/>
          <a:lstStyle/>
          <a:p>
            <a:pPr algn="ctr" indent="0" marL="0">
              <a:buNone/>
            </a:pPr>
            <a:r>
              <a:rPr lang="en-US" sz="1200" b="1" dirty="0">
                <a:solidFill>
                  <a:srgbClr val="3D2F6B"/>
                </a:solidFill>
                <a:latin typeface="Calibri" pitchFamily="34" charset="0"/>
                <a:ea typeface="Calibri" pitchFamily="34" charset="-122"/>
                <a:cs typeface="Calibri" pitchFamily="34" charset="-120"/>
              </a:rPr>
              <a:t>SCLC</a:t>
            </a:r>
            <a:endParaRPr lang="en-US" sz="1200" dirty="0"/>
          </a:p>
        </p:txBody>
      </p:sp>
      <p:sp>
        <p:nvSpPr>
          <p:cNvPr id="65" name="Shape 63"/>
          <p:cNvSpPr/>
          <p:nvPr/>
        </p:nvSpPr>
        <p:spPr>
          <a:xfrm>
            <a:off x="10225735" y="2926080"/>
            <a:ext cx="1234440" cy="786384"/>
          </a:xfrm>
          <a:prstGeom prst="ellipse">
            <a:avLst/>
          </a:prstGeom>
          <a:solidFill>
            <a:srgbClr val="E8F2EC"/>
          </a:solidFill>
          <a:ln w="15875">
            <a:solidFill>
              <a:srgbClr val="1A6B3C"/>
            </a:solidFill>
            <a:prstDash val="dash"/>
          </a:ln>
        </p:spPr>
      </p:sp>
      <p:sp>
        <p:nvSpPr>
          <p:cNvPr id="66" name="Text 64"/>
          <p:cNvSpPr/>
          <p:nvPr/>
        </p:nvSpPr>
        <p:spPr>
          <a:xfrm>
            <a:off x="10225735" y="2926080"/>
            <a:ext cx="1234440" cy="786384"/>
          </a:xfrm>
          <a:prstGeom prst="rect">
            <a:avLst/>
          </a:prstGeom>
          <a:noFill/>
          <a:ln/>
        </p:spPr>
        <p:txBody>
          <a:bodyPr wrap="square" lIns="0" tIns="0" rIns="0" bIns="0" rtlCol="0" anchor="ctr"/>
          <a:lstStyle/>
          <a:p>
            <a:pPr algn="ctr" indent="0" marL="0">
              <a:buNone/>
            </a:pPr>
            <a:r>
              <a:rPr lang="en-US" sz="1200" b="1" dirty="0">
                <a:solidFill>
                  <a:srgbClr val="1A6B3C"/>
                </a:solidFill>
                <a:latin typeface="Calibri" pitchFamily="34" charset="0"/>
                <a:ea typeface="Calibri" pitchFamily="34" charset="-122"/>
                <a:cs typeface="Calibri" pitchFamily="34" charset="-120"/>
              </a:rPr>
              <a:t>Normal</a:t>
            </a:r>
            <a:endParaRPr lang="en-US" sz="1200" dirty="0"/>
          </a:p>
        </p:txBody>
      </p:sp>
      <p:sp>
        <p:nvSpPr>
          <p:cNvPr id="67" name="Shape 65"/>
          <p:cNvSpPr/>
          <p:nvPr/>
        </p:nvSpPr>
        <p:spPr>
          <a:xfrm flipV="1">
            <a:off x="9994163" y="3474720"/>
            <a:ext cx="643052" cy="548640"/>
          </a:xfrm>
          <a:prstGeom prst="line">
            <a:avLst/>
          </a:prstGeom>
          <a:noFill/>
          <a:ln w="25400">
            <a:solidFill>
              <a:srgbClr val="B8465E"/>
            </a:solidFill>
            <a:prstDash val="solid"/>
            <a:tailEnd type="triangle"/>
          </a:ln>
        </p:spPr>
      </p:sp>
      <p:sp>
        <p:nvSpPr>
          <p:cNvPr id="68" name="Shape 66"/>
          <p:cNvSpPr/>
          <p:nvPr/>
        </p:nvSpPr>
        <p:spPr>
          <a:xfrm>
            <a:off x="9939299" y="4005072"/>
            <a:ext cx="128016" cy="128016"/>
          </a:xfrm>
          <a:prstGeom prst="ellipse">
            <a:avLst/>
          </a:prstGeom>
          <a:solidFill>
            <a:srgbClr val="3D2F6B"/>
          </a:solidFill>
          <a:ln w="12700">
            <a:solidFill>
              <a:srgbClr val="3D2F6B"/>
            </a:solidFill>
            <a:prstDash val="solid"/>
          </a:ln>
        </p:spPr>
      </p:sp>
      <p:sp>
        <p:nvSpPr>
          <p:cNvPr id="69" name="Text 67"/>
          <p:cNvSpPr/>
          <p:nvPr/>
        </p:nvSpPr>
        <p:spPr>
          <a:xfrm>
            <a:off x="9171203" y="4617720"/>
            <a:ext cx="2362124" cy="237744"/>
          </a:xfrm>
          <a:prstGeom prst="rect">
            <a:avLst/>
          </a:prstGeom>
          <a:noFill/>
          <a:ln/>
        </p:spPr>
        <p:txBody>
          <a:bodyPr wrap="square" lIns="0" tIns="0" rIns="0" bIns="0" rtlCol="0" anchor="ctr"/>
          <a:lstStyle/>
          <a:p>
            <a:pPr algn="r" indent="0" marL="0">
              <a:buNone/>
            </a:pPr>
            <a:r>
              <a:rPr lang="en-US" sz="1000" i="1" dirty="0">
                <a:solidFill>
                  <a:srgbClr val="B8465E"/>
                </a:solidFill>
                <a:latin typeface="Calibri" pitchFamily="34" charset="0"/>
                <a:ea typeface="Calibri" pitchFamily="34" charset="-122"/>
                <a:cs typeface="Calibri" pitchFamily="34" charset="-120"/>
              </a:rPr>
              <a:t>shift toward Normal</a:t>
            </a:r>
            <a:endParaRPr lang="en-US" sz="1000" dirty="0"/>
          </a:p>
        </p:txBody>
      </p:sp>
      <p:sp>
        <p:nvSpPr>
          <p:cNvPr id="70" name="Shape 68"/>
          <p:cNvSpPr/>
          <p:nvPr/>
        </p:nvSpPr>
        <p:spPr>
          <a:xfrm>
            <a:off x="548640" y="5230368"/>
            <a:ext cx="11094415" cy="932688"/>
          </a:xfrm>
          <a:prstGeom prst="roundRect">
            <a:avLst>
              <a:gd name="adj" fmla="val 5882"/>
            </a:avLst>
          </a:prstGeom>
          <a:solidFill>
            <a:srgbClr val="F2F5F9"/>
          </a:solidFill>
          <a:ln w="9525">
            <a:solidFill>
              <a:srgbClr val="D5DEE7"/>
            </a:solidFill>
            <a:prstDash val="solid"/>
          </a:ln>
        </p:spPr>
      </p:sp>
      <p:sp>
        <p:nvSpPr>
          <p:cNvPr id="71" name="Text 69"/>
          <p:cNvSpPr/>
          <p:nvPr/>
        </p:nvSpPr>
        <p:spPr>
          <a:xfrm>
            <a:off x="822960" y="5230368"/>
            <a:ext cx="10545775" cy="932688"/>
          </a:xfrm>
          <a:prstGeom prst="rect">
            <a:avLst/>
          </a:prstGeom>
          <a:noFill/>
          <a:ln/>
        </p:spPr>
        <p:txBody>
          <a:bodyPr wrap="square" lIns="0" tIns="0" rIns="0" bIns="0" rtlCol="0" anchor="ctr"/>
          <a:lstStyle/>
          <a:p>
            <a:pPr indent="0" marL="0">
              <a:lnSpc>
                <a:spcPts val="1900"/>
              </a:lnSpc>
              <a:buNone/>
            </a:pPr>
            <a:r>
              <a:rPr lang="en-US" sz="1250" b="1" dirty="0">
                <a:solidFill>
                  <a:srgbClr val="16202C"/>
                </a:solidFill>
                <a:latin typeface="Calibri" pitchFamily="34" charset="0"/>
                <a:ea typeface="Calibri" pitchFamily="34" charset="-122"/>
                <a:cs typeface="Calibri" pitchFamily="34" charset="-120"/>
              </a:rPr>
              <a:t>Nothing is edited in a laboratory here. </a:t>
            </a:r>
            <a:pPr indent="0" marL="0">
              <a:lnSpc>
                <a:spcPts val="1900"/>
              </a:lnSpc>
              <a:buNone/>
            </a:pPr>
            <a:r>
              <a:rPr lang="en-US" sz="1250" dirty="0">
                <a:solidFill>
                  <a:srgbClr val="4A5768"/>
                </a:solidFill>
                <a:latin typeface="Calibri" pitchFamily="34" charset="0"/>
                <a:ea typeface="Calibri" pitchFamily="34" charset="-122"/>
                <a:cs typeface="Calibri" pitchFamily="34" charset="-120"/>
              </a:rPr>
              <a:t>The edit is made to the model's input and the result is the model's </a:t>
            </a:r>
            <a:pPr indent="0" marL="0">
              <a:lnSpc>
                <a:spcPts val="1900"/>
              </a:lnSpc>
              <a:buNone/>
            </a:pPr>
            <a:r>
              <a:rPr lang="en-US" sz="1250" i="1" dirty="0">
                <a:solidFill>
                  <a:srgbClr val="4A5768"/>
                </a:solidFill>
                <a:latin typeface="Calibri" pitchFamily="34" charset="0"/>
                <a:ea typeface="Calibri" pitchFamily="34" charset="-122"/>
                <a:cs typeface="Calibri" pitchFamily="34" charset="-120"/>
              </a:rPr>
              <a:t>predicted</a:t>
            </a:r>
            <a:pPr indent="0" marL="0">
              <a:lnSpc>
                <a:spcPts val="1900"/>
              </a:lnSpc>
              <a:buNone/>
            </a:pPr>
            <a:r>
              <a:rPr lang="en-US" sz="1250" dirty="0">
                <a:solidFill>
                  <a:srgbClr val="4A5768"/>
                </a:solidFill>
                <a:latin typeface="Calibri" pitchFamily="34" charset="0"/>
                <a:ea typeface="Calibri" pitchFamily="34" charset="-122"/>
                <a:cs typeface="Calibri" pitchFamily="34" charset="-120"/>
              </a:rPr>
              <a:t> change in cell state, averaged over thousands of real cells — a hypothesis generator, not a knockout experiment.</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91440"/>
            <a:ext cx="11094415" cy="201168"/>
          </a:xfrm>
          <a:prstGeom prst="rect">
            <a:avLst/>
          </a:prstGeom>
          <a:noFill/>
          <a:ln/>
        </p:spPr>
        <p:txBody>
          <a:bodyPr wrap="square" lIns="0" tIns="0" rIns="0" bIns="0" rtlCol="0" anchor="ctr"/>
          <a:lstStyle/>
          <a:p>
            <a:pPr indent="0" marL="0">
              <a:buNone/>
            </a:pPr>
            <a:r>
              <a:rPr lang="en-US" sz="1100" b="1" spc="160" kern="0" dirty="0">
                <a:solidFill>
                  <a:srgbClr val="0B6F6A"/>
                </a:solidFill>
                <a:latin typeface="Calibri" pitchFamily="34" charset="0"/>
                <a:ea typeface="Calibri" pitchFamily="34" charset="-122"/>
                <a:cs typeface="Calibri" pitchFamily="34" charset="-120"/>
              </a:rPr>
              <a:t>HOW A HIT IS CALLED</a:t>
            </a:r>
            <a:endParaRPr lang="en-US" sz="1100" dirty="0"/>
          </a:p>
        </p:txBody>
      </p:sp>
      <p:sp>
        <p:nvSpPr>
          <p:cNvPr id="3" name="Text 1"/>
          <p:cNvSpPr/>
          <p:nvPr/>
        </p:nvSpPr>
        <p:spPr>
          <a:xfrm>
            <a:off x="548640" y="329184"/>
            <a:ext cx="11094415" cy="1051560"/>
          </a:xfrm>
          <a:prstGeom prst="rect">
            <a:avLst/>
          </a:prstGeom>
          <a:noFill/>
          <a:ln/>
        </p:spPr>
        <p:txBody>
          <a:bodyPr wrap="square" lIns="0" tIns="0" rIns="0" bIns="0" rtlCol="0" anchor="t"/>
          <a:lstStyle/>
          <a:p>
            <a:pPr algn="l" indent="0" marL="0">
              <a:buNone/>
            </a:pPr>
            <a:r>
              <a:rPr lang="en-US" sz="2700" b="1" dirty="0">
                <a:solidFill>
                  <a:srgbClr val="10243C"/>
                </a:solidFill>
                <a:latin typeface="Cambria" pitchFamily="34" charset="0"/>
                <a:ea typeface="Cambria" pitchFamily="34" charset="-122"/>
                <a:cs typeface="Cambria" pitchFamily="34" charset="-120"/>
              </a:rPr>
              <a:t>A gene counts only when deleting and overexpressing disagree</a:t>
            </a:r>
            <a:endParaRPr lang="en-US" sz="2700" dirty="0"/>
          </a:p>
        </p:txBody>
      </p:sp>
      <p:sp>
        <p:nvSpPr>
          <p:cNvPr id="4" name="Text 2"/>
          <p:cNvSpPr/>
          <p:nvPr/>
        </p:nvSpPr>
        <p:spPr>
          <a:xfrm>
            <a:off x="548640" y="6419088"/>
            <a:ext cx="7315200" cy="256032"/>
          </a:xfrm>
          <a:prstGeom prst="rect">
            <a:avLst/>
          </a:prstGeom>
          <a:noFill/>
          <a:ln/>
        </p:spPr>
        <p:txBody>
          <a:bodyPr wrap="square" lIns="0" tIns="0" rIns="0" bIns="0" rtlCol="0" anchor="ctr"/>
          <a:lstStyle/>
          <a:p>
            <a:pPr indent="0" marL="0">
              <a:buNone/>
            </a:pPr>
            <a:r>
              <a:rPr lang="en-US" sz="950" dirty="0">
                <a:solidFill>
                  <a:srgbClr val="7A8798"/>
                </a:solidFill>
                <a:latin typeface="Calibri" pitchFamily="34" charset="0"/>
                <a:ea typeface="Calibri" pitchFamily="34" charset="-122"/>
                <a:cs typeface="Calibri" pitchFamily="34" charset="-120"/>
              </a:rPr>
              <a:t>Bidirectional concordance</a:t>
            </a:r>
            <a:endParaRPr lang="en-US" sz="950" dirty="0"/>
          </a:p>
        </p:txBody>
      </p:sp>
      <p:sp>
        <p:nvSpPr>
          <p:cNvPr id="5" name="Text 3"/>
          <p:cNvSpPr/>
          <p:nvPr/>
        </p:nvSpPr>
        <p:spPr>
          <a:xfrm>
            <a:off x="11002975" y="6419088"/>
            <a:ext cx="640080" cy="256032"/>
          </a:xfrm>
          <a:prstGeom prst="rect">
            <a:avLst/>
          </a:prstGeom>
          <a:noFill/>
          <a:ln/>
        </p:spPr>
        <p:txBody>
          <a:bodyPr wrap="square" lIns="0" tIns="0" rIns="0" bIns="0" rtlCol="0" anchor="ctr"/>
          <a:lstStyle/>
          <a:p>
            <a:pPr algn="r" indent="0" marL="0">
              <a:buNone/>
            </a:pPr>
            <a:r>
              <a:rPr lang="en-US" sz="950" dirty="0">
                <a:solidFill>
                  <a:srgbClr val="7A8798"/>
                </a:solidFill>
                <a:latin typeface="Calibri" pitchFamily="34" charset="0"/>
                <a:ea typeface="Calibri" pitchFamily="34" charset="-122"/>
                <a:cs typeface="Calibri" pitchFamily="34" charset="-120"/>
              </a:rPr>
              <a:t>3</a:t>
            </a:r>
            <a:endParaRPr lang="en-US" sz="950" dirty="0"/>
          </a:p>
        </p:txBody>
      </p:sp>
      <p:sp>
        <p:nvSpPr>
          <p:cNvPr id="6" name="Text 4"/>
          <p:cNvSpPr/>
          <p:nvPr/>
        </p:nvSpPr>
        <p:spPr>
          <a:xfrm>
            <a:off x="548640" y="1325880"/>
            <a:ext cx="11094415" cy="320040"/>
          </a:xfrm>
          <a:prstGeom prst="rect">
            <a:avLst/>
          </a:prstGeom>
          <a:noFill/>
          <a:ln/>
        </p:spPr>
        <p:txBody>
          <a:bodyPr wrap="square" lIns="0" tIns="0" rIns="0" bIns="0" rtlCol="0" anchor="t"/>
          <a:lstStyle/>
          <a:p>
            <a:pPr indent="0" marL="0">
              <a:buNone/>
            </a:pPr>
            <a:r>
              <a:rPr lang="en-US" sz="1400" dirty="0">
                <a:solidFill>
                  <a:srgbClr val="4A5768"/>
                </a:solidFill>
                <a:latin typeface="Calibri" pitchFamily="34" charset="0"/>
                <a:ea typeface="Calibri" pitchFamily="34" charset="-122"/>
                <a:cs typeface="Calibri" pitchFamily="34" charset="-120"/>
              </a:rPr>
              <a:t>Every number in the next four slides is a perturbation shift. Two rules decide which ones are allowed to count.</a:t>
            </a:r>
            <a:endParaRPr lang="en-US" sz="1400" dirty="0"/>
          </a:p>
        </p:txBody>
      </p:sp>
      <p:sp>
        <p:nvSpPr>
          <p:cNvPr id="7" name="Shape 5"/>
          <p:cNvSpPr/>
          <p:nvPr/>
        </p:nvSpPr>
        <p:spPr>
          <a:xfrm>
            <a:off x="548640" y="1783080"/>
            <a:ext cx="6537960" cy="1600200"/>
          </a:xfrm>
          <a:prstGeom prst="roundRect">
            <a:avLst>
              <a:gd name="adj" fmla="val 3429"/>
            </a:avLst>
          </a:prstGeom>
          <a:solidFill>
            <a:srgbClr val="EAF4F3"/>
          </a:solidFill>
          <a:ln w="9525">
            <a:solidFill>
              <a:srgbClr val="D5DEE7"/>
            </a:solidFill>
            <a:prstDash val="solid"/>
          </a:ln>
        </p:spPr>
      </p:sp>
      <p:sp>
        <p:nvSpPr>
          <p:cNvPr id="8" name="Text 6"/>
          <p:cNvSpPr/>
          <p:nvPr/>
        </p:nvSpPr>
        <p:spPr>
          <a:xfrm>
            <a:off x="804672" y="1901952"/>
            <a:ext cx="6025896" cy="274320"/>
          </a:xfrm>
          <a:prstGeom prst="rect">
            <a:avLst/>
          </a:prstGeom>
          <a:noFill/>
          <a:ln/>
        </p:spPr>
        <p:txBody>
          <a:bodyPr wrap="square" lIns="0" tIns="0" rIns="0" bIns="0" rtlCol="0" anchor="ctr"/>
          <a:lstStyle/>
          <a:p>
            <a:pPr indent="0" marL="0">
              <a:buNone/>
            </a:pPr>
            <a:r>
              <a:rPr lang="en-US" sz="1150" b="1" spc="120" kern="0" dirty="0">
                <a:solidFill>
                  <a:srgbClr val="0B6F6A"/>
                </a:solidFill>
                <a:latin typeface="Calibri" pitchFamily="34" charset="0"/>
                <a:ea typeface="Calibri" pitchFamily="34" charset="-122"/>
                <a:cs typeface="Calibri" pitchFamily="34" charset="-120"/>
              </a:rPr>
              <a:t>CONCORDANT — counts as a hit</a:t>
            </a:r>
            <a:endParaRPr lang="en-US" sz="1150" dirty="0"/>
          </a:p>
        </p:txBody>
      </p:sp>
      <p:sp>
        <p:nvSpPr>
          <p:cNvPr id="9" name="Text 7"/>
          <p:cNvSpPr/>
          <p:nvPr/>
        </p:nvSpPr>
        <p:spPr>
          <a:xfrm>
            <a:off x="804672" y="2267712"/>
            <a:ext cx="1828800" cy="365760"/>
          </a:xfrm>
          <a:prstGeom prst="rect">
            <a:avLst/>
          </a:prstGeom>
          <a:noFill/>
          <a:ln/>
        </p:spPr>
        <p:txBody>
          <a:bodyPr wrap="square" lIns="0" tIns="0" rIns="0" bIns="0" rtlCol="0" anchor="ctr"/>
          <a:lstStyle/>
          <a:p>
            <a:pPr indent="0" marL="0">
              <a:buNone/>
            </a:pPr>
            <a:r>
              <a:rPr lang="en-US" sz="1250" b="1" dirty="0">
                <a:solidFill>
                  <a:srgbClr val="16202C"/>
                </a:solidFill>
                <a:latin typeface="Calibri" pitchFamily="34" charset="0"/>
                <a:ea typeface="Calibri" pitchFamily="34" charset="-122"/>
                <a:cs typeface="Calibri" pitchFamily="34" charset="-120"/>
              </a:rPr>
              <a:t>Delete the gene</a:t>
            </a:r>
            <a:endParaRPr lang="en-US" sz="1250" dirty="0"/>
          </a:p>
        </p:txBody>
      </p:sp>
      <p:sp>
        <p:nvSpPr>
          <p:cNvPr id="10" name="Shape 8"/>
          <p:cNvSpPr/>
          <p:nvPr/>
        </p:nvSpPr>
        <p:spPr>
          <a:xfrm>
            <a:off x="2743200" y="2450592"/>
            <a:ext cx="1371600" cy="0"/>
          </a:xfrm>
          <a:prstGeom prst="line">
            <a:avLst/>
          </a:prstGeom>
          <a:noFill/>
          <a:ln w="25400">
            <a:solidFill>
              <a:srgbClr val="1A6B3C"/>
            </a:solidFill>
            <a:prstDash val="solid"/>
            <a:tailEnd type="triangle"/>
          </a:ln>
        </p:spPr>
      </p:sp>
      <p:sp>
        <p:nvSpPr>
          <p:cNvPr id="11" name="Text 9"/>
          <p:cNvSpPr/>
          <p:nvPr/>
        </p:nvSpPr>
        <p:spPr>
          <a:xfrm>
            <a:off x="4251960" y="2267712"/>
            <a:ext cx="2743200" cy="365760"/>
          </a:xfrm>
          <a:prstGeom prst="rect">
            <a:avLst/>
          </a:prstGeom>
          <a:noFill/>
          <a:ln/>
        </p:spPr>
        <p:txBody>
          <a:bodyPr wrap="square" lIns="0" tIns="0" rIns="0" bIns="0" rtlCol="0" anchor="ctr"/>
          <a:lstStyle/>
          <a:p>
            <a:pPr indent="0" marL="0">
              <a:buNone/>
            </a:pPr>
            <a:r>
              <a:rPr lang="en-US" sz="1250" dirty="0">
                <a:solidFill>
                  <a:srgbClr val="1A6B3C"/>
                </a:solidFill>
                <a:latin typeface="Calibri" pitchFamily="34" charset="0"/>
                <a:ea typeface="Calibri" pitchFamily="34" charset="-122"/>
                <a:cs typeface="Calibri" pitchFamily="34" charset="-120"/>
              </a:rPr>
              <a:t>toward Normal</a:t>
            </a:r>
            <a:endParaRPr lang="en-US" sz="1250" dirty="0"/>
          </a:p>
        </p:txBody>
      </p:sp>
      <p:sp>
        <p:nvSpPr>
          <p:cNvPr id="12" name="Text 10"/>
          <p:cNvSpPr/>
          <p:nvPr/>
        </p:nvSpPr>
        <p:spPr>
          <a:xfrm>
            <a:off x="804672" y="2788920"/>
            <a:ext cx="1828800" cy="365760"/>
          </a:xfrm>
          <a:prstGeom prst="rect">
            <a:avLst/>
          </a:prstGeom>
          <a:noFill/>
          <a:ln/>
        </p:spPr>
        <p:txBody>
          <a:bodyPr wrap="square" lIns="0" tIns="0" rIns="0" bIns="0" rtlCol="0" anchor="ctr"/>
          <a:lstStyle/>
          <a:p>
            <a:pPr indent="0" marL="0">
              <a:buNone/>
            </a:pPr>
            <a:r>
              <a:rPr lang="en-US" sz="1250" b="1" dirty="0">
                <a:solidFill>
                  <a:srgbClr val="16202C"/>
                </a:solidFill>
                <a:latin typeface="Calibri" pitchFamily="34" charset="0"/>
                <a:ea typeface="Calibri" pitchFamily="34" charset="-122"/>
                <a:cs typeface="Calibri" pitchFamily="34" charset="-120"/>
              </a:rPr>
              <a:t>Overexpress it</a:t>
            </a:r>
            <a:endParaRPr lang="en-US" sz="1250" dirty="0"/>
          </a:p>
        </p:txBody>
      </p:sp>
      <p:sp>
        <p:nvSpPr>
          <p:cNvPr id="13" name="Shape 11"/>
          <p:cNvSpPr/>
          <p:nvPr/>
        </p:nvSpPr>
        <p:spPr>
          <a:xfrm>
            <a:off x="2743200" y="2971800"/>
            <a:ext cx="1371600" cy="0"/>
          </a:xfrm>
          <a:prstGeom prst="line">
            <a:avLst/>
          </a:prstGeom>
          <a:noFill/>
          <a:ln w="25400">
            <a:solidFill>
              <a:srgbClr val="B8465E"/>
            </a:solidFill>
            <a:prstDash val="solid"/>
            <a:tailEnd type="triangle"/>
          </a:ln>
        </p:spPr>
      </p:sp>
      <p:sp>
        <p:nvSpPr>
          <p:cNvPr id="14" name="Text 12"/>
          <p:cNvSpPr/>
          <p:nvPr/>
        </p:nvSpPr>
        <p:spPr>
          <a:xfrm>
            <a:off x="4251960" y="2788920"/>
            <a:ext cx="2743200" cy="365760"/>
          </a:xfrm>
          <a:prstGeom prst="rect">
            <a:avLst/>
          </a:prstGeom>
          <a:noFill/>
          <a:ln/>
        </p:spPr>
        <p:txBody>
          <a:bodyPr wrap="square" lIns="0" tIns="0" rIns="0" bIns="0" rtlCol="0" anchor="ctr"/>
          <a:lstStyle/>
          <a:p>
            <a:pPr indent="0" marL="0">
              <a:buNone/>
            </a:pPr>
            <a:r>
              <a:rPr lang="en-US" sz="1250" dirty="0">
                <a:solidFill>
                  <a:srgbClr val="B8465E"/>
                </a:solidFill>
                <a:latin typeface="Calibri" pitchFamily="34" charset="0"/>
                <a:ea typeface="Calibri" pitchFamily="34" charset="-122"/>
                <a:cs typeface="Calibri" pitchFamily="34" charset="-120"/>
              </a:rPr>
              <a:t>away from Normal</a:t>
            </a:r>
            <a:endParaRPr lang="en-US" sz="1250" dirty="0"/>
          </a:p>
        </p:txBody>
      </p:sp>
      <p:sp>
        <p:nvSpPr>
          <p:cNvPr id="15" name="Shape 13"/>
          <p:cNvSpPr/>
          <p:nvPr/>
        </p:nvSpPr>
        <p:spPr>
          <a:xfrm>
            <a:off x="548640" y="3520440"/>
            <a:ext cx="6537960" cy="1463040"/>
          </a:xfrm>
          <a:prstGeom prst="roundRect">
            <a:avLst>
              <a:gd name="adj" fmla="val 3750"/>
            </a:avLst>
          </a:prstGeom>
          <a:solidFill>
            <a:srgbClr val="F2F5F9"/>
          </a:solidFill>
          <a:ln w="9525">
            <a:solidFill>
              <a:srgbClr val="D5DEE7"/>
            </a:solidFill>
            <a:prstDash val="solid"/>
          </a:ln>
        </p:spPr>
      </p:sp>
      <p:sp>
        <p:nvSpPr>
          <p:cNvPr id="16" name="Text 14"/>
          <p:cNvSpPr/>
          <p:nvPr/>
        </p:nvSpPr>
        <p:spPr>
          <a:xfrm>
            <a:off x="804672" y="3639312"/>
            <a:ext cx="6025896" cy="274320"/>
          </a:xfrm>
          <a:prstGeom prst="rect">
            <a:avLst/>
          </a:prstGeom>
          <a:noFill/>
          <a:ln/>
        </p:spPr>
        <p:txBody>
          <a:bodyPr wrap="square" lIns="0" tIns="0" rIns="0" bIns="0" rtlCol="0" anchor="ctr"/>
          <a:lstStyle/>
          <a:p>
            <a:pPr indent="0" marL="0">
              <a:buNone/>
            </a:pPr>
            <a:r>
              <a:rPr lang="en-US" sz="1150" b="1" spc="120" kern="0" dirty="0">
                <a:solidFill>
                  <a:srgbClr val="7A8798"/>
                </a:solidFill>
                <a:latin typeface="Calibri" pitchFamily="34" charset="0"/>
                <a:ea typeface="Calibri" pitchFamily="34" charset="-122"/>
                <a:cs typeface="Calibri" pitchFamily="34" charset="-120"/>
              </a:rPr>
              <a:t>NOT CONCORDANT — discarded</a:t>
            </a:r>
            <a:endParaRPr lang="en-US" sz="1150" dirty="0"/>
          </a:p>
        </p:txBody>
      </p:sp>
      <p:sp>
        <p:nvSpPr>
          <p:cNvPr id="17" name="Text 15"/>
          <p:cNvSpPr/>
          <p:nvPr/>
        </p:nvSpPr>
        <p:spPr>
          <a:xfrm>
            <a:off x="804672" y="3977640"/>
            <a:ext cx="6025896" cy="822960"/>
          </a:xfrm>
          <a:prstGeom prst="rect">
            <a:avLst/>
          </a:prstGeom>
          <a:noFill/>
          <a:ln/>
        </p:spPr>
        <p:txBody>
          <a:bodyPr wrap="square" lIns="0" tIns="0" rIns="0" bIns="0" rtlCol="0" anchor="t"/>
          <a:lstStyle/>
          <a:p>
            <a:pPr indent="0" marL="0">
              <a:buNone/>
            </a:pPr>
            <a:r>
              <a:rPr lang="en-US" sz="1250" dirty="0">
                <a:solidFill>
                  <a:srgbClr val="4A5768"/>
                </a:solidFill>
                <a:latin typeface="Calibri" pitchFamily="34" charset="0"/>
                <a:ea typeface="Calibri" pitchFamily="34" charset="-122"/>
                <a:cs typeface="Calibri" pitchFamily="34" charset="-120"/>
              </a:rPr>
              <a:t>Both edits move the cell the same way — the model is not responding to the direction of the change, so the gene is not treated as a candidate.</a:t>
            </a:r>
            <a:endParaRPr lang="en-US" sz="1250" dirty="0"/>
          </a:p>
        </p:txBody>
      </p:sp>
      <p:sp>
        <p:nvSpPr>
          <p:cNvPr id="18" name="Shape 16"/>
          <p:cNvSpPr/>
          <p:nvPr/>
        </p:nvSpPr>
        <p:spPr>
          <a:xfrm>
            <a:off x="548640" y="5120640"/>
            <a:ext cx="6537960" cy="1051560"/>
          </a:xfrm>
          <a:prstGeom prst="roundRect">
            <a:avLst>
              <a:gd name="adj" fmla="val 5217"/>
            </a:avLst>
          </a:prstGeom>
          <a:solidFill>
            <a:srgbClr val="F0EDF9"/>
          </a:solidFill>
          <a:ln w="9525">
            <a:solidFill>
              <a:srgbClr val="D5DEE7"/>
            </a:solidFill>
            <a:prstDash val="solid"/>
          </a:ln>
        </p:spPr>
      </p:sp>
      <p:sp>
        <p:nvSpPr>
          <p:cNvPr id="19" name="Text 17"/>
          <p:cNvSpPr/>
          <p:nvPr/>
        </p:nvSpPr>
        <p:spPr>
          <a:xfrm>
            <a:off x="822960" y="5120640"/>
            <a:ext cx="5989320" cy="1051560"/>
          </a:xfrm>
          <a:prstGeom prst="rect">
            <a:avLst/>
          </a:prstGeom>
          <a:noFill/>
          <a:ln/>
        </p:spPr>
        <p:txBody>
          <a:bodyPr wrap="square" lIns="0" tIns="0" rIns="0" bIns="0" rtlCol="0" anchor="ctr"/>
          <a:lstStyle/>
          <a:p>
            <a:pPr indent="0" marL="0">
              <a:lnSpc>
                <a:spcPts val="1900"/>
              </a:lnSpc>
              <a:buNone/>
            </a:pPr>
            <a:r>
              <a:rPr lang="en-US" sz="1250" b="1" dirty="0">
                <a:solidFill>
                  <a:srgbClr val="3D2F6B"/>
                </a:solidFill>
                <a:latin typeface="Calibri" pitchFamily="34" charset="0"/>
                <a:ea typeface="Calibri" pitchFamily="34" charset="-122"/>
                <a:cs typeface="Calibri" pitchFamily="34" charset="-120"/>
              </a:rPr>
              <a:t>And it must replicate. </a:t>
            </a:r>
            <a:pPr indent="0" marL="0">
              <a:lnSpc>
                <a:spcPts val="1900"/>
              </a:lnSpc>
              <a:buNone/>
            </a:pPr>
            <a:r>
              <a:rPr lang="en-US" sz="1250" dirty="0">
                <a:solidFill>
                  <a:srgbClr val="16202C"/>
                </a:solidFill>
                <a:latin typeface="Calibri" pitchFamily="34" charset="0"/>
                <a:ea typeface="Calibri" pitchFamily="34" charset="-122"/>
                <a:cs typeface="Calibri" pitchFamily="34" charset="-120"/>
              </a:rPr>
              <a:t>The four headline edits hold the same sign in all three SCLC donors, at FDR &lt; 0.05 in both arms, in genes detected in at least 100 source cells.</a:t>
            </a:r>
            <a:endParaRPr lang="en-US" sz="1250" dirty="0"/>
          </a:p>
        </p:txBody>
      </p:sp>
      <p:sp>
        <p:nvSpPr>
          <p:cNvPr id="20" name="Text 18"/>
          <p:cNvSpPr/>
          <p:nvPr/>
        </p:nvSpPr>
        <p:spPr>
          <a:xfrm>
            <a:off x="7498080" y="1783080"/>
            <a:ext cx="4144975" cy="274320"/>
          </a:xfrm>
          <a:prstGeom prst="rect">
            <a:avLst/>
          </a:prstGeom>
          <a:noFill/>
          <a:ln/>
        </p:spPr>
        <p:txBody>
          <a:bodyPr wrap="square" lIns="0" tIns="0" rIns="0" bIns="0" rtlCol="0" anchor="ctr"/>
          <a:lstStyle/>
          <a:p>
            <a:pPr indent="0" marL="0">
              <a:buNone/>
            </a:pPr>
            <a:r>
              <a:rPr lang="en-US" sz="1400" b="1" dirty="0">
                <a:solidFill>
                  <a:srgbClr val="10243C"/>
                </a:solidFill>
                <a:latin typeface="Calibri" pitchFamily="34" charset="0"/>
                <a:ea typeface="Calibri" pitchFamily="34" charset="-122"/>
                <a:cs typeface="Calibri" pitchFamily="34" charset="-120"/>
              </a:rPr>
              <a:t>What the numbers are</a:t>
            </a:r>
            <a:endParaRPr lang="en-US" sz="1400" dirty="0"/>
          </a:p>
        </p:txBody>
      </p:sp>
      <p:sp>
        <p:nvSpPr>
          <p:cNvPr id="21" name="Shape 19"/>
          <p:cNvSpPr/>
          <p:nvPr/>
        </p:nvSpPr>
        <p:spPr>
          <a:xfrm>
            <a:off x="7498080" y="2194560"/>
            <a:ext cx="4144975" cy="1207008"/>
          </a:xfrm>
          <a:prstGeom prst="roundRect">
            <a:avLst>
              <a:gd name="adj" fmla="val 4545"/>
            </a:avLst>
          </a:prstGeom>
          <a:solidFill>
            <a:srgbClr val="FFFFFF"/>
          </a:solidFill>
          <a:ln w="9525">
            <a:solidFill>
              <a:srgbClr val="D5DEE7"/>
            </a:solidFill>
            <a:prstDash val="solid"/>
          </a:ln>
        </p:spPr>
      </p:sp>
      <p:sp>
        <p:nvSpPr>
          <p:cNvPr id="22" name="Text 20"/>
          <p:cNvSpPr/>
          <p:nvPr/>
        </p:nvSpPr>
        <p:spPr>
          <a:xfrm>
            <a:off x="7717536" y="2322576"/>
            <a:ext cx="3706063" cy="274320"/>
          </a:xfrm>
          <a:prstGeom prst="rect">
            <a:avLst/>
          </a:prstGeom>
          <a:noFill/>
          <a:ln/>
        </p:spPr>
        <p:txBody>
          <a:bodyPr wrap="square" lIns="0" tIns="0" rIns="0" bIns="0" rtlCol="0" anchor="ctr"/>
          <a:lstStyle/>
          <a:p>
            <a:pPr indent="0" marL="0">
              <a:buNone/>
            </a:pPr>
            <a:r>
              <a:rPr lang="en-US" sz="1250" b="1" dirty="0">
                <a:solidFill>
                  <a:srgbClr val="0B6F6A"/>
                </a:solidFill>
                <a:latin typeface="Calibri" pitchFamily="34" charset="0"/>
                <a:ea typeface="Calibri" pitchFamily="34" charset="-122"/>
                <a:cs typeface="Calibri" pitchFamily="34" charset="-120"/>
              </a:rPr>
              <a:t>A change in similarity</a:t>
            </a:r>
            <a:endParaRPr lang="en-US" sz="1250" dirty="0"/>
          </a:p>
        </p:txBody>
      </p:sp>
      <p:sp>
        <p:nvSpPr>
          <p:cNvPr id="23" name="Text 21"/>
          <p:cNvSpPr/>
          <p:nvPr/>
        </p:nvSpPr>
        <p:spPr>
          <a:xfrm>
            <a:off x="7717536" y="2615184"/>
            <a:ext cx="3706063" cy="685800"/>
          </a:xfrm>
          <a:prstGeom prst="rect">
            <a:avLst/>
          </a:prstGeom>
          <a:noFill/>
          <a:ln/>
        </p:spPr>
        <p:txBody>
          <a:bodyPr wrap="square" lIns="0" tIns="0" rIns="0" bIns="0" rtlCol="0" anchor="t"/>
          <a:lstStyle/>
          <a:p>
            <a:pPr indent="0" marL="0">
              <a:buNone/>
            </a:pPr>
            <a:r>
              <a:rPr lang="en-US" sz="1100" dirty="0">
                <a:solidFill>
                  <a:srgbClr val="4A5768"/>
                </a:solidFill>
                <a:latin typeface="Calibri" pitchFamily="34" charset="0"/>
                <a:ea typeface="Calibri" pitchFamily="34" charset="-122"/>
                <a:cs typeface="Calibri" pitchFamily="34" charset="-120"/>
              </a:rPr>
              <a:t>How much closer the perturbed cell sits to a target disease state, on the model's own scale.</a:t>
            </a:r>
            <a:endParaRPr lang="en-US" sz="1100" dirty="0"/>
          </a:p>
        </p:txBody>
      </p:sp>
      <p:sp>
        <p:nvSpPr>
          <p:cNvPr id="24" name="Shape 22"/>
          <p:cNvSpPr/>
          <p:nvPr/>
        </p:nvSpPr>
        <p:spPr>
          <a:xfrm>
            <a:off x="7498080" y="3520440"/>
            <a:ext cx="4144975" cy="1207008"/>
          </a:xfrm>
          <a:prstGeom prst="roundRect">
            <a:avLst>
              <a:gd name="adj" fmla="val 4545"/>
            </a:avLst>
          </a:prstGeom>
          <a:solidFill>
            <a:srgbClr val="FFFFFF"/>
          </a:solidFill>
          <a:ln w="9525">
            <a:solidFill>
              <a:srgbClr val="D5DEE7"/>
            </a:solidFill>
            <a:prstDash val="solid"/>
          </a:ln>
        </p:spPr>
      </p:sp>
      <p:sp>
        <p:nvSpPr>
          <p:cNvPr id="25" name="Text 23"/>
          <p:cNvSpPr/>
          <p:nvPr/>
        </p:nvSpPr>
        <p:spPr>
          <a:xfrm>
            <a:off x="7717536" y="3648456"/>
            <a:ext cx="3706063" cy="274320"/>
          </a:xfrm>
          <a:prstGeom prst="rect">
            <a:avLst/>
          </a:prstGeom>
          <a:noFill/>
          <a:ln/>
        </p:spPr>
        <p:txBody>
          <a:bodyPr wrap="square" lIns="0" tIns="0" rIns="0" bIns="0" rtlCol="0" anchor="ctr"/>
          <a:lstStyle/>
          <a:p>
            <a:pPr indent="0" marL="0">
              <a:buNone/>
            </a:pPr>
            <a:r>
              <a:rPr lang="en-US" sz="1250" b="1" dirty="0">
                <a:solidFill>
                  <a:srgbClr val="0B6F6A"/>
                </a:solidFill>
                <a:latin typeface="Calibri" pitchFamily="34" charset="0"/>
                <a:ea typeface="Calibri" pitchFamily="34" charset="-122"/>
                <a:cs typeface="Calibri" pitchFamily="34" charset="-120"/>
              </a:rPr>
              <a:t>Small by construction</a:t>
            </a:r>
            <a:endParaRPr lang="en-US" sz="1250" dirty="0"/>
          </a:p>
        </p:txBody>
      </p:sp>
      <p:sp>
        <p:nvSpPr>
          <p:cNvPr id="26" name="Text 24"/>
          <p:cNvSpPr/>
          <p:nvPr/>
        </p:nvSpPr>
        <p:spPr>
          <a:xfrm>
            <a:off x="7717536" y="3941064"/>
            <a:ext cx="3706063" cy="685800"/>
          </a:xfrm>
          <a:prstGeom prst="rect">
            <a:avLst/>
          </a:prstGeom>
          <a:noFill/>
          <a:ln/>
        </p:spPr>
        <p:txBody>
          <a:bodyPr wrap="square" lIns="0" tIns="0" rIns="0" bIns="0" rtlCol="0" anchor="t"/>
          <a:lstStyle/>
          <a:p>
            <a:pPr indent="0" marL="0">
              <a:buNone/>
            </a:pPr>
            <a:r>
              <a:rPr lang="en-US" sz="1100" dirty="0">
                <a:solidFill>
                  <a:srgbClr val="4A5768"/>
                </a:solidFill>
                <a:latin typeface="Calibri" pitchFamily="34" charset="0"/>
                <a:ea typeface="Calibri" pitchFamily="34" charset="-122"/>
                <a:cs typeface="Calibri" pitchFamily="34" charset="-120"/>
              </a:rPr>
              <a:t>Shifts run ~0.001–0.01. Size is not significance — slide 7 shows why.</a:t>
            </a:r>
            <a:endParaRPr lang="en-US" sz="1100" dirty="0"/>
          </a:p>
        </p:txBody>
      </p:sp>
      <p:sp>
        <p:nvSpPr>
          <p:cNvPr id="27" name="Shape 25"/>
          <p:cNvSpPr/>
          <p:nvPr/>
        </p:nvSpPr>
        <p:spPr>
          <a:xfrm>
            <a:off x="7498080" y="4846320"/>
            <a:ext cx="4144975" cy="1207008"/>
          </a:xfrm>
          <a:prstGeom prst="roundRect">
            <a:avLst>
              <a:gd name="adj" fmla="val 4545"/>
            </a:avLst>
          </a:prstGeom>
          <a:solidFill>
            <a:srgbClr val="FFFFFF"/>
          </a:solidFill>
          <a:ln w="9525">
            <a:solidFill>
              <a:srgbClr val="D5DEE7"/>
            </a:solidFill>
            <a:prstDash val="solid"/>
          </a:ln>
        </p:spPr>
      </p:sp>
      <p:sp>
        <p:nvSpPr>
          <p:cNvPr id="28" name="Text 26"/>
          <p:cNvSpPr/>
          <p:nvPr/>
        </p:nvSpPr>
        <p:spPr>
          <a:xfrm>
            <a:off x="7717536" y="4974336"/>
            <a:ext cx="3706063" cy="274320"/>
          </a:xfrm>
          <a:prstGeom prst="rect">
            <a:avLst/>
          </a:prstGeom>
          <a:noFill/>
          <a:ln/>
        </p:spPr>
        <p:txBody>
          <a:bodyPr wrap="square" lIns="0" tIns="0" rIns="0" bIns="0" rtlCol="0" anchor="ctr"/>
          <a:lstStyle/>
          <a:p>
            <a:pPr indent="0" marL="0">
              <a:buNone/>
            </a:pPr>
            <a:r>
              <a:rPr lang="en-US" sz="1250" b="1" dirty="0">
                <a:solidFill>
                  <a:srgbClr val="0B6F6A"/>
                </a:solidFill>
                <a:latin typeface="Calibri" pitchFamily="34" charset="0"/>
                <a:ea typeface="Calibri" pitchFamily="34" charset="-122"/>
                <a:cs typeface="Calibri" pitchFamily="34" charset="-120"/>
              </a:rPr>
              <a:t>Averaged over cells</a:t>
            </a:r>
            <a:endParaRPr lang="en-US" sz="1250" dirty="0"/>
          </a:p>
        </p:txBody>
      </p:sp>
      <p:sp>
        <p:nvSpPr>
          <p:cNvPr id="29" name="Text 27"/>
          <p:cNvSpPr/>
          <p:nvPr/>
        </p:nvSpPr>
        <p:spPr>
          <a:xfrm>
            <a:off x="7717536" y="5266944"/>
            <a:ext cx="3706063" cy="685800"/>
          </a:xfrm>
          <a:prstGeom prst="rect">
            <a:avLst/>
          </a:prstGeom>
          <a:noFill/>
          <a:ln/>
        </p:spPr>
        <p:txBody>
          <a:bodyPr wrap="square" lIns="0" tIns="0" rIns="0" bIns="0" rtlCol="0" anchor="t"/>
          <a:lstStyle/>
          <a:p>
            <a:pPr indent="0" marL="0">
              <a:buNone/>
            </a:pPr>
            <a:r>
              <a:rPr lang="en-US" sz="1100" dirty="0">
                <a:solidFill>
                  <a:srgbClr val="4A5768"/>
                </a:solidFill>
                <a:latin typeface="Calibri" pitchFamily="34" charset="0"/>
                <a:ea typeface="Calibri" pitchFamily="34" charset="-122"/>
                <a:cs typeface="Calibri" pitchFamily="34" charset="-120"/>
              </a:rPr>
              <a:t>Each value pools thousands of real T cells, not one simulated cell.</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91440"/>
            <a:ext cx="11094415" cy="201168"/>
          </a:xfrm>
          <a:prstGeom prst="rect">
            <a:avLst/>
          </a:prstGeom>
          <a:noFill/>
          <a:ln/>
        </p:spPr>
        <p:txBody>
          <a:bodyPr wrap="square" lIns="0" tIns="0" rIns="0" bIns="0" rtlCol="0" anchor="ctr"/>
          <a:lstStyle/>
          <a:p>
            <a:pPr indent="0" marL="0">
              <a:buNone/>
            </a:pPr>
            <a:r>
              <a:rPr lang="en-US" sz="1100" b="1" spc="160" kern="0" dirty="0">
                <a:solidFill>
                  <a:srgbClr val="0B6F6A"/>
                </a:solidFill>
                <a:latin typeface="Calibri" pitchFamily="34" charset="0"/>
                <a:ea typeface="Calibri" pitchFamily="34" charset="-122"/>
                <a:cs typeface="Calibri" pitchFamily="34" charset="-120"/>
              </a:rPr>
              <a:t>DATA PROVENANCE</a:t>
            </a:r>
            <a:endParaRPr lang="en-US" sz="1100" dirty="0"/>
          </a:p>
        </p:txBody>
      </p:sp>
      <p:sp>
        <p:nvSpPr>
          <p:cNvPr id="3" name="Text 1"/>
          <p:cNvSpPr/>
          <p:nvPr/>
        </p:nvSpPr>
        <p:spPr>
          <a:xfrm>
            <a:off x="548640" y="329184"/>
            <a:ext cx="11094415" cy="1051560"/>
          </a:xfrm>
          <a:prstGeom prst="rect">
            <a:avLst/>
          </a:prstGeom>
          <a:noFill/>
          <a:ln/>
        </p:spPr>
        <p:txBody>
          <a:bodyPr wrap="square" lIns="0" tIns="0" rIns="0" bIns="0" rtlCol="0" anchor="t"/>
          <a:lstStyle/>
          <a:p>
            <a:pPr algn="l" indent="0" marL="0">
              <a:buNone/>
            </a:pPr>
            <a:r>
              <a:rPr lang="en-US" sz="2700" b="1" dirty="0">
                <a:solidFill>
                  <a:srgbClr val="10243C"/>
                </a:solidFill>
                <a:latin typeface="Cambria" pitchFamily="34" charset="0"/>
                <a:ea typeface="Cambria" pitchFamily="34" charset="-122"/>
                <a:cs typeface="Cambria" pitchFamily="34" charset="-120"/>
              </a:rPr>
              <a:t>42 individuals, zero donor leakage — so accuracy is measured on people the model never saw</a:t>
            </a:r>
            <a:endParaRPr lang="en-US" sz="2700" dirty="0"/>
          </a:p>
        </p:txBody>
      </p:sp>
      <p:sp>
        <p:nvSpPr>
          <p:cNvPr id="4" name="Text 2"/>
          <p:cNvSpPr/>
          <p:nvPr/>
        </p:nvSpPr>
        <p:spPr>
          <a:xfrm>
            <a:off x="548640" y="6419088"/>
            <a:ext cx="7315200" cy="256032"/>
          </a:xfrm>
          <a:prstGeom prst="rect">
            <a:avLst/>
          </a:prstGeom>
          <a:noFill/>
          <a:ln/>
        </p:spPr>
        <p:txBody>
          <a:bodyPr wrap="square" lIns="0" tIns="0" rIns="0" bIns="0" rtlCol="0" anchor="ctr"/>
          <a:lstStyle/>
          <a:p>
            <a:pPr indent="0" marL="0">
              <a:buNone/>
            </a:pPr>
            <a:r>
              <a:rPr lang="en-US" sz="950" dirty="0">
                <a:solidFill>
                  <a:srgbClr val="7A8798"/>
                </a:solidFill>
                <a:latin typeface="Calibri" pitchFamily="34" charset="0"/>
                <a:ea typeface="Calibri" pitchFamily="34" charset="-122"/>
                <a:cs typeface="Calibri" pitchFamily="34" charset="-120"/>
              </a:rPr>
              <a:t>Cohort architecture</a:t>
            </a:r>
            <a:endParaRPr lang="en-US" sz="950" dirty="0"/>
          </a:p>
        </p:txBody>
      </p:sp>
      <p:sp>
        <p:nvSpPr>
          <p:cNvPr id="5" name="Text 3"/>
          <p:cNvSpPr/>
          <p:nvPr/>
        </p:nvSpPr>
        <p:spPr>
          <a:xfrm>
            <a:off x="11002975" y="6419088"/>
            <a:ext cx="640080" cy="256032"/>
          </a:xfrm>
          <a:prstGeom prst="rect">
            <a:avLst/>
          </a:prstGeom>
          <a:noFill/>
          <a:ln/>
        </p:spPr>
        <p:txBody>
          <a:bodyPr wrap="square" lIns="0" tIns="0" rIns="0" bIns="0" rtlCol="0" anchor="ctr"/>
          <a:lstStyle/>
          <a:p>
            <a:pPr algn="r" indent="0" marL="0">
              <a:buNone/>
            </a:pPr>
            <a:r>
              <a:rPr lang="en-US" sz="950" dirty="0">
                <a:solidFill>
                  <a:srgbClr val="7A8798"/>
                </a:solidFill>
                <a:latin typeface="Calibri" pitchFamily="34" charset="0"/>
                <a:ea typeface="Calibri" pitchFamily="34" charset="-122"/>
                <a:cs typeface="Calibri" pitchFamily="34" charset="-120"/>
              </a:rPr>
              <a:t>4</a:t>
            </a:r>
            <a:endParaRPr lang="en-US" sz="9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6309360" cy="914400"/>
        </p:xfrm>
        <a:graphic>
          <a:graphicData uri="http://schemas.openxmlformats.org/drawingml/2006/table">
            <a:tbl>
              <a:tblPr/>
              <a:tblGrid>
                <a:gridCol w="1737360"/>
                <a:gridCol w="1188720"/>
                <a:gridCol w="1097280"/>
                <a:gridCol w="1097280"/>
                <a:gridCol w="1188720"/>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Disease</a:t>
                      </a:r>
                      <a:endParaRPr lang="en-US" sz="1300" dirty="0">
                        <a:latin typeface="Calibri" charset="0"/>
                        <a:ea typeface="Calibri" charset="0"/>
                        <a:cs typeface="Calibri"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10243C"/>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Train</a:t>
                      </a:r>
                      <a:endParaRPr lang="en-US" sz="1300" dirty="0">
                        <a:latin typeface="Calibri" charset="0"/>
                        <a:ea typeface="Calibri" charset="0"/>
                        <a:cs typeface="Calibri"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10243C"/>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Eval</a:t>
                      </a:r>
                      <a:endParaRPr lang="en-US" sz="1300" dirty="0">
                        <a:latin typeface="Calibri" charset="0"/>
                        <a:ea typeface="Calibri" charset="0"/>
                        <a:cs typeface="Calibri"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10243C"/>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Test</a:t>
                      </a:r>
                      <a:endParaRPr lang="en-US" sz="1300" dirty="0">
                        <a:latin typeface="Calibri" charset="0"/>
                        <a:ea typeface="Calibri" charset="0"/>
                        <a:cs typeface="Calibri"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10243C"/>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Donors</a:t>
                      </a:r>
                      <a:endParaRPr lang="en-US" sz="1300" dirty="0">
                        <a:latin typeface="Calibri" charset="0"/>
                        <a:ea typeface="Calibri" charset="0"/>
                        <a:cs typeface="Calibri"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10243C"/>
                    </a:solidFill>
                  </a:tcPr>
                </a:tc>
              </a:tr>
              <a:tr h="384048">
                <a:tc>
                  <a:txBody>
                    <a:bodyPr/>
                    <a:lstStyle/>
                    <a:p>
                      <a:pPr indent="0" marL="0">
                        <a:buNone/>
                      </a:pPr>
                      <a:r>
                        <a:rPr lang="en-US" sz="1300" b="1" dirty="0">
                          <a:solidFill>
                            <a:srgbClr val="16202C"/>
                          </a:solidFill>
                          <a:latin typeface="Calibri" pitchFamily="34" charset="0"/>
                          <a:ea typeface="Calibri" pitchFamily="34" charset="-122"/>
                          <a:cs typeface="Calibri" pitchFamily="34" charset="-120"/>
                        </a:rPr>
                        <a:t>SCLC</a:t>
                      </a:r>
                      <a:endParaRPr lang="en-US" sz="1300" dirty="0">
                        <a:latin typeface="Calibri" charset="0"/>
                        <a:ea typeface="Calibri" charset="0"/>
                        <a:cs typeface="Calibri"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tcPr>
                </a:tc>
                <a:tc>
                  <a:txBody>
                    <a:bodyPr/>
                    <a:lstStyle/>
                    <a:p>
                      <a:pPr algn="r" indent="0" marL="0">
                        <a:buNone/>
                      </a:pPr>
                      <a:r>
                        <a:rPr lang="en-US" sz="1300" dirty="0">
                          <a:solidFill>
                            <a:srgbClr val="16202C"/>
                          </a:solidFill>
                          <a:latin typeface="Calibri" pitchFamily="34" charset="0"/>
                          <a:ea typeface="Calibri" pitchFamily="34" charset="-122"/>
                          <a:cs typeface="Calibri" pitchFamily="34" charset="-120"/>
                        </a:rPr>
                        <a:t>7,037</a:t>
                      </a:r>
                      <a:endParaRPr lang="en-US" sz="1300" dirty="0">
                        <a:latin typeface="Calibri" charset="0"/>
                        <a:ea typeface="Calibri" charset="0"/>
                        <a:cs typeface="Calibri"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tcPr>
                </a:tc>
                <a:tc>
                  <a:txBody>
                    <a:bodyPr/>
                    <a:lstStyle/>
                    <a:p>
                      <a:pPr algn="r" indent="0" marL="0">
                        <a:buNone/>
                      </a:pPr>
                      <a:r>
                        <a:rPr lang="en-US" sz="1300" dirty="0">
                          <a:solidFill>
                            <a:srgbClr val="16202C"/>
                          </a:solidFill>
                          <a:latin typeface="Calibri" pitchFamily="34" charset="0"/>
                          <a:ea typeface="Calibri" pitchFamily="34" charset="-122"/>
                          <a:cs typeface="Calibri" pitchFamily="34" charset="-120"/>
                        </a:rPr>
                        <a:t>2,330</a:t>
                      </a:r>
                      <a:endParaRPr lang="en-US" sz="1300" dirty="0">
                        <a:latin typeface="Calibri" charset="0"/>
                        <a:ea typeface="Calibri" charset="0"/>
                        <a:cs typeface="Calibri"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tcPr>
                </a:tc>
                <a:tc>
                  <a:txBody>
                    <a:bodyPr/>
                    <a:lstStyle/>
                    <a:p>
                      <a:pPr algn="r" indent="0" marL="0">
                        <a:buNone/>
                      </a:pPr>
                      <a:r>
                        <a:rPr lang="en-US" sz="1300" dirty="0">
                          <a:solidFill>
                            <a:srgbClr val="16202C"/>
                          </a:solidFill>
                          <a:latin typeface="Calibri" pitchFamily="34" charset="0"/>
                          <a:ea typeface="Calibri" pitchFamily="34" charset="-122"/>
                          <a:cs typeface="Calibri" pitchFamily="34" charset="-120"/>
                        </a:rPr>
                        <a:t>2,424</a:t>
                      </a:r>
                      <a:endParaRPr lang="en-US" sz="1300" dirty="0">
                        <a:latin typeface="Calibri" charset="0"/>
                        <a:ea typeface="Calibri" charset="0"/>
                        <a:cs typeface="Calibri"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tcPr>
                </a:tc>
                <a:tc>
                  <a:txBody>
                    <a:bodyPr/>
                    <a:lstStyle/>
                    <a:p>
                      <a:pPr algn="r" indent="0" marL="0">
                        <a:buNone/>
                      </a:pPr>
                      <a:r>
                        <a:rPr lang="en-US" sz="1300" b="1" dirty="0">
                          <a:solidFill>
                            <a:srgbClr val="16202C"/>
                          </a:solidFill>
                          <a:latin typeface="Calibri" pitchFamily="34" charset="0"/>
                          <a:ea typeface="Calibri" pitchFamily="34" charset="-122"/>
                          <a:cs typeface="Calibri" pitchFamily="34" charset="-120"/>
                        </a:rPr>
                        <a:t>19</a:t>
                      </a:r>
                      <a:endParaRPr lang="en-US" sz="1300" dirty="0">
                        <a:latin typeface="Calibri" charset="0"/>
                        <a:ea typeface="Calibri" charset="0"/>
                        <a:cs typeface="Calibri"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tcPr>
                </a:tc>
              </a:tr>
              <a:tr h="384048">
                <a:tc>
                  <a:txBody>
                    <a:bodyPr/>
                    <a:lstStyle/>
                    <a:p>
                      <a:pPr indent="0" marL="0">
                        <a:buNone/>
                      </a:pPr>
                      <a:r>
                        <a:rPr lang="en-US" sz="1300" dirty="0">
                          <a:solidFill>
                            <a:srgbClr val="16202C"/>
                          </a:solidFill>
                          <a:latin typeface="Calibri" pitchFamily="34" charset="0"/>
                          <a:ea typeface="Calibri" pitchFamily="34" charset="-122"/>
                          <a:cs typeface="Calibri" pitchFamily="34" charset="-120"/>
                        </a:rPr>
                        <a:t>LUAD</a:t>
                      </a:r>
                      <a:endParaRPr lang="en-US" sz="1300" dirty="0">
                        <a:latin typeface="Calibri" charset="0"/>
                        <a:ea typeface="Calibri" charset="0"/>
                        <a:cs typeface="Calibri"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tcPr>
                </a:tc>
                <a:tc>
                  <a:txBody>
                    <a:bodyPr/>
                    <a:lstStyle/>
                    <a:p>
                      <a:pPr algn="r" indent="0" marL="0">
                        <a:buNone/>
                      </a:pPr>
                      <a:r>
                        <a:rPr lang="en-US" sz="1300" dirty="0">
                          <a:solidFill>
                            <a:srgbClr val="16202C"/>
                          </a:solidFill>
                          <a:latin typeface="Calibri" pitchFamily="34" charset="0"/>
                          <a:ea typeface="Calibri" pitchFamily="34" charset="-122"/>
                          <a:cs typeface="Calibri" pitchFamily="34" charset="-120"/>
                        </a:rPr>
                        <a:t>17,831</a:t>
                      </a:r>
                      <a:endParaRPr lang="en-US" sz="1300" dirty="0">
                        <a:latin typeface="Calibri" charset="0"/>
                        <a:ea typeface="Calibri" charset="0"/>
                        <a:cs typeface="Calibri"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tcPr>
                </a:tc>
                <a:tc>
                  <a:txBody>
                    <a:bodyPr/>
                    <a:lstStyle/>
                    <a:p>
                      <a:pPr algn="r" indent="0" marL="0">
                        <a:buNone/>
                      </a:pPr>
                      <a:r>
                        <a:rPr lang="en-US" sz="1300" dirty="0">
                          <a:solidFill>
                            <a:srgbClr val="16202C"/>
                          </a:solidFill>
                          <a:latin typeface="Calibri" pitchFamily="34" charset="0"/>
                          <a:ea typeface="Calibri" pitchFamily="34" charset="-122"/>
                          <a:cs typeface="Calibri" pitchFamily="34" charset="-120"/>
                        </a:rPr>
                        <a:t>5,611</a:t>
                      </a:r>
                      <a:endParaRPr lang="en-US" sz="1300" dirty="0">
                        <a:latin typeface="Calibri" charset="0"/>
                        <a:ea typeface="Calibri" charset="0"/>
                        <a:cs typeface="Calibri"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tcPr>
                </a:tc>
                <a:tc>
                  <a:txBody>
                    <a:bodyPr/>
                    <a:lstStyle/>
                    <a:p>
                      <a:pPr algn="r" indent="0" marL="0">
                        <a:buNone/>
                      </a:pPr>
                      <a:r>
                        <a:rPr lang="en-US" sz="1300" dirty="0">
                          <a:solidFill>
                            <a:srgbClr val="16202C"/>
                          </a:solidFill>
                          <a:latin typeface="Calibri" pitchFamily="34" charset="0"/>
                          <a:ea typeface="Calibri" pitchFamily="34" charset="-122"/>
                          <a:cs typeface="Calibri" pitchFamily="34" charset="-120"/>
                        </a:rPr>
                        <a:t>6,387</a:t>
                      </a:r>
                      <a:endParaRPr lang="en-US" sz="1300" dirty="0">
                        <a:latin typeface="Calibri" charset="0"/>
                        <a:ea typeface="Calibri" charset="0"/>
                        <a:cs typeface="Calibri"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tcPr>
                </a:tc>
                <a:tc>
                  <a:txBody>
                    <a:bodyPr/>
                    <a:lstStyle/>
                    <a:p>
                      <a:pPr algn="r" indent="0" marL="0">
                        <a:buNone/>
                      </a:pPr>
                      <a:r>
                        <a:rPr lang="en-US" sz="1300" b="1" dirty="0">
                          <a:solidFill>
                            <a:srgbClr val="16202C"/>
                          </a:solidFill>
                          <a:latin typeface="Calibri" pitchFamily="34" charset="0"/>
                          <a:ea typeface="Calibri" pitchFamily="34" charset="-122"/>
                          <a:cs typeface="Calibri" pitchFamily="34" charset="-120"/>
                        </a:rPr>
                        <a:t>22</a:t>
                      </a:r>
                      <a:endParaRPr lang="en-US" sz="1300" dirty="0">
                        <a:latin typeface="Calibri" charset="0"/>
                        <a:ea typeface="Calibri" charset="0"/>
                        <a:cs typeface="Calibri"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tcPr>
                </a:tc>
              </a:tr>
              <a:tr h="384048">
                <a:tc>
                  <a:txBody>
                    <a:bodyPr/>
                    <a:lstStyle/>
                    <a:p>
                      <a:pPr indent="0" marL="0">
                        <a:buNone/>
                      </a:pPr>
                      <a:r>
                        <a:rPr lang="en-US" sz="1300" dirty="0">
                          <a:solidFill>
                            <a:srgbClr val="16202C"/>
                          </a:solidFill>
                          <a:latin typeface="Calibri" pitchFamily="34" charset="0"/>
                          <a:ea typeface="Calibri" pitchFamily="34" charset="-122"/>
                          <a:cs typeface="Calibri" pitchFamily="34" charset="-120"/>
                        </a:rPr>
                        <a:t>Normal</a:t>
                      </a:r>
                      <a:endParaRPr lang="en-US" sz="1300" dirty="0">
                        <a:latin typeface="Calibri" charset="0"/>
                        <a:ea typeface="Calibri" charset="0"/>
                        <a:cs typeface="Calibri"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tcPr>
                </a:tc>
                <a:tc>
                  <a:txBody>
                    <a:bodyPr/>
                    <a:lstStyle/>
                    <a:p>
                      <a:pPr algn="r" indent="0" marL="0">
                        <a:buNone/>
                      </a:pPr>
                      <a:r>
                        <a:rPr lang="en-US" sz="1300" dirty="0">
                          <a:solidFill>
                            <a:srgbClr val="16202C"/>
                          </a:solidFill>
                          <a:latin typeface="Calibri" pitchFamily="34" charset="0"/>
                          <a:ea typeface="Calibri" pitchFamily="34" charset="-122"/>
                          <a:cs typeface="Calibri" pitchFamily="34" charset="-120"/>
                        </a:rPr>
                        <a:t>2,334</a:t>
                      </a:r>
                      <a:endParaRPr lang="en-US" sz="1300" dirty="0">
                        <a:latin typeface="Calibri" charset="0"/>
                        <a:ea typeface="Calibri" charset="0"/>
                        <a:cs typeface="Calibri"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tcPr>
                </a:tc>
                <a:tc>
                  <a:txBody>
                    <a:bodyPr/>
                    <a:lstStyle/>
                    <a:p>
                      <a:pPr algn="r" indent="0" marL="0">
                        <a:buNone/>
                      </a:pPr>
                      <a:r>
                        <a:rPr lang="en-US" sz="1300" dirty="0">
                          <a:solidFill>
                            <a:srgbClr val="16202C"/>
                          </a:solidFill>
                          <a:latin typeface="Calibri" pitchFamily="34" charset="0"/>
                          <a:ea typeface="Calibri" pitchFamily="34" charset="-122"/>
                          <a:cs typeface="Calibri" pitchFamily="34" charset="-120"/>
                        </a:rPr>
                        <a:t>1,620</a:t>
                      </a:r>
                      <a:endParaRPr lang="en-US" sz="1300" dirty="0">
                        <a:latin typeface="Calibri" charset="0"/>
                        <a:ea typeface="Calibri" charset="0"/>
                        <a:cs typeface="Calibri"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tcPr>
                </a:tc>
                <a:tc>
                  <a:txBody>
                    <a:bodyPr/>
                    <a:lstStyle/>
                    <a:p>
                      <a:pPr algn="r" indent="0" marL="0">
                        <a:buNone/>
                      </a:pPr>
                      <a:r>
                        <a:rPr lang="en-US" sz="1300" dirty="0">
                          <a:solidFill>
                            <a:srgbClr val="16202C"/>
                          </a:solidFill>
                          <a:latin typeface="Calibri" pitchFamily="34" charset="0"/>
                          <a:ea typeface="Calibri" pitchFamily="34" charset="-122"/>
                          <a:cs typeface="Calibri" pitchFamily="34" charset="-120"/>
                        </a:rPr>
                        <a:t>566</a:t>
                      </a:r>
                      <a:endParaRPr lang="en-US" sz="1300" dirty="0">
                        <a:latin typeface="Calibri" charset="0"/>
                        <a:ea typeface="Calibri" charset="0"/>
                        <a:cs typeface="Calibri"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tcPr>
                </a:tc>
                <a:tc>
                  <a:txBody>
                    <a:bodyPr/>
                    <a:lstStyle/>
                    <a:p>
                      <a:pPr algn="r" indent="0" marL="0">
                        <a:buNone/>
                      </a:pPr>
                      <a:r>
                        <a:rPr lang="en-US" sz="1300" b="1" dirty="0">
                          <a:solidFill>
                            <a:srgbClr val="16202C"/>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tcPr>
                </a:tc>
              </a:tr>
            </a:tbl>
          </a:graphicData>
        </a:graphic>
      </p:graphicFrame>
      <p:sp>
        <p:nvSpPr>
          <p:cNvPr id="7" name="Text 4"/>
          <p:cNvSpPr/>
          <p:nvPr/>
        </p:nvSpPr>
        <p:spPr>
          <a:xfrm>
            <a:off x="548640" y="3291840"/>
            <a:ext cx="6309360" cy="914400"/>
          </a:xfrm>
          <a:prstGeom prst="rect">
            <a:avLst/>
          </a:prstGeom>
          <a:noFill/>
          <a:ln/>
        </p:spPr>
        <p:txBody>
          <a:bodyPr wrap="square" lIns="0" tIns="0" rIns="0" bIns="0" rtlCol="0" anchor="t"/>
          <a:lstStyle/>
          <a:p>
            <a:pPr indent="0" marL="0">
              <a:lnSpc>
                <a:spcPts val="1800"/>
              </a:lnSpc>
              <a:buNone/>
            </a:pPr>
            <a:r>
              <a:rPr lang="en-US" sz="1250" b="1" dirty="0">
                <a:solidFill>
                  <a:srgbClr val="16202C"/>
                </a:solidFill>
                <a:latin typeface="Calibri" pitchFamily="34" charset="0"/>
                <a:ea typeface="Calibri" pitchFamily="34" charset="-122"/>
                <a:cs typeface="Calibri" pitchFamily="34" charset="-120"/>
              </a:rPr>
              <a:t>45 donor×disease groups = 42 people + 3 paired tumour–normal donors</a:t>
            </a:r>
            <a:endParaRPr lang="en-US" sz="1250" dirty="0"/>
          </a:p>
          <a:p>
            <a:pPr indent="0" marL="0">
              <a:lnSpc>
                <a:spcPts val="1800"/>
              </a:lnSpc>
              <a:buNone/>
            </a:pPr>
            <a:r>
              <a:rPr lang="en-US" sz="1250" dirty="0">
                <a:solidFill>
                  <a:srgbClr val="4A5768"/>
                </a:solidFill>
                <a:latin typeface="Calibri" pitchFamily="34" charset="0"/>
                <a:ea typeface="Calibri" pitchFamily="34" charset="-122"/>
                <a:cs typeface="Calibri" pitchFamily="34" charset="-120"/>
              </a:rPr>
              <a:t>A donor contributing both tumour and normal tissue appears twice. The three extra rows are exactly RU675, RU682 and RU684.</a:t>
            </a:r>
            <a:endParaRPr lang="en-US" sz="1250" dirty="0"/>
          </a:p>
        </p:txBody>
      </p:sp>
      <p:sp>
        <p:nvSpPr>
          <p:cNvPr id="8" name="Text 5"/>
          <p:cNvSpPr/>
          <p:nvPr/>
        </p:nvSpPr>
        <p:spPr>
          <a:xfrm>
            <a:off x="548640" y="4297680"/>
            <a:ext cx="6309360" cy="274320"/>
          </a:xfrm>
          <a:prstGeom prst="rect">
            <a:avLst/>
          </a:prstGeom>
          <a:noFill/>
          <a:ln/>
        </p:spPr>
        <p:txBody>
          <a:bodyPr wrap="square" lIns="0" tIns="0" rIns="0" bIns="0" rtlCol="0" anchor="ctr"/>
          <a:lstStyle/>
          <a:p>
            <a:pPr indent="0" marL="0">
              <a:buNone/>
            </a:pPr>
            <a:r>
              <a:rPr lang="en-US" sz="1150" dirty="0">
                <a:solidFill>
                  <a:srgbClr val="7A8798"/>
                </a:solidFill>
                <a:latin typeface="Calibri" pitchFamily="34" charset="0"/>
                <a:ea typeface="Calibri" pitchFamily="34" charset="-122"/>
                <a:cs typeface="Calibri" pitchFamily="34" charset="-120"/>
              </a:rPr>
              <a:t>46,140 cells  ·  24,540 features  ·  median 390–1,172 cells per donor</a:t>
            </a:r>
            <a:endParaRPr lang="en-US" sz="1150" dirty="0"/>
          </a:p>
        </p:txBody>
      </p:sp>
      <p:sp>
        <p:nvSpPr>
          <p:cNvPr id="9" name="Shape 6"/>
          <p:cNvSpPr/>
          <p:nvPr/>
        </p:nvSpPr>
        <p:spPr>
          <a:xfrm>
            <a:off x="7269480" y="1600200"/>
            <a:ext cx="4373575" cy="3520440"/>
          </a:xfrm>
          <a:prstGeom prst="roundRect">
            <a:avLst>
              <a:gd name="adj" fmla="val 1558"/>
            </a:avLst>
          </a:prstGeom>
          <a:solidFill>
            <a:srgbClr val="F2F5F9"/>
          </a:solidFill>
          <a:ln w="9525">
            <a:solidFill>
              <a:srgbClr val="D5DEE7"/>
            </a:solidFill>
            <a:prstDash val="solid"/>
          </a:ln>
        </p:spPr>
      </p:sp>
      <p:sp>
        <p:nvSpPr>
          <p:cNvPr id="10" name="Text 7"/>
          <p:cNvSpPr/>
          <p:nvPr/>
        </p:nvSpPr>
        <p:spPr>
          <a:xfrm>
            <a:off x="7543800" y="1783080"/>
            <a:ext cx="3824935" cy="292608"/>
          </a:xfrm>
          <a:prstGeom prst="rect">
            <a:avLst/>
          </a:prstGeom>
          <a:noFill/>
          <a:ln/>
        </p:spPr>
        <p:txBody>
          <a:bodyPr wrap="square" lIns="0" tIns="0" rIns="0" bIns="0" rtlCol="0" anchor="ctr"/>
          <a:lstStyle/>
          <a:p>
            <a:pPr indent="0" marL="0">
              <a:buNone/>
            </a:pPr>
            <a:r>
              <a:rPr lang="en-US" sz="1400" b="1" dirty="0">
                <a:solidFill>
                  <a:srgbClr val="10243C"/>
                </a:solidFill>
                <a:latin typeface="Calibri" pitchFamily="34" charset="0"/>
                <a:ea typeface="Calibri" pitchFamily="34" charset="-122"/>
                <a:cs typeface="Calibri" pitchFamily="34" charset="-120"/>
              </a:rPr>
              <a:t>Donor-disjoint splits</a:t>
            </a:r>
            <a:endParaRPr lang="en-US" sz="1400" dirty="0"/>
          </a:p>
        </p:txBody>
      </p:sp>
      <p:sp>
        <p:nvSpPr>
          <p:cNvPr id="11" name="Shape 8"/>
          <p:cNvSpPr/>
          <p:nvPr/>
        </p:nvSpPr>
        <p:spPr>
          <a:xfrm>
            <a:off x="7562088" y="2286000"/>
            <a:ext cx="237744" cy="237744"/>
          </a:xfrm>
          <a:prstGeom prst="ellipse">
            <a:avLst/>
          </a:prstGeom>
          <a:solidFill>
            <a:srgbClr val="0B6F6A"/>
          </a:solidFill>
          <a:ln w="12700">
            <a:solidFill>
              <a:srgbClr val="0B6F6A"/>
            </a:solidFill>
            <a:prstDash val="solid"/>
          </a:ln>
        </p:spPr>
      </p:sp>
      <p:sp>
        <p:nvSpPr>
          <p:cNvPr id="12" name="Text 9"/>
          <p:cNvSpPr/>
          <p:nvPr/>
        </p:nvSpPr>
        <p:spPr>
          <a:xfrm>
            <a:off x="7909560" y="2240280"/>
            <a:ext cx="3459175" cy="329184"/>
          </a:xfrm>
          <a:prstGeom prst="rect">
            <a:avLst/>
          </a:prstGeom>
          <a:noFill/>
          <a:ln/>
        </p:spPr>
        <p:txBody>
          <a:bodyPr wrap="square" lIns="0" tIns="0" rIns="0" bIns="0" rtlCol="0" anchor="ctr"/>
          <a:lstStyle/>
          <a:p>
            <a:pPr indent="0" marL="0">
              <a:buNone/>
            </a:pPr>
            <a:r>
              <a:rPr lang="en-US" sz="1300" b="1" dirty="0">
                <a:solidFill>
                  <a:srgbClr val="16202C"/>
                </a:solidFill>
                <a:latin typeface="Calibri" pitchFamily="34" charset="0"/>
                <a:ea typeface="Calibri" pitchFamily="34" charset="-122"/>
                <a:cs typeface="Calibri" pitchFamily="34" charset="-120"/>
              </a:rPr>
              <a:t>Train — 27 donors</a:t>
            </a:r>
            <a:endParaRPr lang="en-US" sz="1300" dirty="0"/>
          </a:p>
        </p:txBody>
      </p:sp>
      <p:sp>
        <p:nvSpPr>
          <p:cNvPr id="13" name="Shape 10"/>
          <p:cNvSpPr/>
          <p:nvPr/>
        </p:nvSpPr>
        <p:spPr>
          <a:xfrm>
            <a:off x="7562088" y="2706624"/>
            <a:ext cx="237744" cy="237744"/>
          </a:xfrm>
          <a:prstGeom prst="ellipse">
            <a:avLst/>
          </a:prstGeom>
          <a:solidFill>
            <a:srgbClr val="6B5AA8"/>
          </a:solidFill>
          <a:ln w="12700">
            <a:solidFill>
              <a:srgbClr val="6B5AA8"/>
            </a:solidFill>
            <a:prstDash val="solid"/>
          </a:ln>
        </p:spPr>
      </p:sp>
      <p:sp>
        <p:nvSpPr>
          <p:cNvPr id="14" name="Text 11"/>
          <p:cNvSpPr/>
          <p:nvPr/>
        </p:nvSpPr>
        <p:spPr>
          <a:xfrm>
            <a:off x="7909560" y="2660904"/>
            <a:ext cx="3459175" cy="329184"/>
          </a:xfrm>
          <a:prstGeom prst="rect">
            <a:avLst/>
          </a:prstGeom>
          <a:noFill/>
          <a:ln/>
        </p:spPr>
        <p:txBody>
          <a:bodyPr wrap="square" lIns="0" tIns="0" rIns="0" bIns="0" rtlCol="0" anchor="ctr"/>
          <a:lstStyle/>
          <a:p>
            <a:pPr indent="0" marL="0">
              <a:buNone/>
            </a:pPr>
            <a:r>
              <a:rPr lang="en-US" sz="1300" b="1" dirty="0">
                <a:solidFill>
                  <a:srgbClr val="16202C"/>
                </a:solidFill>
                <a:latin typeface="Calibri" pitchFamily="34" charset="0"/>
                <a:ea typeface="Calibri" pitchFamily="34" charset="-122"/>
                <a:cs typeface="Calibri" pitchFamily="34" charset="-120"/>
              </a:rPr>
              <a:t>Eval — 7 donors</a:t>
            </a:r>
            <a:endParaRPr lang="en-US" sz="1300" dirty="0"/>
          </a:p>
        </p:txBody>
      </p:sp>
      <p:sp>
        <p:nvSpPr>
          <p:cNvPr id="15" name="Shape 12"/>
          <p:cNvSpPr/>
          <p:nvPr/>
        </p:nvSpPr>
        <p:spPr>
          <a:xfrm>
            <a:off x="7562088" y="3127248"/>
            <a:ext cx="237744" cy="237744"/>
          </a:xfrm>
          <a:prstGeom prst="ellipse">
            <a:avLst/>
          </a:prstGeom>
          <a:solidFill>
            <a:srgbClr val="B8465E"/>
          </a:solidFill>
          <a:ln w="12700">
            <a:solidFill>
              <a:srgbClr val="B8465E"/>
            </a:solidFill>
            <a:prstDash val="solid"/>
          </a:ln>
        </p:spPr>
      </p:sp>
      <p:sp>
        <p:nvSpPr>
          <p:cNvPr id="16" name="Text 13"/>
          <p:cNvSpPr/>
          <p:nvPr/>
        </p:nvSpPr>
        <p:spPr>
          <a:xfrm>
            <a:off x="7909560" y="3081528"/>
            <a:ext cx="3459175" cy="329184"/>
          </a:xfrm>
          <a:prstGeom prst="rect">
            <a:avLst/>
          </a:prstGeom>
          <a:noFill/>
          <a:ln/>
        </p:spPr>
        <p:txBody>
          <a:bodyPr wrap="square" lIns="0" tIns="0" rIns="0" bIns="0" rtlCol="0" anchor="ctr"/>
          <a:lstStyle/>
          <a:p>
            <a:pPr indent="0" marL="0">
              <a:buNone/>
            </a:pPr>
            <a:r>
              <a:rPr lang="en-US" sz="1300" b="1" dirty="0">
                <a:solidFill>
                  <a:srgbClr val="16202C"/>
                </a:solidFill>
                <a:latin typeface="Calibri" pitchFamily="34" charset="0"/>
                <a:ea typeface="Calibri" pitchFamily="34" charset="-122"/>
                <a:cs typeface="Calibri" pitchFamily="34" charset="-120"/>
              </a:rPr>
              <a:t>Test — 8 donors</a:t>
            </a:r>
            <a:endParaRPr lang="en-US" sz="1300" dirty="0"/>
          </a:p>
        </p:txBody>
      </p:sp>
      <p:sp>
        <p:nvSpPr>
          <p:cNvPr id="17" name="Text 14"/>
          <p:cNvSpPr/>
          <p:nvPr/>
        </p:nvSpPr>
        <p:spPr>
          <a:xfrm>
            <a:off x="7543800" y="3657600"/>
            <a:ext cx="3824935" cy="914400"/>
          </a:xfrm>
          <a:prstGeom prst="rect">
            <a:avLst/>
          </a:prstGeom>
          <a:noFill/>
          <a:ln/>
        </p:spPr>
        <p:txBody>
          <a:bodyPr wrap="square" lIns="0" tIns="0" rIns="0" bIns="0" rtlCol="0" anchor="t"/>
          <a:lstStyle/>
          <a:p>
            <a:pPr indent="0" marL="0">
              <a:buNone/>
            </a:pPr>
            <a:r>
              <a:rPr lang="en-US" sz="1200" dirty="0">
                <a:solidFill>
                  <a:srgbClr val="4A5768"/>
                </a:solidFill>
                <a:latin typeface="Calibri" pitchFamily="34" charset="0"/>
                <a:ea typeface="Calibri" pitchFamily="34" charset="-122"/>
                <a:cs typeface="Calibri" pitchFamily="34" charset="-120"/>
              </a:rPr>
              <a:t>No individual appears in two splits. Paired tumour–normal donors are confined to one split by a cross-disease guard.</a:t>
            </a:r>
            <a:endParaRPr lang="en-US" sz="1200" dirty="0"/>
          </a:p>
        </p:txBody>
      </p:sp>
      <p:sp>
        <p:nvSpPr>
          <p:cNvPr id="18" name="Shape 15"/>
          <p:cNvSpPr/>
          <p:nvPr/>
        </p:nvSpPr>
        <p:spPr>
          <a:xfrm>
            <a:off x="7269480" y="5257800"/>
            <a:ext cx="4373575" cy="566928"/>
          </a:xfrm>
          <a:prstGeom prst="roundRect">
            <a:avLst>
              <a:gd name="adj" fmla="val 9677"/>
            </a:avLst>
          </a:prstGeom>
          <a:solidFill>
            <a:srgbClr val="E8F2EC"/>
          </a:solidFill>
          <a:ln w="9525">
            <a:solidFill>
              <a:srgbClr val="D5DEE7"/>
            </a:solidFill>
            <a:prstDash val="solid"/>
          </a:ln>
        </p:spPr>
      </p:sp>
      <p:sp>
        <p:nvSpPr>
          <p:cNvPr id="19" name="Text 16"/>
          <p:cNvSpPr/>
          <p:nvPr/>
        </p:nvSpPr>
        <p:spPr>
          <a:xfrm>
            <a:off x="7269480" y="5257800"/>
            <a:ext cx="4373575" cy="566928"/>
          </a:xfrm>
          <a:prstGeom prst="rect">
            <a:avLst/>
          </a:prstGeom>
          <a:noFill/>
          <a:ln/>
        </p:spPr>
        <p:txBody>
          <a:bodyPr wrap="square" lIns="0" tIns="0" rIns="0" bIns="0" rtlCol="0" anchor="ctr"/>
          <a:lstStyle/>
          <a:p>
            <a:pPr algn="ctr" indent="0" marL="0">
              <a:buNone/>
            </a:pPr>
            <a:r>
              <a:rPr lang="en-US" sz="1300" b="1" dirty="0">
                <a:solidFill>
                  <a:srgbClr val="1A6B3C"/>
                </a:solidFill>
                <a:latin typeface="Calibri" pitchFamily="34" charset="0"/>
                <a:ea typeface="Calibri" pitchFamily="34" charset="-122"/>
                <a:cs typeface="Calibri" pitchFamily="34" charset="-120"/>
              </a:rPr>
              <a:t>Leakage audit: PASS  ·  0 / 42 donors</a:t>
            </a:r>
            <a:endParaRPr lang="en-US" sz="1300" dirty="0"/>
          </a:p>
        </p:txBody>
      </p:sp>
      <p:sp>
        <p:nvSpPr>
          <p:cNvPr id="20" name="Text 17"/>
          <p:cNvSpPr/>
          <p:nvPr/>
        </p:nvSpPr>
        <p:spPr>
          <a:xfrm>
            <a:off x="548640" y="5257800"/>
            <a:ext cx="6309360" cy="566928"/>
          </a:xfrm>
          <a:prstGeom prst="rect">
            <a:avLst/>
          </a:prstGeom>
          <a:noFill/>
          <a:ln/>
        </p:spPr>
        <p:txBody>
          <a:bodyPr wrap="square" lIns="0" tIns="0" rIns="0" bIns="0" rtlCol="0" anchor="ctr"/>
          <a:lstStyle/>
          <a:p>
            <a:pPr indent="0" marL="0">
              <a:buNone/>
            </a:pPr>
            <a:r>
              <a:rPr lang="en-US" sz="1600" b="1" dirty="0">
                <a:solidFill>
                  <a:srgbClr val="10243C"/>
                </a:solidFill>
                <a:latin typeface="Cambria" pitchFamily="34" charset="0"/>
                <a:ea typeface="Cambria" pitchFamily="34" charset="-122"/>
                <a:cs typeface="Cambria" pitchFamily="34" charset="-120"/>
              </a:rPr>
              <a:t>Held-out test set:  9,377 cells  from  8 donors</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91440"/>
            <a:ext cx="11094415" cy="201168"/>
          </a:xfrm>
          <a:prstGeom prst="rect">
            <a:avLst/>
          </a:prstGeom>
          <a:noFill/>
          <a:ln/>
        </p:spPr>
        <p:txBody>
          <a:bodyPr wrap="square" lIns="0" tIns="0" rIns="0" bIns="0" rtlCol="0" anchor="ctr"/>
          <a:lstStyle/>
          <a:p>
            <a:pPr indent="0" marL="0">
              <a:buNone/>
            </a:pPr>
            <a:r>
              <a:rPr lang="en-US" sz="1100" b="1" spc="160" kern="0" dirty="0">
                <a:solidFill>
                  <a:srgbClr val="0B6F6A"/>
                </a:solidFill>
                <a:latin typeface="Calibri" pitchFamily="34" charset="0"/>
                <a:ea typeface="Calibri" pitchFamily="34" charset="-122"/>
                <a:cs typeface="Calibri" pitchFamily="34" charset="-120"/>
              </a:rPr>
              <a:t>MODEL</a:t>
            </a:r>
            <a:endParaRPr lang="en-US" sz="1100" dirty="0"/>
          </a:p>
        </p:txBody>
      </p:sp>
      <p:sp>
        <p:nvSpPr>
          <p:cNvPr id="3" name="Text 1"/>
          <p:cNvSpPr/>
          <p:nvPr/>
        </p:nvSpPr>
        <p:spPr>
          <a:xfrm>
            <a:off x="548640" y="329184"/>
            <a:ext cx="11094415" cy="1051560"/>
          </a:xfrm>
          <a:prstGeom prst="rect">
            <a:avLst/>
          </a:prstGeom>
          <a:noFill/>
          <a:ln/>
        </p:spPr>
        <p:txBody>
          <a:bodyPr wrap="square" lIns="0" tIns="0" rIns="0" bIns="0" rtlCol="0" anchor="t"/>
          <a:lstStyle/>
          <a:p>
            <a:pPr algn="l" indent="0" marL="0">
              <a:buNone/>
            </a:pPr>
            <a:r>
              <a:rPr lang="en-US" sz="2700" b="1" dirty="0">
                <a:solidFill>
                  <a:srgbClr val="10243C"/>
                </a:solidFill>
                <a:latin typeface="Cambria" pitchFamily="34" charset="0"/>
                <a:ea typeface="Cambria" pitchFamily="34" charset="-122"/>
                <a:cs typeface="Cambria" pitchFamily="34" charset="-120"/>
              </a:rPr>
              <a:t>91.9% accuracy on held-out donors — with an SCLC→LUAD confusion worth noticing</a:t>
            </a:r>
            <a:endParaRPr lang="en-US" sz="2700" dirty="0"/>
          </a:p>
        </p:txBody>
      </p:sp>
      <p:sp>
        <p:nvSpPr>
          <p:cNvPr id="4" name="Text 2"/>
          <p:cNvSpPr/>
          <p:nvPr/>
        </p:nvSpPr>
        <p:spPr>
          <a:xfrm>
            <a:off x="548640" y="6419088"/>
            <a:ext cx="7315200" cy="256032"/>
          </a:xfrm>
          <a:prstGeom prst="rect">
            <a:avLst/>
          </a:prstGeom>
          <a:noFill/>
          <a:ln/>
        </p:spPr>
        <p:txBody>
          <a:bodyPr wrap="square" lIns="0" tIns="0" rIns="0" bIns="0" rtlCol="0" anchor="ctr"/>
          <a:lstStyle/>
          <a:p>
            <a:pPr indent="0" marL="0">
              <a:buNone/>
            </a:pPr>
            <a:r>
              <a:rPr lang="en-US" sz="950" dirty="0">
                <a:solidFill>
                  <a:srgbClr val="7A8798"/>
                </a:solidFill>
                <a:latin typeface="Calibri" pitchFamily="34" charset="0"/>
                <a:ea typeface="Calibri" pitchFamily="34" charset="-122"/>
                <a:cs typeface="Calibri" pitchFamily="34" charset="-120"/>
              </a:rPr>
              <a:t>Fine-tuning &amp; performance</a:t>
            </a:r>
            <a:endParaRPr lang="en-US" sz="950" dirty="0"/>
          </a:p>
        </p:txBody>
      </p:sp>
      <p:sp>
        <p:nvSpPr>
          <p:cNvPr id="5" name="Text 3"/>
          <p:cNvSpPr/>
          <p:nvPr/>
        </p:nvSpPr>
        <p:spPr>
          <a:xfrm>
            <a:off x="11002975" y="6419088"/>
            <a:ext cx="640080" cy="256032"/>
          </a:xfrm>
          <a:prstGeom prst="rect">
            <a:avLst/>
          </a:prstGeom>
          <a:noFill/>
          <a:ln/>
        </p:spPr>
        <p:txBody>
          <a:bodyPr wrap="square" lIns="0" tIns="0" rIns="0" bIns="0" rtlCol="0" anchor="ctr"/>
          <a:lstStyle/>
          <a:p>
            <a:pPr algn="r" indent="0" marL="0">
              <a:buNone/>
            </a:pPr>
            <a:r>
              <a:rPr lang="en-US" sz="950" dirty="0">
                <a:solidFill>
                  <a:srgbClr val="7A8798"/>
                </a:solidFill>
                <a:latin typeface="Calibri" pitchFamily="34" charset="0"/>
                <a:ea typeface="Calibri" pitchFamily="34" charset="-122"/>
                <a:cs typeface="Calibri" pitchFamily="34" charset="-120"/>
              </a:rPr>
              <a:t>5</a:t>
            </a:r>
            <a:endParaRPr lang="en-US" sz="950" dirty="0"/>
          </a:p>
        </p:txBody>
      </p:sp>
      <p:sp>
        <p:nvSpPr>
          <p:cNvPr id="6" name="Shape 4"/>
          <p:cNvSpPr/>
          <p:nvPr/>
        </p:nvSpPr>
        <p:spPr>
          <a:xfrm>
            <a:off x="548640" y="1481328"/>
            <a:ext cx="2567864" cy="868680"/>
          </a:xfrm>
          <a:prstGeom prst="roundRect">
            <a:avLst>
              <a:gd name="adj" fmla="val 6316"/>
            </a:avLst>
          </a:prstGeom>
          <a:solidFill>
            <a:srgbClr val="FFFFFF"/>
          </a:solidFill>
          <a:ln w="9525">
            <a:solidFill>
              <a:srgbClr val="D5DEE7"/>
            </a:solidFill>
            <a:prstDash val="solid"/>
          </a:ln>
        </p:spPr>
      </p:sp>
      <p:sp>
        <p:nvSpPr>
          <p:cNvPr id="7" name="Text 5"/>
          <p:cNvSpPr/>
          <p:nvPr/>
        </p:nvSpPr>
        <p:spPr>
          <a:xfrm>
            <a:off x="585216" y="1554480"/>
            <a:ext cx="2494712" cy="457200"/>
          </a:xfrm>
          <a:prstGeom prst="rect">
            <a:avLst/>
          </a:prstGeom>
          <a:noFill/>
          <a:ln/>
        </p:spPr>
        <p:txBody>
          <a:bodyPr wrap="square" lIns="0" tIns="0" rIns="0" bIns="0" rtlCol="0" anchor="ctr"/>
          <a:lstStyle/>
          <a:p>
            <a:pPr algn="ctr" indent="0" marL="0">
              <a:buNone/>
            </a:pPr>
            <a:r>
              <a:rPr lang="en-US" sz="2500" b="1" dirty="0">
                <a:solidFill>
                  <a:srgbClr val="0B6F6A"/>
                </a:solidFill>
                <a:latin typeface="Cambria" pitchFamily="34" charset="0"/>
                <a:ea typeface="Cambria" pitchFamily="34" charset="-122"/>
                <a:cs typeface="Cambria" pitchFamily="34" charset="-120"/>
              </a:rPr>
              <a:t>91.9%</a:t>
            </a:r>
            <a:endParaRPr lang="en-US" sz="2500" dirty="0"/>
          </a:p>
        </p:txBody>
      </p:sp>
      <p:sp>
        <p:nvSpPr>
          <p:cNvPr id="8" name="Text 6"/>
          <p:cNvSpPr/>
          <p:nvPr/>
        </p:nvSpPr>
        <p:spPr>
          <a:xfrm>
            <a:off x="585216" y="2011680"/>
            <a:ext cx="2494712" cy="274320"/>
          </a:xfrm>
          <a:prstGeom prst="rect">
            <a:avLst/>
          </a:prstGeom>
          <a:noFill/>
          <a:ln/>
        </p:spPr>
        <p:txBody>
          <a:bodyPr wrap="square" lIns="0" tIns="0" rIns="0" bIns="0" rtlCol="0" anchor="ctr"/>
          <a:lstStyle/>
          <a:p>
            <a:pPr algn="ctr" indent="0" marL="0">
              <a:buNone/>
            </a:pPr>
            <a:r>
              <a:rPr lang="en-US" sz="1050" dirty="0">
                <a:solidFill>
                  <a:srgbClr val="4A5768"/>
                </a:solidFill>
                <a:latin typeface="Calibri" pitchFamily="34" charset="0"/>
                <a:ea typeface="Calibri" pitchFamily="34" charset="-122"/>
                <a:cs typeface="Calibri" pitchFamily="34" charset="-120"/>
              </a:rPr>
              <a:t>Test accuracy</a:t>
            </a:r>
            <a:endParaRPr lang="en-US" sz="1050" dirty="0"/>
          </a:p>
        </p:txBody>
      </p:sp>
      <p:sp>
        <p:nvSpPr>
          <p:cNvPr id="9" name="Shape 7"/>
          <p:cNvSpPr/>
          <p:nvPr/>
        </p:nvSpPr>
        <p:spPr>
          <a:xfrm>
            <a:off x="3390824" y="1481328"/>
            <a:ext cx="2567864" cy="868680"/>
          </a:xfrm>
          <a:prstGeom prst="roundRect">
            <a:avLst>
              <a:gd name="adj" fmla="val 6316"/>
            </a:avLst>
          </a:prstGeom>
          <a:solidFill>
            <a:srgbClr val="FFFFFF"/>
          </a:solidFill>
          <a:ln w="9525">
            <a:solidFill>
              <a:srgbClr val="D5DEE7"/>
            </a:solidFill>
            <a:prstDash val="solid"/>
          </a:ln>
        </p:spPr>
      </p:sp>
      <p:sp>
        <p:nvSpPr>
          <p:cNvPr id="10" name="Text 8"/>
          <p:cNvSpPr/>
          <p:nvPr/>
        </p:nvSpPr>
        <p:spPr>
          <a:xfrm>
            <a:off x="3427400" y="1554480"/>
            <a:ext cx="2494712" cy="457200"/>
          </a:xfrm>
          <a:prstGeom prst="rect">
            <a:avLst/>
          </a:prstGeom>
          <a:noFill/>
          <a:ln/>
        </p:spPr>
        <p:txBody>
          <a:bodyPr wrap="square" lIns="0" tIns="0" rIns="0" bIns="0" rtlCol="0" anchor="ctr"/>
          <a:lstStyle/>
          <a:p>
            <a:pPr algn="ctr" indent="0" marL="0">
              <a:buNone/>
            </a:pPr>
            <a:r>
              <a:rPr lang="en-US" sz="2500" b="1" dirty="0">
                <a:solidFill>
                  <a:srgbClr val="0B6F6A"/>
                </a:solidFill>
                <a:latin typeface="Cambria" pitchFamily="34" charset="0"/>
                <a:ea typeface="Cambria" pitchFamily="34" charset="-122"/>
                <a:cs typeface="Cambria" pitchFamily="34" charset="-120"/>
              </a:rPr>
              <a:t>0.903</a:t>
            </a:r>
            <a:endParaRPr lang="en-US" sz="2500" dirty="0"/>
          </a:p>
        </p:txBody>
      </p:sp>
      <p:sp>
        <p:nvSpPr>
          <p:cNvPr id="11" name="Text 9"/>
          <p:cNvSpPr/>
          <p:nvPr/>
        </p:nvSpPr>
        <p:spPr>
          <a:xfrm>
            <a:off x="3427400" y="2011680"/>
            <a:ext cx="2494712" cy="274320"/>
          </a:xfrm>
          <a:prstGeom prst="rect">
            <a:avLst/>
          </a:prstGeom>
          <a:noFill/>
          <a:ln/>
        </p:spPr>
        <p:txBody>
          <a:bodyPr wrap="square" lIns="0" tIns="0" rIns="0" bIns="0" rtlCol="0" anchor="ctr"/>
          <a:lstStyle/>
          <a:p>
            <a:pPr algn="ctr" indent="0" marL="0">
              <a:buNone/>
            </a:pPr>
            <a:r>
              <a:rPr lang="en-US" sz="1050" dirty="0">
                <a:solidFill>
                  <a:srgbClr val="4A5768"/>
                </a:solidFill>
                <a:latin typeface="Calibri" pitchFamily="34" charset="0"/>
                <a:ea typeface="Calibri" pitchFamily="34" charset="-122"/>
                <a:cs typeface="Calibri" pitchFamily="34" charset="-120"/>
              </a:rPr>
              <a:t>Macro F1</a:t>
            </a:r>
            <a:endParaRPr lang="en-US" sz="1050" dirty="0"/>
          </a:p>
        </p:txBody>
      </p:sp>
      <p:sp>
        <p:nvSpPr>
          <p:cNvPr id="12" name="Shape 10"/>
          <p:cNvSpPr/>
          <p:nvPr/>
        </p:nvSpPr>
        <p:spPr>
          <a:xfrm>
            <a:off x="6233008" y="1481328"/>
            <a:ext cx="2567864" cy="868680"/>
          </a:xfrm>
          <a:prstGeom prst="roundRect">
            <a:avLst>
              <a:gd name="adj" fmla="val 6316"/>
            </a:avLst>
          </a:prstGeom>
          <a:solidFill>
            <a:srgbClr val="FFFFFF"/>
          </a:solidFill>
          <a:ln w="9525">
            <a:solidFill>
              <a:srgbClr val="D5DEE7"/>
            </a:solidFill>
            <a:prstDash val="solid"/>
          </a:ln>
        </p:spPr>
      </p:sp>
      <p:sp>
        <p:nvSpPr>
          <p:cNvPr id="13" name="Text 11"/>
          <p:cNvSpPr/>
          <p:nvPr/>
        </p:nvSpPr>
        <p:spPr>
          <a:xfrm>
            <a:off x="6269584" y="1554480"/>
            <a:ext cx="2494712" cy="457200"/>
          </a:xfrm>
          <a:prstGeom prst="rect">
            <a:avLst/>
          </a:prstGeom>
          <a:noFill/>
          <a:ln/>
        </p:spPr>
        <p:txBody>
          <a:bodyPr wrap="square" lIns="0" tIns="0" rIns="0" bIns="0" rtlCol="0" anchor="ctr"/>
          <a:lstStyle/>
          <a:p>
            <a:pPr algn="ctr" indent="0" marL="0">
              <a:buNone/>
            </a:pPr>
            <a:r>
              <a:rPr lang="en-US" sz="2500" b="1" dirty="0">
                <a:solidFill>
                  <a:srgbClr val="10243C"/>
                </a:solidFill>
                <a:latin typeface="Cambria" pitchFamily="34" charset="0"/>
                <a:ea typeface="Cambria" pitchFamily="34" charset="-122"/>
                <a:cs typeface="Cambria" pitchFamily="34" charset="-120"/>
              </a:rPr>
              <a:t>9,377</a:t>
            </a:r>
            <a:endParaRPr lang="en-US" sz="2500" dirty="0"/>
          </a:p>
        </p:txBody>
      </p:sp>
      <p:sp>
        <p:nvSpPr>
          <p:cNvPr id="14" name="Text 12"/>
          <p:cNvSpPr/>
          <p:nvPr/>
        </p:nvSpPr>
        <p:spPr>
          <a:xfrm>
            <a:off x="6269584" y="2011680"/>
            <a:ext cx="2494712" cy="274320"/>
          </a:xfrm>
          <a:prstGeom prst="rect">
            <a:avLst/>
          </a:prstGeom>
          <a:noFill/>
          <a:ln/>
        </p:spPr>
        <p:txBody>
          <a:bodyPr wrap="square" lIns="0" tIns="0" rIns="0" bIns="0" rtlCol="0" anchor="ctr"/>
          <a:lstStyle/>
          <a:p>
            <a:pPr algn="ctr" indent="0" marL="0">
              <a:buNone/>
            </a:pPr>
            <a:r>
              <a:rPr lang="en-US" sz="1050" dirty="0">
                <a:solidFill>
                  <a:srgbClr val="4A5768"/>
                </a:solidFill>
                <a:latin typeface="Calibri" pitchFamily="34" charset="0"/>
                <a:ea typeface="Calibri" pitchFamily="34" charset="-122"/>
                <a:cs typeface="Calibri" pitchFamily="34" charset="-120"/>
              </a:rPr>
              <a:t>Held-out cells</a:t>
            </a:r>
            <a:endParaRPr lang="en-US" sz="1050" dirty="0"/>
          </a:p>
        </p:txBody>
      </p:sp>
      <p:sp>
        <p:nvSpPr>
          <p:cNvPr id="15" name="Shape 13"/>
          <p:cNvSpPr/>
          <p:nvPr/>
        </p:nvSpPr>
        <p:spPr>
          <a:xfrm>
            <a:off x="9075191" y="1481328"/>
            <a:ext cx="2567864" cy="868680"/>
          </a:xfrm>
          <a:prstGeom prst="roundRect">
            <a:avLst>
              <a:gd name="adj" fmla="val 6316"/>
            </a:avLst>
          </a:prstGeom>
          <a:solidFill>
            <a:srgbClr val="FFFFFF"/>
          </a:solidFill>
          <a:ln w="9525">
            <a:solidFill>
              <a:srgbClr val="D5DEE7"/>
            </a:solidFill>
            <a:prstDash val="solid"/>
          </a:ln>
        </p:spPr>
      </p:sp>
      <p:sp>
        <p:nvSpPr>
          <p:cNvPr id="16" name="Text 14"/>
          <p:cNvSpPr/>
          <p:nvPr/>
        </p:nvSpPr>
        <p:spPr>
          <a:xfrm>
            <a:off x="9111767" y="1554480"/>
            <a:ext cx="2494712" cy="457200"/>
          </a:xfrm>
          <a:prstGeom prst="rect">
            <a:avLst/>
          </a:prstGeom>
          <a:noFill/>
          <a:ln/>
        </p:spPr>
        <p:txBody>
          <a:bodyPr wrap="square" lIns="0" tIns="0" rIns="0" bIns="0" rtlCol="0" anchor="ctr"/>
          <a:lstStyle/>
          <a:p>
            <a:pPr algn="ctr" indent="0" marL="0">
              <a:buNone/>
            </a:pPr>
            <a:r>
              <a:rPr lang="en-US" sz="2500" b="1" dirty="0">
                <a:solidFill>
                  <a:srgbClr val="10243C"/>
                </a:solidFill>
                <a:latin typeface="Cambria" pitchFamily="34" charset="0"/>
                <a:ea typeface="Cambria" pitchFamily="34" charset="-122"/>
                <a:cs typeface="Cambria" pitchFamily="34" charset="-120"/>
              </a:rPr>
              <a:t>8</a:t>
            </a:r>
            <a:endParaRPr lang="en-US" sz="2500" dirty="0"/>
          </a:p>
        </p:txBody>
      </p:sp>
      <p:sp>
        <p:nvSpPr>
          <p:cNvPr id="17" name="Text 15"/>
          <p:cNvSpPr/>
          <p:nvPr/>
        </p:nvSpPr>
        <p:spPr>
          <a:xfrm>
            <a:off x="9111767" y="2011680"/>
            <a:ext cx="2494712" cy="274320"/>
          </a:xfrm>
          <a:prstGeom prst="rect">
            <a:avLst/>
          </a:prstGeom>
          <a:noFill/>
          <a:ln/>
        </p:spPr>
        <p:txBody>
          <a:bodyPr wrap="square" lIns="0" tIns="0" rIns="0" bIns="0" rtlCol="0" anchor="ctr"/>
          <a:lstStyle/>
          <a:p>
            <a:pPr algn="ctr" indent="0" marL="0">
              <a:buNone/>
            </a:pPr>
            <a:r>
              <a:rPr lang="en-US" sz="1050" dirty="0">
                <a:solidFill>
                  <a:srgbClr val="4A5768"/>
                </a:solidFill>
                <a:latin typeface="Calibri" pitchFamily="34" charset="0"/>
                <a:ea typeface="Calibri" pitchFamily="34" charset="-122"/>
                <a:cs typeface="Calibri" pitchFamily="34" charset="-120"/>
              </a:rPr>
              <a:t>Test donors</a:t>
            </a:r>
            <a:endParaRPr lang="en-US" sz="1050" dirty="0"/>
          </a:p>
        </p:txBody>
      </p:sp>
      <p:pic>
        <p:nvPicPr>
          <p:cNvPr id="18" name="Image 0" descr="/Users/kaisar/workspace/geneformer-lung-tcell/talk/assets/confusion.png">    </p:cNvPr>
          <p:cNvPicPr>
            <a:picLocks noChangeAspect="1"/>
          </p:cNvPicPr>
          <p:nvPr/>
        </p:nvPicPr>
        <p:blipFill>
          <a:blip r:embed="rId1"/>
          <a:stretch>
            <a:fillRect/>
          </a:stretch>
        </p:blipFill>
        <p:spPr>
          <a:xfrm>
            <a:off x="548640" y="2606040"/>
            <a:ext cx="5394960" cy="3419856"/>
          </a:xfrm>
          <a:prstGeom prst="rect">
            <a:avLst/>
          </a:prstGeom>
        </p:spPr>
      </p:pic>
      <p:sp>
        <p:nvSpPr>
          <p:cNvPr id="19" name="Text 16"/>
          <p:cNvSpPr/>
          <p:nvPr/>
        </p:nvSpPr>
        <p:spPr>
          <a:xfrm>
            <a:off x="548640" y="6089904"/>
            <a:ext cx="5394960" cy="237744"/>
          </a:xfrm>
          <a:prstGeom prst="rect">
            <a:avLst/>
          </a:prstGeom>
          <a:noFill/>
          <a:ln/>
        </p:spPr>
        <p:txBody>
          <a:bodyPr wrap="square" lIns="0" tIns="0" rIns="0" bIns="0" rtlCol="0" anchor="t"/>
          <a:lstStyle/>
          <a:p>
            <a:pPr indent="0" marL="0">
              <a:buNone/>
            </a:pPr>
            <a:r>
              <a:rPr lang="en-US" sz="950" i="1" dirty="0">
                <a:solidFill>
                  <a:srgbClr val="7A8798"/>
                </a:solidFill>
                <a:latin typeface="Calibri" pitchFamily="34" charset="0"/>
                <a:ea typeface="Calibri" pitchFamily="34" charset="-122"/>
                <a:cs typeface="Calibri" pitchFamily="34" charset="-120"/>
              </a:rPr>
              <a:t>Held-out test confusion matrix, row-normalised.</a:t>
            </a:r>
            <a:endParaRPr lang="en-US" sz="950" dirty="0"/>
          </a:p>
        </p:txBody>
      </p:sp>
      <p:sp>
        <p:nvSpPr>
          <p:cNvPr id="20" name="Shape 17"/>
          <p:cNvSpPr/>
          <p:nvPr/>
        </p:nvSpPr>
        <p:spPr>
          <a:xfrm>
            <a:off x="6537960" y="2606040"/>
            <a:ext cx="5105095" cy="1600200"/>
          </a:xfrm>
          <a:prstGeom prst="roundRect">
            <a:avLst>
              <a:gd name="adj" fmla="val 3429"/>
            </a:avLst>
          </a:prstGeom>
          <a:solidFill>
            <a:srgbClr val="FDF0F3"/>
          </a:solidFill>
          <a:ln w="9525">
            <a:solidFill>
              <a:srgbClr val="D5DEE7"/>
            </a:solidFill>
            <a:prstDash val="solid"/>
          </a:ln>
        </p:spPr>
      </p:sp>
      <p:sp>
        <p:nvSpPr>
          <p:cNvPr id="21" name="Text 18"/>
          <p:cNvSpPr/>
          <p:nvPr/>
        </p:nvSpPr>
        <p:spPr>
          <a:xfrm>
            <a:off x="6793992" y="2743200"/>
            <a:ext cx="4593031" cy="274320"/>
          </a:xfrm>
          <a:prstGeom prst="rect">
            <a:avLst/>
          </a:prstGeom>
          <a:noFill/>
          <a:ln/>
        </p:spPr>
        <p:txBody>
          <a:bodyPr wrap="square" lIns="0" tIns="0" rIns="0" bIns="0" rtlCol="0" anchor="ctr"/>
          <a:lstStyle/>
          <a:p>
            <a:pPr indent="0" marL="0">
              <a:buNone/>
            </a:pPr>
            <a:r>
              <a:rPr lang="en-US" sz="1350" b="1" dirty="0">
                <a:solidFill>
                  <a:srgbClr val="B8465E"/>
                </a:solidFill>
                <a:latin typeface="Calibri" pitchFamily="34" charset="0"/>
                <a:ea typeface="Calibri" pitchFamily="34" charset="-122"/>
                <a:cs typeface="Calibri" pitchFamily="34" charset="-120"/>
              </a:rPr>
              <a:t>Look at the diagonal</a:t>
            </a:r>
            <a:endParaRPr lang="en-US" sz="1350" dirty="0"/>
          </a:p>
        </p:txBody>
      </p:sp>
      <p:sp>
        <p:nvSpPr>
          <p:cNvPr id="22" name="Text 19"/>
          <p:cNvSpPr/>
          <p:nvPr/>
        </p:nvSpPr>
        <p:spPr>
          <a:xfrm>
            <a:off x="6793992" y="3090672"/>
            <a:ext cx="4593031" cy="1005840"/>
          </a:xfrm>
          <a:prstGeom prst="rect">
            <a:avLst/>
          </a:prstGeom>
          <a:noFill/>
          <a:ln/>
        </p:spPr>
        <p:txBody>
          <a:bodyPr wrap="square" lIns="0" tIns="0" rIns="0" bIns="0" rtlCol="0" anchor="t"/>
          <a:lstStyle/>
          <a:p>
            <a:pPr marL="177800" indent="-177800">
              <a:lnSpc>
                <a:spcPts val="2000"/>
              </a:lnSpc>
              <a:spcAft>
                <a:spcPts val="700"/>
              </a:spcAft>
              <a:buSzPct val="100000"/>
              <a:buChar char="•"/>
            </a:pPr>
            <a:r>
              <a:rPr lang="en-US" sz="1250" dirty="0">
                <a:solidFill>
                  <a:srgbClr val="16202C"/>
                </a:solidFill>
                <a:latin typeface="Calibri" pitchFamily="34" charset="0"/>
                <a:ea typeface="Calibri" pitchFamily="34" charset="-122"/>
                <a:cs typeface="Calibri" pitchFamily="34" charset="-120"/>
              </a:rPr>
              <a:t>Normal 98.6%  ·  LUAD 95.9%</a:t>
            </a:r>
            <a:endParaRPr lang="en-US" sz="1250" dirty="0"/>
          </a:p>
          <a:p>
            <a:pPr marL="177800" indent="-177800">
              <a:lnSpc>
                <a:spcPts val="2000"/>
              </a:lnSpc>
              <a:spcAft>
                <a:spcPts val="700"/>
              </a:spcAft>
              <a:buSzPct val="100000"/>
              <a:buChar char="•"/>
            </a:pPr>
            <a:r>
              <a:rPr lang="en-US" sz="1250" dirty="0">
                <a:solidFill>
                  <a:srgbClr val="16202C"/>
                </a:solidFill>
                <a:latin typeface="Calibri" pitchFamily="34" charset="0"/>
                <a:ea typeface="Calibri" pitchFamily="34" charset="-122"/>
                <a:cs typeface="Calibri" pitchFamily="34" charset="-120"/>
              </a:rPr>
              <a:t>SCLC 80.0% — 484 missed cells go to LUAD</a:t>
            </a:r>
            <a:endParaRPr lang="en-US" sz="1250" dirty="0"/>
          </a:p>
          <a:p>
            <a:pPr marL="177800" indent="-177800">
              <a:lnSpc>
                <a:spcPts val="2000"/>
              </a:lnSpc>
              <a:spcAft>
                <a:spcPts val="700"/>
              </a:spcAft>
              <a:buSzPct val="100000"/>
              <a:buChar char="•"/>
            </a:pPr>
            <a:r>
              <a:rPr lang="en-US" sz="1250" dirty="0">
                <a:solidFill>
                  <a:srgbClr val="16202C"/>
                </a:solidFill>
                <a:latin typeface="Calibri" pitchFamily="34" charset="0"/>
                <a:ea typeface="Calibri" pitchFamily="34" charset="-122"/>
                <a:cs typeface="Calibri" pitchFamily="34" charset="-120"/>
              </a:rPr>
              <a:t>Same axis as the open question on slide 7</a:t>
            </a:r>
            <a:endParaRPr lang="en-US" sz="1250" dirty="0"/>
          </a:p>
        </p:txBody>
      </p:sp>
      <p:sp>
        <p:nvSpPr>
          <p:cNvPr id="23" name="Shape 20"/>
          <p:cNvSpPr/>
          <p:nvPr/>
        </p:nvSpPr>
        <p:spPr>
          <a:xfrm>
            <a:off x="6537960" y="4370832"/>
            <a:ext cx="5105095" cy="1874520"/>
          </a:xfrm>
          <a:prstGeom prst="roundRect">
            <a:avLst>
              <a:gd name="adj" fmla="val 2927"/>
            </a:avLst>
          </a:prstGeom>
          <a:solidFill>
            <a:srgbClr val="FFFFFF"/>
          </a:solidFill>
          <a:ln w="9525">
            <a:solidFill>
              <a:srgbClr val="D5DEE7"/>
            </a:solidFill>
            <a:prstDash val="solid"/>
          </a:ln>
        </p:spPr>
      </p:sp>
      <p:sp>
        <p:nvSpPr>
          <p:cNvPr id="24" name="Text 21"/>
          <p:cNvSpPr/>
          <p:nvPr/>
        </p:nvSpPr>
        <p:spPr>
          <a:xfrm>
            <a:off x="6793992" y="4507992"/>
            <a:ext cx="4593031" cy="274320"/>
          </a:xfrm>
          <a:prstGeom prst="rect">
            <a:avLst/>
          </a:prstGeom>
          <a:noFill/>
          <a:ln/>
        </p:spPr>
        <p:txBody>
          <a:bodyPr wrap="square" lIns="0" tIns="0" rIns="0" bIns="0" rtlCol="0" anchor="ctr"/>
          <a:lstStyle/>
          <a:p>
            <a:pPr indent="0" marL="0">
              <a:buNone/>
            </a:pPr>
            <a:r>
              <a:rPr lang="en-US" sz="1350" b="1" dirty="0">
                <a:solidFill>
                  <a:srgbClr val="10243C"/>
                </a:solidFill>
                <a:latin typeface="Calibri" pitchFamily="34" charset="0"/>
                <a:ea typeface="Calibri" pitchFamily="34" charset="-122"/>
                <a:cs typeface="Calibri" pitchFamily="34" charset="-120"/>
              </a:rPr>
              <a:t>Fine-tuning setup</a:t>
            </a:r>
            <a:endParaRPr lang="en-US" sz="1350" dirty="0"/>
          </a:p>
        </p:txBody>
      </p:sp>
      <p:sp>
        <p:nvSpPr>
          <p:cNvPr id="25" name="Text 22"/>
          <p:cNvSpPr/>
          <p:nvPr/>
        </p:nvSpPr>
        <p:spPr>
          <a:xfrm>
            <a:off x="6793992" y="4846320"/>
            <a:ext cx="4593031" cy="1325880"/>
          </a:xfrm>
          <a:prstGeom prst="rect">
            <a:avLst/>
          </a:prstGeom>
          <a:noFill/>
          <a:ln/>
        </p:spPr>
        <p:txBody>
          <a:bodyPr wrap="square" lIns="0" tIns="0" rIns="0" bIns="0" rtlCol="0" anchor="t"/>
          <a:lstStyle/>
          <a:p>
            <a:pPr marL="177800" indent="-177800">
              <a:lnSpc>
                <a:spcPts val="2000"/>
              </a:lnSpc>
              <a:spcAft>
                <a:spcPts val="500"/>
              </a:spcAft>
              <a:buSzPct val="100000"/>
              <a:buChar char="•"/>
            </a:pPr>
            <a:r>
              <a:rPr lang="en-US" sz="1200" dirty="0">
                <a:solidFill>
                  <a:srgbClr val="4A5768"/>
                </a:solidFill>
                <a:latin typeface="Calibri" pitchFamily="34" charset="0"/>
                <a:ea typeface="Calibri" pitchFamily="34" charset="-122"/>
                <a:cs typeface="Calibri" pitchFamily="34" charset="-120"/>
              </a:rPr>
              <a:t>Geneformer-V2-104M</a:t>
            </a:r>
            <a:endParaRPr lang="en-US" sz="1200" dirty="0"/>
          </a:p>
          <a:p>
            <a:pPr marL="177800" indent="-177800">
              <a:lnSpc>
                <a:spcPts val="2000"/>
              </a:lnSpc>
              <a:spcAft>
                <a:spcPts val="500"/>
              </a:spcAft>
              <a:buSzPct val="100000"/>
              <a:buChar char="•"/>
            </a:pPr>
            <a:r>
              <a:rPr lang="en-US" sz="1200" dirty="0">
                <a:solidFill>
                  <a:srgbClr val="4A5768"/>
                </a:solidFill>
                <a:latin typeface="Calibri" pitchFamily="34" charset="0"/>
                <a:ea typeface="Calibri" pitchFamily="34" charset="-122"/>
                <a:cs typeface="Calibri" pitchFamily="34" charset="-120"/>
              </a:rPr>
              <a:t>1 epoch · LR 5e-5 · 6 frozen layers</a:t>
            </a:r>
            <a:endParaRPr lang="en-US" sz="1200" dirty="0"/>
          </a:p>
          <a:p>
            <a:pPr marL="177800" indent="-177800">
              <a:lnSpc>
                <a:spcPts val="2000"/>
              </a:lnSpc>
              <a:spcAft>
                <a:spcPts val="500"/>
              </a:spcAft>
              <a:buSzPct val="100000"/>
              <a:buChar char="•"/>
            </a:pPr>
            <a:r>
              <a:rPr lang="en-US" sz="1200" dirty="0">
                <a:solidFill>
                  <a:srgbClr val="4A5768"/>
                </a:solidFill>
                <a:latin typeface="Calibri" pitchFamily="34" charset="0"/>
                <a:ea typeface="Calibri" pitchFamily="34" charset="-122"/>
                <a:cs typeface="Calibri" pitchFamily="34" charset="-120"/>
              </a:rPr>
              <a:t>NVIDIA GB10, 119 GiB unified memory</a:t>
            </a:r>
            <a:endParaRPr lang="en-US" sz="1200" dirty="0"/>
          </a:p>
          <a:p>
            <a:pPr marL="177800" indent="-177800">
              <a:lnSpc>
                <a:spcPts val="2000"/>
              </a:lnSpc>
              <a:spcAft>
                <a:spcPts val="500"/>
              </a:spcAft>
              <a:buSzPct val="100000"/>
              <a:buChar char="•"/>
            </a:pPr>
            <a:r>
              <a:rPr lang="en-US" sz="1200" dirty="0">
                <a:solidFill>
                  <a:srgbClr val="4A5768"/>
                </a:solidFill>
                <a:latin typeface="Calibri" pitchFamily="34" charset="0"/>
                <a:ea typeface="Calibri" pitchFamily="34" charset="-122"/>
                <a:cs typeface="Calibri" pitchFamily="34" charset="-120"/>
              </a:rPr>
              <a:t>~48 h GPU · ~5.88M cell-gene perturbations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91440"/>
            <a:ext cx="11094415" cy="201168"/>
          </a:xfrm>
          <a:prstGeom prst="rect">
            <a:avLst/>
          </a:prstGeom>
          <a:noFill/>
          <a:ln/>
        </p:spPr>
        <p:txBody>
          <a:bodyPr wrap="square" lIns="0" tIns="0" rIns="0" bIns="0" rtlCol="0" anchor="ctr"/>
          <a:lstStyle/>
          <a:p>
            <a:pPr indent="0" marL="0">
              <a:buNone/>
            </a:pPr>
            <a:r>
              <a:rPr lang="en-US" sz="1100" b="1" spc="160" kern="0" dirty="0">
                <a:solidFill>
                  <a:srgbClr val="0B6F6A"/>
                </a:solidFill>
                <a:latin typeface="Calibri" pitchFamily="34" charset="0"/>
                <a:ea typeface="Calibri" pitchFamily="34" charset="-122"/>
                <a:cs typeface="Calibri" pitchFamily="34" charset="-120"/>
              </a:rPr>
              <a:t>SCREEN</a:t>
            </a:r>
            <a:endParaRPr lang="en-US" sz="1100" dirty="0"/>
          </a:p>
        </p:txBody>
      </p:sp>
      <p:sp>
        <p:nvSpPr>
          <p:cNvPr id="3" name="Text 1"/>
          <p:cNvSpPr/>
          <p:nvPr/>
        </p:nvSpPr>
        <p:spPr>
          <a:xfrm>
            <a:off x="548640" y="329184"/>
            <a:ext cx="11094415" cy="1051560"/>
          </a:xfrm>
          <a:prstGeom prst="rect">
            <a:avLst/>
          </a:prstGeom>
          <a:noFill/>
          <a:ln/>
        </p:spPr>
        <p:txBody>
          <a:bodyPr wrap="square" lIns="0" tIns="0" rIns="0" bIns="0" rtlCol="0" anchor="t"/>
          <a:lstStyle/>
          <a:p>
            <a:pPr algn="l" indent="0" marL="0">
              <a:buNone/>
            </a:pPr>
            <a:r>
              <a:rPr lang="en-US" sz="2700" b="1" dirty="0">
                <a:solidFill>
                  <a:srgbClr val="10243C"/>
                </a:solidFill>
                <a:latin typeface="Cambria" pitchFamily="34" charset="0"/>
                <a:ea typeface="Cambria" pitchFamily="34" charset="-122"/>
                <a:cs typeface="Cambria" pitchFamily="34" charset="-120"/>
              </a:rPr>
              <a:t>Four edits replicate across every donor: TIM-3, TIGIT, CTLA-4, IL7R</a:t>
            </a:r>
            <a:endParaRPr lang="en-US" sz="2700" dirty="0"/>
          </a:p>
        </p:txBody>
      </p:sp>
      <p:sp>
        <p:nvSpPr>
          <p:cNvPr id="4" name="Text 2"/>
          <p:cNvSpPr/>
          <p:nvPr/>
        </p:nvSpPr>
        <p:spPr>
          <a:xfrm>
            <a:off x="548640" y="6419088"/>
            <a:ext cx="7315200" cy="256032"/>
          </a:xfrm>
          <a:prstGeom prst="rect">
            <a:avLst/>
          </a:prstGeom>
          <a:noFill/>
          <a:ln/>
        </p:spPr>
        <p:txBody>
          <a:bodyPr wrap="square" lIns="0" tIns="0" rIns="0" bIns="0" rtlCol="0" anchor="ctr"/>
          <a:lstStyle/>
          <a:p>
            <a:pPr indent="0" marL="0">
              <a:buNone/>
            </a:pPr>
            <a:r>
              <a:rPr lang="en-US" sz="950" dirty="0">
                <a:solidFill>
                  <a:srgbClr val="7A8798"/>
                </a:solidFill>
                <a:latin typeface="Calibri" pitchFamily="34" charset="0"/>
                <a:ea typeface="Calibri" pitchFamily="34" charset="-122"/>
                <a:cs typeface="Calibri" pitchFamily="34" charset="-120"/>
              </a:rPr>
              <a:t>Applied checkpoint screen</a:t>
            </a:r>
            <a:endParaRPr lang="en-US" sz="950" dirty="0"/>
          </a:p>
        </p:txBody>
      </p:sp>
      <p:sp>
        <p:nvSpPr>
          <p:cNvPr id="5" name="Text 3"/>
          <p:cNvSpPr/>
          <p:nvPr/>
        </p:nvSpPr>
        <p:spPr>
          <a:xfrm>
            <a:off x="11002975" y="6419088"/>
            <a:ext cx="640080" cy="256032"/>
          </a:xfrm>
          <a:prstGeom prst="rect">
            <a:avLst/>
          </a:prstGeom>
          <a:noFill/>
          <a:ln/>
        </p:spPr>
        <p:txBody>
          <a:bodyPr wrap="square" lIns="0" tIns="0" rIns="0" bIns="0" rtlCol="0" anchor="ctr"/>
          <a:lstStyle/>
          <a:p>
            <a:pPr algn="r" indent="0" marL="0">
              <a:buNone/>
            </a:pPr>
            <a:r>
              <a:rPr lang="en-US" sz="950" dirty="0">
                <a:solidFill>
                  <a:srgbClr val="7A8798"/>
                </a:solidFill>
                <a:latin typeface="Calibri" pitchFamily="34" charset="0"/>
                <a:ea typeface="Calibri" pitchFamily="34" charset="-122"/>
                <a:cs typeface="Calibri" pitchFamily="34" charset="-120"/>
              </a:rPr>
              <a:t>6</a:t>
            </a:r>
            <a:endParaRPr lang="en-US" sz="950" dirty="0"/>
          </a:p>
        </p:txBody>
      </p:sp>
      <p:sp>
        <p:nvSpPr>
          <p:cNvPr id="6" name="Shape 4"/>
          <p:cNvSpPr/>
          <p:nvPr/>
        </p:nvSpPr>
        <p:spPr>
          <a:xfrm>
            <a:off x="548640" y="1463040"/>
            <a:ext cx="2567864" cy="868680"/>
          </a:xfrm>
          <a:prstGeom prst="roundRect">
            <a:avLst>
              <a:gd name="adj" fmla="val 6316"/>
            </a:avLst>
          </a:prstGeom>
          <a:solidFill>
            <a:srgbClr val="FFFFFF"/>
          </a:solidFill>
          <a:ln w="9525">
            <a:solidFill>
              <a:srgbClr val="D5DEE7"/>
            </a:solidFill>
            <a:prstDash val="solid"/>
          </a:ln>
        </p:spPr>
      </p:sp>
      <p:sp>
        <p:nvSpPr>
          <p:cNvPr id="7" name="Text 5"/>
          <p:cNvSpPr/>
          <p:nvPr/>
        </p:nvSpPr>
        <p:spPr>
          <a:xfrm>
            <a:off x="585216" y="1536192"/>
            <a:ext cx="2494712" cy="457200"/>
          </a:xfrm>
          <a:prstGeom prst="rect">
            <a:avLst/>
          </a:prstGeom>
          <a:noFill/>
          <a:ln/>
        </p:spPr>
        <p:txBody>
          <a:bodyPr wrap="square" lIns="0" tIns="0" rIns="0" bIns="0" rtlCol="0" anchor="ctr"/>
          <a:lstStyle/>
          <a:p>
            <a:pPr algn="ctr" indent="0" marL="0">
              <a:buNone/>
            </a:pPr>
            <a:r>
              <a:rPr lang="en-US" sz="2500" b="1" dirty="0">
                <a:solidFill>
                  <a:srgbClr val="10243C"/>
                </a:solidFill>
                <a:latin typeface="Cambria" pitchFamily="34" charset="0"/>
                <a:ea typeface="Cambria" pitchFamily="34" charset="-122"/>
                <a:cs typeface="Cambria" pitchFamily="34" charset="-120"/>
              </a:rPr>
              <a:t>50</a:t>
            </a:r>
            <a:endParaRPr lang="en-US" sz="2500" dirty="0"/>
          </a:p>
        </p:txBody>
      </p:sp>
      <p:sp>
        <p:nvSpPr>
          <p:cNvPr id="8" name="Text 6"/>
          <p:cNvSpPr/>
          <p:nvPr/>
        </p:nvSpPr>
        <p:spPr>
          <a:xfrm>
            <a:off x="585216" y="1993392"/>
            <a:ext cx="2494712" cy="274320"/>
          </a:xfrm>
          <a:prstGeom prst="rect">
            <a:avLst/>
          </a:prstGeom>
          <a:noFill/>
          <a:ln/>
        </p:spPr>
        <p:txBody>
          <a:bodyPr wrap="square" lIns="0" tIns="0" rIns="0" bIns="0" rtlCol="0" anchor="ctr"/>
          <a:lstStyle/>
          <a:p>
            <a:pPr algn="ctr" indent="0" marL="0">
              <a:buNone/>
            </a:pPr>
            <a:r>
              <a:rPr lang="en-US" sz="1050" dirty="0">
                <a:solidFill>
                  <a:srgbClr val="4A5768"/>
                </a:solidFill>
                <a:latin typeface="Calibri" pitchFamily="34" charset="0"/>
                <a:ea typeface="Calibri" pitchFamily="34" charset="-122"/>
                <a:cs typeface="Calibri" pitchFamily="34" charset="-120"/>
              </a:rPr>
              <a:t>Genes screened</a:t>
            </a:r>
            <a:endParaRPr lang="en-US" sz="1050" dirty="0"/>
          </a:p>
        </p:txBody>
      </p:sp>
      <p:sp>
        <p:nvSpPr>
          <p:cNvPr id="9" name="Shape 7"/>
          <p:cNvSpPr/>
          <p:nvPr/>
        </p:nvSpPr>
        <p:spPr>
          <a:xfrm>
            <a:off x="3390824" y="1463040"/>
            <a:ext cx="2567864" cy="868680"/>
          </a:xfrm>
          <a:prstGeom prst="roundRect">
            <a:avLst>
              <a:gd name="adj" fmla="val 6316"/>
            </a:avLst>
          </a:prstGeom>
          <a:solidFill>
            <a:srgbClr val="FFFFFF"/>
          </a:solidFill>
          <a:ln w="9525">
            <a:solidFill>
              <a:srgbClr val="D5DEE7"/>
            </a:solidFill>
            <a:prstDash val="solid"/>
          </a:ln>
        </p:spPr>
      </p:sp>
      <p:sp>
        <p:nvSpPr>
          <p:cNvPr id="10" name="Text 8"/>
          <p:cNvSpPr/>
          <p:nvPr/>
        </p:nvSpPr>
        <p:spPr>
          <a:xfrm>
            <a:off x="3427400" y="1536192"/>
            <a:ext cx="2494712" cy="457200"/>
          </a:xfrm>
          <a:prstGeom prst="rect">
            <a:avLst/>
          </a:prstGeom>
          <a:noFill/>
          <a:ln/>
        </p:spPr>
        <p:txBody>
          <a:bodyPr wrap="square" lIns="0" tIns="0" rIns="0" bIns="0" rtlCol="0" anchor="ctr"/>
          <a:lstStyle/>
          <a:p>
            <a:pPr algn="ctr" indent="0" marL="0">
              <a:buNone/>
            </a:pPr>
            <a:r>
              <a:rPr lang="en-US" sz="2500" b="1" dirty="0">
                <a:solidFill>
                  <a:srgbClr val="0B6F6A"/>
                </a:solidFill>
                <a:latin typeface="Cambria" pitchFamily="34" charset="0"/>
                <a:ea typeface="Cambria" pitchFamily="34" charset="-122"/>
                <a:cs typeface="Cambria" pitchFamily="34" charset="-120"/>
              </a:rPr>
              <a:t>4</a:t>
            </a:r>
            <a:endParaRPr lang="en-US" sz="2500" dirty="0"/>
          </a:p>
        </p:txBody>
      </p:sp>
      <p:sp>
        <p:nvSpPr>
          <p:cNvPr id="11" name="Text 9"/>
          <p:cNvSpPr/>
          <p:nvPr/>
        </p:nvSpPr>
        <p:spPr>
          <a:xfrm>
            <a:off x="3427400" y="1993392"/>
            <a:ext cx="2494712" cy="274320"/>
          </a:xfrm>
          <a:prstGeom prst="rect">
            <a:avLst/>
          </a:prstGeom>
          <a:noFill/>
          <a:ln/>
        </p:spPr>
        <p:txBody>
          <a:bodyPr wrap="square" lIns="0" tIns="0" rIns="0" bIns="0" rtlCol="0" anchor="ctr"/>
          <a:lstStyle/>
          <a:p>
            <a:pPr algn="ctr" indent="0" marL="0">
              <a:buNone/>
            </a:pPr>
            <a:r>
              <a:rPr lang="en-US" sz="1050" dirty="0">
                <a:solidFill>
                  <a:srgbClr val="4A5768"/>
                </a:solidFill>
                <a:latin typeface="Calibri" pitchFamily="34" charset="0"/>
                <a:ea typeface="Calibri" pitchFamily="34" charset="-122"/>
                <a:cs typeface="Calibri" pitchFamily="34" charset="-120"/>
              </a:rPr>
              <a:t>Replicated edits</a:t>
            </a:r>
            <a:endParaRPr lang="en-US" sz="1050" dirty="0"/>
          </a:p>
        </p:txBody>
      </p:sp>
      <p:sp>
        <p:nvSpPr>
          <p:cNvPr id="12" name="Shape 10"/>
          <p:cNvSpPr/>
          <p:nvPr/>
        </p:nvSpPr>
        <p:spPr>
          <a:xfrm>
            <a:off x="6233008" y="1463040"/>
            <a:ext cx="2567864" cy="868680"/>
          </a:xfrm>
          <a:prstGeom prst="roundRect">
            <a:avLst>
              <a:gd name="adj" fmla="val 6316"/>
            </a:avLst>
          </a:prstGeom>
          <a:solidFill>
            <a:srgbClr val="FFFFFF"/>
          </a:solidFill>
          <a:ln w="9525">
            <a:solidFill>
              <a:srgbClr val="D5DEE7"/>
            </a:solidFill>
            <a:prstDash val="solid"/>
          </a:ln>
        </p:spPr>
      </p:sp>
      <p:sp>
        <p:nvSpPr>
          <p:cNvPr id="13" name="Text 11"/>
          <p:cNvSpPr/>
          <p:nvPr/>
        </p:nvSpPr>
        <p:spPr>
          <a:xfrm>
            <a:off x="6269584" y="1536192"/>
            <a:ext cx="2494712" cy="457200"/>
          </a:xfrm>
          <a:prstGeom prst="rect">
            <a:avLst/>
          </a:prstGeom>
          <a:noFill/>
          <a:ln/>
        </p:spPr>
        <p:txBody>
          <a:bodyPr wrap="square" lIns="0" tIns="0" rIns="0" bIns="0" rtlCol="0" anchor="ctr"/>
          <a:lstStyle/>
          <a:p>
            <a:pPr algn="ctr" indent="0" marL="0">
              <a:buNone/>
            </a:pPr>
            <a:r>
              <a:rPr lang="en-US" sz="2500" b="1" dirty="0">
                <a:solidFill>
                  <a:srgbClr val="0B6F6A"/>
                </a:solidFill>
                <a:latin typeface="Cambria" pitchFamily="34" charset="0"/>
                <a:ea typeface="Cambria" pitchFamily="34" charset="-122"/>
                <a:cs typeface="Cambria" pitchFamily="34" charset="-120"/>
              </a:rPr>
              <a:t>3/3</a:t>
            </a:r>
            <a:endParaRPr lang="en-US" sz="2500" dirty="0"/>
          </a:p>
        </p:txBody>
      </p:sp>
      <p:sp>
        <p:nvSpPr>
          <p:cNvPr id="14" name="Text 12"/>
          <p:cNvSpPr/>
          <p:nvPr/>
        </p:nvSpPr>
        <p:spPr>
          <a:xfrm>
            <a:off x="6269584" y="1993392"/>
            <a:ext cx="2494712" cy="274320"/>
          </a:xfrm>
          <a:prstGeom prst="rect">
            <a:avLst/>
          </a:prstGeom>
          <a:noFill/>
          <a:ln/>
        </p:spPr>
        <p:txBody>
          <a:bodyPr wrap="square" lIns="0" tIns="0" rIns="0" bIns="0" rtlCol="0" anchor="ctr"/>
          <a:lstStyle/>
          <a:p>
            <a:pPr algn="ctr" indent="0" marL="0">
              <a:buNone/>
            </a:pPr>
            <a:r>
              <a:rPr lang="en-US" sz="1050" dirty="0">
                <a:solidFill>
                  <a:srgbClr val="4A5768"/>
                </a:solidFill>
                <a:latin typeface="Calibri" pitchFamily="34" charset="0"/>
                <a:ea typeface="Calibri" pitchFamily="34" charset="-122"/>
                <a:cs typeface="Calibri" pitchFamily="34" charset="-120"/>
              </a:rPr>
              <a:t>Donors agree</a:t>
            </a:r>
            <a:endParaRPr lang="en-US" sz="1050" dirty="0"/>
          </a:p>
        </p:txBody>
      </p:sp>
      <p:sp>
        <p:nvSpPr>
          <p:cNvPr id="15" name="Shape 13"/>
          <p:cNvSpPr/>
          <p:nvPr/>
        </p:nvSpPr>
        <p:spPr>
          <a:xfrm>
            <a:off x="9075191" y="1463040"/>
            <a:ext cx="2567864" cy="868680"/>
          </a:xfrm>
          <a:prstGeom prst="roundRect">
            <a:avLst>
              <a:gd name="adj" fmla="val 6316"/>
            </a:avLst>
          </a:prstGeom>
          <a:solidFill>
            <a:srgbClr val="FFFFFF"/>
          </a:solidFill>
          <a:ln w="9525">
            <a:solidFill>
              <a:srgbClr val="D5DEE7"/>
            </a:solidFill>
            <a:prstDash val="solid"/>
          </a:ln>
        </p:spPr>
      </p:sp>
      <p:sp>
        <p:nvSpPr>
          <p:cNvPr id="16" name="Text 14"/>
          <p:cNvSpPr/>
          <p:nvPr/>
        </p:nvSpPr>
        <p:spPr>
          <a:xfrm>
            <a:off x="9111767" y="1536192"/>
            <a:ext cx="2494712" cy="457200"/>
          </a:xfrm>
          <a:prstGeom prst="rect">
            <a:avLst/>
          </a:prstGeom>
          <a:noFill/>
          <a:ln/>
        </p:spPr>
        <p:txBody>
          <a:bodyPr wrap="square" lIns="0" tIns="0" rIns="0" bIns="0" rtlCol="0" anchor="ctr"/>
          <a:lstStyle/>
          <a:p>
            <a:pPr algn="ctr" indent="0" marL="0">
              <a:buNone/>
            </a:pPr>
            <a:r>
              <a:rPr lang="en-US" sz="2500" b="1" dirty="0">
                <a:solidFill>
                  <a:srgbClr val="7A8798"/>
                </a:solidFill>
                <a:latin typeface="Cambria" pitchFamily="34" charset="0"/>
                <a:ea typeface="Cambria" pitchFamily="34" charset="-122"/>
                <a:cs typeface="Cambria" pitchFamily="34" charset="-120"/>
              </a:rPr>
              <a:t>8</a:t>
            </a:r>
            <a:endParaRPr lang="en-US" sz="2500" dirty="0"/>
          </a:p>
        </p:txBody>
      </p:sp>
      <p:sp>
        <p:nvSpPr>
          <p:cNvPr id="17" name="Text 15"/>
          <p:cNvSpPr/>
          <p:nvPr/>
        </p:nvSpPr>
        <p:spPr>
          <a:xfrm>
            <a:off x="9111767" y="1993392"/>
            <a:ext cx="2494712" cy="274320"/>
          </a:xfrm>
          <a:prstGeom prst="rect">
            <a:avLst/>
          </a:prstGeom>
          <a:noFill/>
          <a:ln/>
        </p:spPr>
        <p:txBody>
          <a:bodyPr wrap="square" lIns="0" tIns="0" rIns="0" bIns="0" rtlCol="0" anchor="ctr"/>
          <a:lstStyle/>
          <a:p>
            <a:pPr algn="ctr" indent="0" marL="0">
              <a:buNone/>
            </a:pPr>
            <a:r>
              <a:rPr lang="en-US" sz="1050" dirty="0">
                <a:solidFill>
                  <a:srgbClr val="4A5768"/>
                </a:solidFill>
                <a:latin typeface="Calibri" pitchFamily="34" charset="0"/>
                <a:ea typeface="Calibri" pitchFamily="34" charset="-122"/>
                <a:cs typeface="Calibri" pitchFamily="34" charset="-120"/>
              </a:rPr>
              <a:t>No deletion result</a:t>
            </a:r>
            <a:endParaRPr lang="en-US" sz="10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2606040"/>
          <a:ext cx="6537960" cy="914400"/>
        </p:xfrm>
        <a:graphic>
          <a:graphicData uri="http://schemas.openxmlformats.org/drawingml/2006/table">
            <a:tbl>
              <a:tblPr/>
              <a:tblGrid>
                <a:gridCol w="2148840"/>
                <a:gridCol w="1600200"/>
                <a:gridCol w="1417320"/>
                <a:gridCol w="1371600"/>
              </a:tblGrid>
              <a:tr h="36576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Gene</a:t>
                      </a:r>
                      <a:endParaRPr lang="en-US" sz="1250" dirty="0">
                        <a:latin typeface="Calibri" charset="0"/>
                        <a:ea typeface="Calibri" charset="0"/>
                        <a:cs typeface="Calibri"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10243C"/>
                    </a:solidFill>
                  </a:tcPr>
                </a:tc>
                <a:tc>
                  <a:txBody>
                    <a:bodyPr/>
                    <a:lstStyle/>
                    <a:p>
                      <a:pPr algn="r" indent="0" marL="0">
                        <a:buNone/>
                      </a:pPr>
                      <a:r>
                        <a:rPr lang="en-US" sz="1250" b="1" dirty="0">
                          <a:solidFill>
                            <a:srgbClr val="FFFFFF"/>
                          </a:solidFill>
                          <a:latin typeface="Calibri" pitchFamily="34" charset="0"/>
                          <a:ea typeface="Calibri" pitchFamily="34" charset="-122"/>
                          <a:cs typeface="Calibri" pitchFamily="34" charset="-120"/>
                        </a:rPr>
                        <a:t>Delete → Normal</a:t>
                      </a:r>
                      <a:endParaRPr lang="en-US" sz="1250" dirty="0">
                        <a:latin typeface="Calibri" charset="0"/>
                        <a:ea typeface="Calibri" charset="0"/>
                        <a:cs typeface="Calibri"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10243C"/>
                    </a:solidFill>
                  </a:tcPr>
                </a:tc>
                <a:tc>
                  <a:txBody>
                    <a:bodyPr/>
                    <a:lstStyle/>
                    <a:p>
                      <a:pPr algn="r" indent="0" marL="0">
                        <a:buNone/>
                      </a:pPr>
                      <a:r>
                        <a:rPr lang="en-US" sz="1250" b="1" dirty="0">
                          <a:solidFill>
                            <a:srgbClr val="FFFFFF"/>
                          </a:solidFill>
                          <a:latin typeface="Calibri" pitchFamily="34" charset="0"/>
                          <a:ea typeface="Calibri" pitchFamily="34" charset="-122"/>
                          <a:cs typeface="Calibri" pitchFamily="34" charset="-120"/>
                        </a:rPr>
                        <a:t>Overexpress</a:t>
                      </a:r>
                      <a:endParaRPr lang="en-US" sz="1250" dirty="0">
                        <a:latin typeface="Calibri" charset="0"/>
                        <a:ea typeface="Calibri" charset="0"/>
                        <a:cs typeface="Calibri"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10243C"/>
                    </a:solidFill>
                  </a:tcPr>
                </a:tc>
                <a:tc>
                  <a:txBody>
                    <a:bodyPr/>
                    <a:lstStyle/>
                    <a:p>
                      <a:pPr algn="r" indent="0" marL="0">
                        <a:buNone/>
                      </a:pPr>
                      <a:r>
                        <a:rPr lang="en-US" sz="1250" b="1" dirty="0">
                          <a:solidFill>
                            <a:srgbClr val="FFFFFF"/>
                          </a:solidFill>
                          <a:latin typeface="Calibri" pitchFamily="34" charset="0"/>
                          <a:ea typeface="Calibri" pitchFamily="34" charset="-122"/>
                          <a:cs typeface="Calibri" pitchFamily="34" charset="-120"/>
                        </a:rPr>
                        <a:t>Detected</a:t>
                      </a:r>
                      <a:endParaRPr lang="en-US" sz="1250" dirty="0">
                        <a:latin typeface="Calibri" charset="0"/>
                        <a:ea typeface="Calibri" charset="0"/>
                        <a:cs typeface="Calibri"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10243C"/>
                    </a:solidFill>
                  </a:tcPr>
                </a:tc>
              </a:tr>
              <a:tr h="365760">
                <a:tc>
                  <a:txBody>
                    <a:bodyPr/>
                    <a:lstStyle/>
                    <a:p>
                      <a:pPr indent="0" marL="0">
                        <a:buNone/>
                      </a:pPr>
                      <a:r>
                        <a:rPr lang="en-US" sz="1250" b="1" dirty="0">
                          <a:solidFill>
                            <a:srgbClr val="16202C"/>
                          </a:solidFill>
                          <a:latin typeface="Calibri" pitchFamily="34" charset="0"/>
                          <a:ea typeface="Calibri" pitchFamily="34" charset="-122"/>
                          <a:cs typeface="Calibri" pitchFamily="34" charset="-120"/>
                        </a:rPr>
                        <a:t>HAVCR2 (TIM-3)</a:t>
                      </a:r>
                      <a:endParaRPr lang="en-US" sz="1250" dirty="0">
                        <a:latin typeface="Calibri" charset="0"/>
                        <a:ea typeface="Calibri" charset="0"/>
                        <a:cs typeface="Calibri"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tcPr>
                </a:tc>
                <a:tc>
                  <a:txBody>
                    <a:bodyPr/>
                    <a:lstStyle/>
                    <a:p>
                      <a:pPr algn="r" indent="0" marL="0">
                        <a:buNone/>
                      </a:pPr>
                      <a:r>
                        <a:rPr lang="en-US" sz="1250" b="1" dirty="0">
                          <a:solidFill>
                            <a:srgbClr val="0B6F6A"/>
                          </a:solidFill>
                          <a:latin typeface="Calibri" pitchFamily="34" charset="0"/>
                          <a:ea typeface="Calibri" pitchFamily="34" charset="-122"/>
                          <a:cs typeface="Calibri" pitchFamily="34" charset="-120"/>
                        </a:rPr>
                        <a:t>+0.0019</a:t>
                      </a:r>
                      <a:endParaRPr lang="en-US" sz="1250" dirty="0">
                        <a:latin typeface="Calibri" charset="0"/>
                        <a:ea typeface="Calibri" charset="0"/>
                        <a:cs typeface="Calibri"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tcPr>
                </a:tc>
                <a:tc>
                  <a:txBody>
                    <a:bodyPr/>
                    <a:lstStyle/>
                    <a:p>
                      <a:pPr algn="r" indent="0" marL="0">
                        <a:buNone/>
                      </a:pPr>
                      <a:r>
                        <a:rPr lang="en-US" sz="1250" dirty="0">
                          <a:solidFill>
                            <a:srgbClr val="B8465E"/>
                          </a:solidFill>
                          <a:latin typeface="Calibri" pitchFamily="34" charset="0"/>
                          <a:ea typeface="Calibri" pitchFamily="34" charset="-122"/>
                          <a:cs typeface="Calibri" pitchFamily="34" charset="-120"/>
                        </a:rPr>
                        <a:t>−0.0060</a:t>
                      </a:r>
                      <a:endParaRPr lang="en-US" sz="1250" dirty="0">
                        <a:latin typeface="Calibri" charset="0"/>
                        <a:ea typeface="Calibri" charset="0"/>
                        <a:cs typeface="Calibri"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tcPr>
                </a:tc>
                <a:tc>
                  <a:txBody>
                    <a:bodyPr/>
                    <a:lstStyle/>
                    <a:p>
                      <a:pPr algn="r" indent="0" marL="0">
                        <a:buNone/>
                      </a:pPr>
                      <a:r>
                        <a:rPr lang="en-US" sz="1250" dirty="0">
                          <a:solidFill>
                            <a:srgbClr val="16202C"/>
                          </a:solidFill>
                          <a:latin typeface="Calibri" pitchFamily="34" charset="0"/>
                          <a:ea typeface="Calibri" pitchFamily="34" charset="-122"/>
                          <a:cs typeface="Calibri" pitchFamily="34" charset="-120"/>
                        </a:rPr>
                        <a:t>202</a:t>
                      </a:r>
                      <a:endParaRPr lang="en-US" sz="1250" dirty="0">
                        <a:latin typeface="Calibri" charset="0"/>
                        <a:ea typeface="Calibri" charset="0"/>
                        <a:cs typeface="Calibri"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tcPr>
                </a:tc>
              </a:tr>
              <a:tr h="365760">
                <a:tc>
                  <a:txBody>
                    <a:bodyPr/>
                    <a:lstStyle/>
                    <a:p>
                      <a:pPr indent="0" marL="0">
                        <a:buNone/>
                      </a:pPr>
                      <a:r>
                        <a:rPr lang="en-US" sz="1250" b="1" dirty="0">
                          <a:solidFill>
                            <a:srgbClr val="16202C"/>
                          </a:solidFill>
                          <a:latin typeface="Calibri" pitchFamily="34" charset="0"/>
                          <a:ea typeface="Calibri" pitchFamily="34" charset="-122"/>
                          <a:cs typeface="Calibri" pitchFamily="34" charset="-120"/>
                        </a:rPr>
                        <a:t>TIGIT</a:t>
                      </a:r>
                      <a:endParaRPr lang="en-US" sz="1250" dirty="0">
                        <a:latin typeface="Calibri" charset="0"/>
                        <a:ea typeface="Calibri" charset="0"/>
                        <a:cs typeface="Calibri"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tcPr>
                </a:tc>
                <a:tc>
                  <a:txBody>
                    <a:bodyPr/>
                    <a:lstStyle/>
                    <a:p>
                      <a:pPr algn="r" indent="0" marL="0">
                        <a:buNone/>
                      </a:pPr>
                      <a:r>
                        <a:rPr lang="en-US" sz="1250" b="1" dirty="0">
                          <a:solidFill>
                            <a:srgbClr val="0B6F6A"/>
                          </a:solidFill>
                          <a:latin typeface="Calibri" pitchFamily="34" charset="0"/>
                          <a:ea typeface="Calibri" pitchFamily="34" charset="-122"/>
                          <a:cs typeface="Calibri" pitchFamily="34" charset="-120"/>
                        </a:rPr>
                        <a:t>+0.0018</a:t>
                      </a:r>
                      <a:endParaRPr lang="en-US" sz="1250" dirty="0">
                        <a:latin typeface="Calibri" charset="0"/>
                        <a:ea typeface="Calibri" charset="0"/>
                        <a:cs typeface="Calibri"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tcPr>
                </a:tc>
                <a:tc>
                  <a:txBody>
                    <a:bodyPr/>
                    <a:lstStyle/>
                    <a:p>
                      <a:pPr algn="r" indent="0" marL="0">
                        <a:buNone/>
                      </a:pPr>
                      <a:r>
                        <a:rPr lang="en-US" sz="1250" dirty="0">
                          <a:solidFill>
                            <a:srgbClr val="B8465E"/>
                          </a:solidFill>
                          <a:latin typeface="Calibri" pitchFamily="34" charset="0"/>
                          <a:ea typeface="Calibri" pitchFamily="34" charset="-122"/>
                          <a:cs typeface="Calibri" pitchFamily="34" charset="-120"/>
                        </a:rPr>
                        <a:t>−0.0082</a:t>
                      </a:r>
                      <a:endParaRPr lang="en-US" sz="1250" dirty="0">
                        <a:latin typeface="Calibri" charset="0"/>
                        <a:ea typeface="Calibri" charset="0"/>
                        <a:cs typeface="Calibri"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tcPr>
                </a:tc>
                <a:tc>
                  <a:txBody>
                    <a:bodyPr/>
                    <a:lstStyle/>
                    <a:p>
                      <a:pPr algn="r" indent="0" marL="0">
                        <a:buNone/>
                      </a:pPr>
                      <a:r>
                        <a:rPr lang="en-US" sz="1250" dirty="0">
                          <a:solidFill>
                            <a:srgbClr val="16202C"/>
                          </a:solidFill>
                          <a:latin typeface="Calibri" pitchFamily="34" charset="0"/>
                          <a:ea typeface="Calibri" pitchFamily="34" charset="-122"/>
                          <a:cs typeface="Calibri" pitchFamily="34" charset="-120"/>
                        </a:rPr>
                        <a:t>438</a:t>
                      </a:r>
                      <a:endParaRPr lang="en-US" sz="1250" dirty="0">
                        <a:latin typeface="Calibri" charset="0"/>
                        <a:ea typeface="Calibri" charset="0"/>
                        <a:cs typeface="Calibri"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tcPr>
                </a:tc>
              </a:tr>
              <a:tr h="365760">
                <a:tc>
                  <a:txBody>
                    <a:bodyPr/>
                    <a:lstStyle/>
                    <a:p>
                      <a:pPr indent="0" marL="0">
                        <a:buNone/>
                      </a:pPr>
                      <a:r>
                        <a:rPr lang="en-US" sz="1250" b="1" dirty="0">
                          <a:solidFill>
                            <a:srgbClr val="16202C"/>
                          </a:solidFill>
                          <a:latin typeface="Calibri" pitchFamily="34" charset="0"/>
                          <a:ea typeface="Calibri" pitchFamily="34" charset="-122"/>
                          <a:cs typeface="Calibri" pitchFamily="34" charset="-120"/>
                        </a:rPr>
                        <a:t>CTLA-4</a:t>
                      </a:r>
                      <a:endParaRPr lang="en-US" sz="1250" dirty="0">
                        <a:latin typeface="Calibri" charset="0"/>
                        <a:ea typeface="Calibri" charset="0"/>
                        <a:cs typeface="Calibri"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tcPr>
                </a:tc>
                <a:tc>
                  <a:txBody>
                    <a:bodyPr/>
                    <a:lstStyle/>
                    <a:p>
                      <a:pPr algn="r" indent="0" marL="0">
                        <a:buNone/>
                      </a:pPr>
                      <a:r>
                        <a:rPr lang="en-US" sz="1250" b="1" dirty="0">
                          <a:solidFill>
                            <a:srgbClr val="0B6F6A"/>
                          </a:solidFill>
                          <a:latin typeface="Calibri" pitchFamily="34" charset="0"/>
                          <a:ea typeface="Calibri" pitchFamily="34" charset="-122"/>
                          <a:cs typeface="Calibri" pitchFamily="34" charset="-120"/>
                        </a:rPr>
                        <a:t>+0.0014</a:t>
                      </a:r>
                      <a:endParaRPr lang="en-US" sz="1250" dirty="0">
                        <a:latin typeface="Calibri" charset="0"/>
                        <a:ea typeface="Calibri" charset="0"/>
                        <a:cs typeface="Calibri"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tcPr>
                </a:tc>
                <a:tc>
                  <a:txBody>
                    <a:bodyPr/>
                    <a:lstStyle/>
                    <a:p>
                      <a:pPr algn="r" indent="0" marL="0">
                        <a:buNone/>
                      </a:pPr>
                      <a:r>
                        <a:rPr lang="en-US" sz="1250" dirty="0">
                          <a:solidFill>
                            <a:srgbClr val="B8465E"/>
                          </a:solidFill>
                          <a:latin typeface="Calibri" pitchFamily="34" charset="0"/>
                          <a:ea typeface="Calibri" pitchFamily="34" charset="-122"/>
                          <a:cs typeface="Calibri" pitchFamily="34" charset="-120"/>
                        </a:rPr>
                        <a:t>−0.0014</a:t>
                      </a:r>
                      <a:endParaRPr lang="en-US" sz="1250" dirty="0">
                        <a:latin typeface="Calibri" charset="0"/>
                        <a:ea typeface="Calibri" charset="0"/>
                        <a:cs typeface="Calibri"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tcPr>
                </a:tc>
                <a:tc>
                  <a:txBody>
                    <a:bodyPr/>
                    <a:lstStyle/>
                    <a:p>
                      <a:pPr algn="r" indent="0" marL="0">
                        <a:buNone/>
                      </a:pPr>
                      <a:r>
                        <a:rPr lang="en-US" sz="1250" dirty="0">
                          <a:solidFill>
                            <a:srgbClr val="16202C"/>
                          </a:solidFill>
                          <a:latin typeface="Calibri" pitchFamily="34" charset="0"/>
                          <a:ea typeface="Calibri" pitchFamily="34" charset="-122"/>
                          <a:cs typeface="Calibri" pitchFamily="34" charset="-120"/>
                        </a:rPr>
                        <a:t>282</a:t>
                      </a:r>
                      <a:endParaRPr lang="en-US" sz="1250" dirty="0">
                        <a:latin typeface="Calibri" charset="0"/>
                        <a:ea typeface="Calibri" charset="0"/>
                        <a:cs typeface="Calibri"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tcPr>
                </a:tc>
              </a:tr>
              <a:tr h="365760">
                <a:tc>
                  <a:txBody>
                    <a:bodyPr/>
                    <a:lstStyle/>
                    <a:p>
                      <a:pPr indent="0" marL="0">
                        <a:buNone/>
                      </a:pPr>
                      <a:r>
                        <a:rPr lang="en-US" sz="1250" b="1" dirty="0">
                          <a:solidFill>
                            <a:srgbClr val="16202C"/>
                          </a:solidFill>
                          <a:latin typeface="Calibri" pitchFamily="34" charset="0"/>
                          <a:ea typeface="Calibri" pitchFamily="34" charset="-122"/>
                          <a:cs typeface="Calibri" pitchFamily="34" charset="-120"/>
                        </a:rPr>
                        <a:t>IL7R (persistence)</a:t>
                      </a:r>
                      <a:endParaRPr lang="en-US" sz="1250" dirty="0">
                        <a:latin typeface="Calibri" charset="0"/>
                        <a:ea typeface="Calibri" charset="0"/>
                        <a:cs typeface="Calibri"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tcPr>
                </a:tc>
                <a:tc>
                  <a:txBody>
                    <a:bodyPr/>
                    <a:lstStyle/>
                    <a:p>
                      <a:pPr algn="r" indent="0" marL="0">
                        <a:buNone/>
                      </a:pPr>
                      <a:r>
                        <a:rPr lang="en-US" sz="1250" b="1" dirty="0">
                          <a:solidFill>
                            <a:srgbClr val="0B6F6A"/>
                          </a:solidFill>
                          <a:latin typeface="Calibri" pitchFamily="34" charset="0"/>
                          <a:ea typeface="Calibri" pitchFamily="34" charset="-122"/>
                          <a:cs typeface="Calibri" pitchFamily="34" charset="-120"/>
                        </a:rPr>
                        <a:t>+0.0013</a:t>
                      </a:r>
                      <a:endParaRPr lang="en-US" sz="1250" dirty="0">
                        <a:latin typeface="Calibri" charset="0"/>
                        <a:ea typeface="Calibri" charset="0"/>
                        <a:cs typeface="Calibri"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tcPr>
                </a:tc>
                <a:tc>
                  <a:txBody>
                    <a:bodyPr/>
                    <a:lstStyle/>
                    <a:p>
                      <a:pPr algn="r" indent="0" marL="0">
                        <a:buNone/>
                      </a:pPr>
                      <a:r>
                        <a:rPr lang="en-US" sz="1250" dirty="0">
                          <a:solidFill>
                            <a:srgbClr val="B8465E"/>
                          </a:solidFill>
                          <a:latin typeface="Calibri" pitchFamily="34" charset="0"/>
                          <a:ea typeface="Calibri" pitchFamily="34" charset="-122"/>
                          <a:cs typeface="Calibri" pitchFamily="34" charset="-120"/>
                        </a:rPr>
                        <a:t>−0.0054</a:t>
                      </a:r>
                      <a:endParaRPr lang="en-US" sz="1250" dirty="0">
                        <a:latin typeface="Calibri" charset="0"/>
                        <a:ea typeface="Calibri" charset="0"/>
                        <a:cs typeface="Calibri"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tcPr>
                </a:tc>
                <a:tc>
                  <a:txBody>
                    <a:bodyPr/>
                    <a:lstStyle/>
                    <a:p>
                      <a:pPr algn="r" indent="0" marL="0">
                        <a:buNone/>
                      </a:pPr>
                      <a:r>
                        <a:rPr lang="en-US" sz="1250" dirty="0">
                          <a:solidFill>
                            <a:srgbClr val="16202C"/>
                          </a:solidFill>
                          <a:latin typeface="Calibri" pitchFamily="34" charset="0"/>
                          <a:ea typeface="Calibri" pitchFamily="34" charset="-122"/>
                          <a:cs typeface="Calibri" pitchFamily="34" charset="-120"/>
                        </a:rPr>
                        <a:t>1,131</a:t>
                      </a:r>
                      <a:endParaRPr lang="en-US" sz="1250" dirty="0">
                        <a:latin typeface="Calibri" charset="0"/>
                        <a:ea typeface="Calibri" charset="0"/>
                        <a:cs typeface="Calibri"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tcPr>
                </a:tc>
              </a:tr>
            </a:tbl>
          </a:graphicData>
        </a:graphic>
      </p:graphicFrame>
      <p:sp>
        <p:nvSpPr>
          <p:cNvPr id="19" name="Text 16"/>
          <p:cNvSpPr/>
          <p:nvPr/>
        </p:nvSpPr>
        <p:spPr>
          <a:xfrm>
            <a:off x="548640" y="4663440"/>
            <a:ext cx="6537960" cy="457200"/>
          </a:xfrm>
          <a:prstGeom prst="rect">
            <a:avLst/>
          </a:prstGeom>
          <a:noFill/>
          <a:ln/>
        </p:spPr>
        <p:txBody>
          <a:bodyPr wrap="square" lIns="0" tIns="0" rIns="0" bIns="0" rtlCol="0" anchor="t"/>
          <a:lstStyle/>
          <a:p>
            <a:pPr indent="0" marL="0">
              <a:buNone/>
            </a:pPr>
            <a:r>
              <a:rPr lang="en-US" sz="1200" dirty="0">
                <a:solidFill>
                  <a:srgbClr val="4A5768"/>
                </a:solidFill>
                <a:latin typeface="Calibri" pitchFamily="34" charset="0"/>
                <a:ea typeface="Calibri" pitchFamily="34" charset="-122"/>
                <a:cs typeface="Calibri" pitchFamily="34" charset="-120"/>
              </a:rPr>
              <a:t>All four: same sign in all 3 SCLC donors, FDR &lt; 0.05 in both arms, ≥100 source cells detected.</a:t>
            </a:r>
            <a:endParaRPr lang="en-US" sz="1200" dirty="0"/>
          </a:p>
        </p:txBody>
      </p:sp>
      <p:sp>
        <p:nvSpPr>
          <p:cNvPr id="20" name="Shape 17"/>
          <p:cNvSpPr/>
          <p:nvPr/>
        </p:nvSpPr>
        <p:spPr>
          <a:xfrm>
            <a:off x="548640" y="5212080"/>
            <a:ext cx="6537960" cy="1005840"/>
          </a:xfrm>
          <a:prstGeom prst="roundRect">
            <a:avLst>
              <a:gd name="adj" fmla="val 5455"/>
            </a:avLst>
          </a:prstGeom>
          <a:solidFill>
            <a:srgbClr val="F2F5F9"/>
          </a:solidFill>
          <a:ln w="9525">
            <a:solidFill>
              <a:srgbClr val="D5DEE7"/>
            </a:solidFill>
            <a:prstDash val="solid"/>
          </a:ln>
        </p:spPr>
      </p:sp>
      <p:sp>
        <p:nvSpPr>
          <p:cNvPr id="21" name="Text 18"/>
          <p:cNvSpPr/>
          <p:nvPr/>
        </p:nvSpPr>
        <p:spPr>
          <a:xfrm>
            <a:off x="731520" y="5285232"/>
            <a:ext cx="790956" cy="822960"/>
          </a:xfrm>
          <a:prstGeom prst="rect">
            <a:avLst/>
          </a:prstGeom>
          <a:noFill/>
          <a:ln/>
        </p:spPr>
        <p:txBody>
          <a:bodyPr wrap="square" lIns="0" tIns="0" rIns="0" bIns="0" rtlCol="0" anchor="ctr"/>
          <a:lstStyle/>
          <a:p>
            <a:pPr algn="ctr" indent="0" marL="0">
              <a:buNone/>
            </a:pPr>
            <a:r>
              <a:rPr lang="en-US" sz="950" dirty="0">
                <a:solidFill>
                  <a:srgbClr val="4A5768"/>
                </a:solidFill>
                <a:latin typeface="Calibri" pitchFamily="34" charset="0"/>
                <a:ea typeface="Calibri" pitchFamily="34" charset="-122"/>
                <a:cs typeface="Calibri" pitchFamily="34" charset="-120"/>
              </a:rPr>
              <a:t>50 genes</a:t>
            </a:r>
            <a:endParaRPr lang="en-US" sz="950" dirty="0"/>
          </a:p>
        </p:txBody>
      </p:sp>
      <p:sp>
        <p:nvSpPr>
          <p:cNvPr id="22" name="Text 19"/>
          <p:cNvSpPr/>
          <p:nvPr/>
        </p:nvSpPr>
        <p:spPr>
          <a:xfrm>
            <a:off x="1540764" y="5285232"/>
            <a:ext cx="201168" cy="822960"/>
          </a:xfrm>
          <a:prstGeom prst="rect">
            <a:avLst/>
          </a:prstGeom>
          <a:noFill/>
          <a:ln/>
        </p:spPr>
        <p:txBody>
          <a:bodyPr wrap="square" lIns="0" tIns="0" rIns="0" bIns="0" rtlCol="0" anchor="ctr"/>
          <a:lstStyle/>
          <a:p>
            <a:pPr algn="ctr" indent="0" marL="0">
              <a:buNone/>
            </a:pPr>
            <a:r>
              <a:rPr lang="en-US" sz="1300" dirty="0">
                <a:solidFill>
                  <a:srgbClr val="AEBCCB"/>
                </a:solidFill>
                <a:latin typeface="Calibri" pitchFamily="34" charset="0"/>
                <a:ea typeface="Calibri" pitchFamily="34" charset="-122"/>
                <a:cs typeface="Calibri" pitchFamily="34" charset="-120"/>
              </a:rPr>
              <a:t>›</a:t>
            </a:r>
            <a:endParaRPr lang="en-US" sz="1300" dirty="0"/>
          </a:p>
        </p:txBody>
      </p:sp>
      <p:sp>
        <p:nvSpPr>
          <p:cNvPr id="23" name="Text 20"/>
          <p:cNvSpPr/>
          <p:nvPr/>
        </p:nvSpPr>
        <p:spPr>
          <a:xfrm>
            <a:off x="1760220" y="5285232"/>
            <a:ext cx="790956" cy="822960"/>
          </a:xfrm>
          <a:prstGeom prst="rect">
            <a:avLst/>
          </a:prstGeom>
          <a:noFill/>
          <a:ln/>
        </p:spPr>
        <p:txBody>
          <a:bodyPr wrap="square" lIns="0" tIns="0" rIns="0" bIns="0" rtlCol="0" anchor="ctr"/>
          <a:lstStyle/>
          <a:p>
            <a:pPr algn="ctr" indent="0" marL="0">
              <a:buNone/>
            </a:pPr>
            <a:r>
              <a:rPr lang="en-US" sz="950" dirty="0">
                <a:solidFill>
                  <a:srgbClr val="4A5768"/>
                </a:solidFill>
                <a:latin typeface="Calibri" pitchFamily="34" charset="0"/>
                <a:ea typeface="Calibri" pitchFamily="34" charset="-122"/>
                <a:cs typeface="Calibri" pitchFamily="34" charset="-120"/>
              </a:rPr>
              <a:t>concordant</a:t>
            </a:r>
            <a:endParaRPr lang="en-US" sz="950" dirty="0"/>
          </a:p>
          <a:p>
            <a:pPr algn="ctr" indent="0" marL="0">
              <a:buNone/>
            </a:pPr>
            <a:r>
              <a:rPr lang="en-US" sz="950" dirty="0">
                <a:solidFill>
                  <a:srgbClr val="4A5768"/>
                </a:solidFill>
                <a:latin typeface="Calibri" pitchFamily="34" charset="0"/>
                <a:ea typeface="Calibri" pitchFamily="34" charset="-122"/>
                <a:cs typeface="Calibri" pitchFamily="34" charset="-120"/>
              </a:rPr>
              <a:t>both arms</a:t>
            </a:r>
            <a:endParaRPr lang="en-US" sz="950" dirty="0"/>
          </a:p>
        </p:txBody>
      </p:sp>
      <p:sp>
        <p:nvSpPr>
          <p:cNvPr id="24" name="Text 21"/>
          <p:cNvSpPr/>
          <p:nvPr/>
        </p:nvSpPr>
        <p:spPr>
          <a:xfrm>
            <a:off x="2569464" y="5285232"/>
            <a:ext cx="201168" cy="822960"/>
          </a:xfrm>
          <a:prstGeom prst="rect">
            <a:avLst/>
          </a:prstGeom>
          <a:noFill/>
          <a:ln/>
        </p:spPr>
        <p:txBody>
          <a:bodyPr wrap="square" lIns="0" tIns="0" rIns="0" bIns="0" rtlCol="0" anchor="ctr"/>
          <a:lstStyle/>
          <a:p>
            <a:pPr algn="ctr" indent="0" marL="0">
              <a:buNone/>
            </a:pPr>
            <a:r>
              <a:rPr lang="en-US" sz="1300" dirty="0">
                <a:solidFill>
                  <a:srgbClr val="AEBCCB"/>
                </a:solidFill>
                <a:latin typeface="Calibri" pitchFamily="34" charset="0"/>
                <a:ea typeface="Calibri" pitchFamily="34" charset="-122"/>
                <a:cs typeface="Calibri" pitchFamily="34" charset="-120"/>
              </a:rPr>
              <a:t>›</a:t>
            </a:r>
            <a:endParaRPr lang="en-US" sz="1300" dirty="0"/>
          </a:p>
        </p:txBody>
      </p:sp>
      <p:sp>
        <p:nvSpPr>
          <p:cNvPr id="25" name="Text 22"/>
          <p:cNvSpPr/>
          <p:nvPr/>
        </p:nvSpPr>
        <p:spPr>
          <a:xfrm>
            <a:off x="2788920" y="5285232"/>
            <a:ext cx="790956" cy="822960"/>
          </a:xfrm>
          <a:prstGeom prst="rect">
            <a:avLst/>
          </a:prstGeom>
          <a:noFill/>
          <a:ln/>
        </p:spPr>
        <p:txBody>
          <a:bodyPr wrap="square" lIns="0" tIns="0" rIns="0" bIns="0" rtlCol="0" anchor="ctr"/>
          <a:lstStyle/>
          <a:p>
            <a:pPr algn="ctr" indent="0" marL="0">
              <a:buNone/>
            </a:pPr>
            <a:r>
              <a:rPr lang="en-US" sz="950" dirty="0">
                <a:solidFill>
                  <a:srgbClr val="4A5768"/>
                </a:solidFill>
                <a:latin typeface="Calibri" pitchFamily="34" charset="0"/>
                <a:ea typeface="Calibri" pitchFamily="34" charset="-122"/>
                <a:cs typeface="Calibri" pitchFamily="34" charset="-120"/>
              </a:rPr>
              <a:t>FDR &lt; 0.05</a:t>
            </a:r>
            <a:endParaRPr lang="en-US" sz="950" dirty="0"/>
          </a:p>
          <a:p>
            <a:pPr algn="ctr" indent="0" marL="0">
              <a:buNone/>
            </a:pPr>
            <a:r>
              <a:rPr lang="en-US" sz="950" dirty="0">
                <a:solidFill>
                  <a:srgbClr val="4A5768"/>
                </a:solidFill>
                <a:latin typeface="Calibri" pitchFamily="34" charset="0"/>
                <a:ea typeface="Calibri" pitchFamily="34" charset="-122"/>
                <a:cs typeface="Calibri" pitchFamily="34" charset="-120"/>
              </a:rPr>
              <a:t>both arms</a:t>
            </a:r>
            <a:endParaRPr lang="en-US" sz="950" dirty="0"/>
          </a:p>
        </p:txBody>
      </p:sp>
      <p:sp>
        <p:nvSpPr>
          <p:cNvPr id="26" name="Text 23"/>
          <p:cNvSpPr/>
          <p:nvPr/>
        </p:nvSpPr>
        <p:spPr>
          <a:xfrm>
            <a:off x="3598164" y="5285232"/>
            <a:ext cx="201168" cy="822960"/>
          </a:xfrm>
          <a:prstGeom prst="rect">
            <a:avLst/>
          </a:prstGeom>
          <a:noFill/>
          <a:ln/>
        </p:spPr>
        <p:txBody>
          <a:bodyPr wrap="square" lIns="0" tIns="0" rIns="0" bIns="0" rtlCol="0" anchor="ctr"/>
          <a:lstStyle/>
          <a:p>
            <a:pPr algn="ctr" indent="0" marL="0">
              <a:buNone/>
            </a:pPr>
            <a:r>
              <a:rPr lang="en-US" sz="1300" dirty="0">
                <a:solidFill>
                  <a:srgbClr val="AEBCCB"/>
                </a:solidFill>
                <a:latin typeface="Calibri" pitchFamily="34" charset="0"/>
                <a:ea typeface="Calibri" pitchFamily="34" charset="-122"/>
                <a:cs typeface="Calibri" pitchFamily="34" charset="-120"/>
              </a:rPr>
              <a:t>›</a:t>
            </a:r>
            <a:endParaRPr lang="en-US" sz="1300" dirty="0"/>
          </a:p>
        </p:txBody>
      </p:sp>
      <p:sp>
        <p:nvSpPr>
          <p:cNvPr id="27" name="Text 24"/>
          <p:cNvSpPr/>
          <p:nvPr/>
        </p:nvSpPr>
        <p:spPr>
          <a:xfrm>
            <a:off x="3817620" y="5285232"/>
            <a:ext cx="790956" cy="822960"/>
          </a:xfrm>
          <a:prstGeom prst="rect">
            <a:avLst/>
          </a:prstGeom>
          <a:noFill/>
          <a:ln/>
        </p:spPr>
        <p:txBody>
          <a:bodyPr wrap="square" lIns="0" tIns="0" rIns="0" bIns="0" rtlCol="0" anchor="ctr"/>
          <a:lstStyle/>
          <a:p>
            <a:pPr algn="ctr" indent="0" marL="0">
              <a:buNone/>
            </a:pPr>
            <a:r>
              <a:rPr lang="en-US" sz="950" dirty="0">
                <a:solidFill>
                  <a:srgbClr val="4A5768"/>
                </a:solidFill>
                <a:latin typeface="Calibri" pitchFamily="34" charset="0"/>
                <a:ea typeface="Calibri" pitchFamily="34" charset="-122"/>
                <a:cs typeface="Calibri" pitchFamily="34" charset="-120"/>
              </a:rPr>
              <a:t>all 3</a:t>
            </a:r>
            <a:endParaRPr lang="en-US" sz="950" dirty="0"/>
          </a:p>
          <a:p>
            <a:pPr algn="ctr" indent="0" marL="0">
              <a:buNone/>
            </a:pPr>
            <a:r>
              <a:rPr lang="en-US" sz="950" dirty="0">
                <a:solidFill>
                  <a:srgbClr val="4A5768"/>
                </a:solidFill>
                <a:latin typeface="Calibri" pitchFamily="34" charset="0"/>
                <a:ea typeface="Calibri" pitchFamily="34" charset="-122"/>
                <a:cs typeface="Calibri" pitchFamily="34" charset="-120"/>
              </a:rPr>
              <a:t>donors</a:t>
            </a:r>
            <a:endParaRPr lang="en-US" sz="950" dirty="0"/>
          </a:p>
        </p:txBody>
      </p:sp>
      <p:sp>
        <p:nvSpPr>
          <p:cNvPr id="28" name="Text 25"/>
          <p:cNvSpPr/>
          <p:nvPr/>
        </p:nvSpPr>
        <p:spPr>
          <a:xfrm>
            <a:off x="4626864" y="5285232"/>
            <a:ext cx="201168" cy="822960"/>
          </a:xfrm>
          <a:prstGeom prst="rect">
            <a:avLst/>
          </a:prstGeom>
          <a:noFill/>
          <a:ln/>
        </p:spPr>
        <p:txBody>
          <a:bodyPr wrap="square" lIns="0" tIns="0" rIns="0" bIns="0" rtlCol="0" anchor="ctr"/>
          <a:lstStyle/>
          <a:p>
            <a:pPr algn="ctr" indent="0" marL="0">
              <a:buNone/>
            </a:pPr>
            <a:r>
              <a:rPr lang="en-US" sz="1300" dirty="0">
                <a:solidFill>
                  <a:srgbClr val="AEBCCB"/>
                </a:solidFill>
                <a:latin typeface="Calibri" pitchFamily="34" charset="0"/>
                <a:ea typeface="Calibri" pitchFamily="34" charset="-122"/>
                <a:cs typeface="Calibri" pitchFamily="34" charset="-120"/>
              </a:rPr>
              <a:t>›</a:t>
            </a:r>
            <a:endParaRPr lang="en-US" sz="1300" dirty="0"/>
          </a:p>
        </p:txBody>
      </p:sp>
      <p:sp>
        <p:nvSpPr>
          <p:cNvPr id="29" name="Text 26"/>
          <p:cNvSpPr/>
          <p:nvPr/>
        </p:nvSpPr>
        <p:spPr>
          <a:xfrm>
            <a:off x="4846320" y="5285232"/>
            <a:ext cx="790956" cy="822960"/>
          </a:xfrm>
          <a:prstGeom prst="rect">
            <a:avLst/>
          </a:prstGeom>
          <a:noFill/>
          <a:ln/>
        </p:spPr>
        <p:txBody>
          <a:bodyPr wrap="square" lIns="0" tIns="0" rIns="0" bIns="0" rtlCol="0" anchor="ctr"/>
          <a:lstStyle/>
          <a:p>
            <a:pPr algn="ctr" indent="0" marL="0">
              <a:buNone/>
            </a:pPr>
            <a:r>
              <a:rPr lang="en-US" sz="950" dirty="0">
                <a:solidFill>
                  <a:srgbClr val="4A5768"/>
                </a:solidFill>
                <a:latin typeface="Calibri" pitchFamily="34" charset="0"/>
                <a:ea typeface="Calibri" pitchFamily="34" charset="-122"/>
                <a:cs typeface="Calibri" pitchFamily="34" charset="-120"/>
              </a:rPr>
              <a:t>≥100</a:t>
            </a:r>
            <a:endParaRPr lang="en-US" sz="950" dirty="0"/>
          </a:p>
          <a:p>
            <a:pPr algn="ctr" indent="0" marL="0">
              <a:buNone/>
            </a:pPr>
            <a:r>
              <a:rPr lang="en-US" sz="950" dirty="0">
                <a:solidFill>
                  <a:srgbClr val="4A5768"/>
                </a:solidFill>
                <a:latin typeface="Calibri" pitchFamily="34" charset="0"/>
                <a:ea typeface="Calibri" pitchFamily="34" charset="-122"/>
                <a:cs typeface="Calibri" pitchFamily="34" charset="-120"/>
              </a:rPr>
              <a:t>detected</a:t>
            </a:r>
            <a:endParaRPr lang="en-US" sz="950" dirty="0"/>
          </a:p>
        </p:txBody>
      </p:sp>
      <p:sp>
        <p:nvSpPr>
          <p:cNvPr id="30" name="Text 27"/>
          <p:cNvSpPr/>
          <p:nvPr/>
        </p:nvSpPr>
        <p:spPr>
          <a:xfrm>
            <a:off x="5655564" y="5285232"/>
            <a:ext cx="201168" cy="822960"/>
          </a:xfrm>
          <a:prstGeom prst="rect">
            <a:avLst/>
          </a:prstGeom>
          <a:noFill/>
          <a:ln/>
        </p:spPr>
        <p:txBody>
          <a:bodyPr wrap="square" lIns="0" tIns="0" rIns="0" bIns="0" rtlCol="0" anchor="ctr"/>
          <a:lstStyle/>
          <a:p>
            <a:pPr algn="ctr" indent="0" marL="0">
              <a:buNone/>
            </a:pPr>
            <a:r>
              <a:rPr lang="en-US" sz="1300" dirty="0">
                <a:solidFill>
                  <a:srgbClr val="AEBCCB"/>
                </a:solidFill>
                <a:latin typeface="Calibri" pitchFamily="34" charset="0"/>
                <a:ea typeface="Calibri" pitchFamily="34" charset="-122"/>
                <a:cs typeface="Calibri" pitchFamily="34" charset="-120"/>
              </a:rPr>
              <a:t>›</a:t>
            </a:r>
            <a:endParaRPr lang="en-US" sz="1300" dirty="0"/>
          </a:p>
        </p:txBody>
      </p:sp>
      <p:sp>
        <p:nvSpPr>
          <p:cNvPr id="31" name="Text 28"/>
          <p:cNvSpPr/>
          <p:nvPr/>
        </p:nvSpPr>
        <p:spPr>
          <a:xfrm>
            <a:off x="5875020" y="5285232"/>
            <a:ext cx="790956" cy="822960"/>
          </a:xfrm>
          <a:prstGeom prst="rect">
            <a:avLst/>
          </a:prstGeom>
          <a:noFill/>
          <a:ln/>
        </p:spPr>
        <p:txBody>
          <a:bodyPr wrap="square" lIns="0" tIns="0" rIns="0" bIns="0" rtlCol="0" anchor="ctr"/>
          <a:lstStyle/>
          <a:p>
            <a:pPr algn="ctr" indent="0" marL="0">
              <a:buNone/>
            </a:pPr>
            <a:r>
              <a:rPr lang="en-US" sz="1700" b="1" dirty="0">
                <a:solidFill>
                  <a:srgbClr val="0B6F6A"/>
                </a:solidFill>
                <a:latin typeface="Calibri" pitchFamily="34" charset="0"/>
                <a:ea typeface="Calibri" pitchFamily="34" charset="-122"/>
                <a:cs typeface="Calibri" pitchFamily="34" charset="-120"/>
              </a:rPr>
              <a:t>4</a:t>
            </a:r>
            <a:endParaRPr lang="en-US" sz="1700" dirty="0"/>
          </a:p>
        </p:txBody>
      </p:sp>
      <p:pic>
        <p:nvPicPr>
          <p:cNvPr id="32" name="Image 0" descr="/Users/kaisar/workspace/geneformer-lung-tcell/talk/assets/screen_b.png">    </p:cNvPr>
          <p:cNvPicPr>
            <a:picLocks noChangeAspect="1"/>
          </p:cNvPicPr>
          <p:nvPr/>
        </p:nvPicPr>
        <p:blipFill>
          <a:blip r:embed="rId1"/>
          <a:stretch>
            <a:fillRect/>
          </a:stretch>
        </p:blipFill>
        <p:spPr>
          <a:xfrm>
            <a:off x="7846924" y="2606040"/>
            <a:ext cx="3401568" cy="3004945"/>
          </a:xfrm>
          <a:prstGeom prst="rect">
            <a:avLst/>
          </a:prstGeom>
        </p:spPr>
      </p:pic>
      <p:sp>
        <p:nvSpPr>
          <p:cNvPr id="33" name="Text 29"/>
          <p:cNvSpPr/>
          <p:nvPr/>
        </p:nvSpPr>
        <p:spPr>
          <a:xfrm>
            <a:off x="7452360" y="5669280"/>
            <a:ext cx="4190695" cy="237744"/>
          </a:xfrm>
          <a:prstGeom prst="rect">
            <a:avLst/>
          </a:prstGeom>
          <a:noFill/>
          <a:ln/>
        </p:spPr>
        <p:txBody>
          <a:bodyPr wrap="square" lIns="0" tIns="0" rIns="0" bIns="0" rtlCol="0" anchor="t"/>
          <a:lstStyle/>
          <a:p>
            <a:pPr indent="0" marL="0">
              <a:buNone/>
            </a:pPr>
            <a:r>
              <a:rPr lang="en-US" sz="950" i="1" dirty="0">
                <a:solidFill>
                  <a:srgbClr val="7A8798"/>
                </a:solidFill>
                <a:latin typeface="Calibri" pitchFamily="34" charset="0"/>
                <a:ea typeface="Calibri" pitchFamily="34" charset="-122"/>
                <a:cs typeface="Calibri" pitchFamily="34" charset="-120"/>
              </a:rPr>
              <a:t>SCLC → normal: four knockouts replicate across all 3 donors.</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91440"/>
            <a:ext cx="11094415" cy="201168"/>
          </a:xfrm>
          <a:prstGeom prst="rect">
            <a:avLst/>
          </a:prstGeom>
          <a:noFill/>
          <a:ln/>
        </p:spPr>
        <p:txBody>
          <a:bodyPr wrap="square" lIns="0" tIns="0" rIns="0" bIns="0" rtlCol="0" anchor="ctr"/>
          <a:lstStyle/>
          <a:p>
            <a:pPr indent="0" marL="0">
              <a:buNone/>
            </a:pPr>
            <a:r>
              <a:rPr lang="en-US" sz="1100" b="1" spc="160" kern="0" dirty="0">
                <a:solidFill>
                  <a:srgbClr val="B8465E"/>
                </a:solidFill>
                <a:latin typeface="Calibri" pitchFamily="34" charset="0"/>
                <a:ea typeface="Calibri" pitchFamily="34" charset="-122"/>
                <a:cs typeface="Calibri" pitchFamily="34" charset="-120"/>
              </a:rPr>
              <a:t>QUALITY CONTROL</a:t>
            </a:r>
            <a:endParaRPr lang="en-US" sz="1100" dirty="0"/>
          </a:p>
        </p:txBody>
      </p:sp>
      <p:sp>
        <p:nvSpPr>
          <p:cNvPr id="3" name="Text 1"/>
          <p:cNvSpPr/>
          <p:nvPr/>
        </p:nvSpPr>
        <p:spPr>
          <a:xfrm>
            <a:off x="548640" y="329184"/>
            <a:ext cx="11094415" cy="1051560"/>
          </a:xfrm>
          <a:prstGeom prst="rect">
            <a:avLst/>
          </a:prstGeom>
          <a:noFill/>
          <a:ln/>
        </p:spPr>
        <p:txBody>
          <a:bodyPr wrap="square" lIns="0" tIns="0" rIns="0" bIns="0" rtlCol="0" anchor="t"/>
          <a:lstStyle/>
          <a:p>
            <a:pPr algn="l" indent="0" marL="0">
              <a:buNone/>
            </a:pPr>
            <a:r>
              <a:rPr lang="en-US" sz="2700" b="1" dirty="0">
                <a:solidFill>
                  <a:srgbClr val="10243C"/>
                </a:solidFill>
                <a:latin typeface="Cambria" pitchFamily="34" charset="0"/>
                <a:ea typeface="Cambria" pitchFamily="34" charset="-122"/>
                <a:cs typeface="Cambria" pitchFamily="34" charset="-120"/>
              </a:rPr>
              <a:t>Sparse genes fake big effects (ρ = −0.60) — and one model result still contradicts the clinic</a:t>
            </a:r>
            <a:endParaRPr lang="en-US" sz="2700" dirty="0"/>
          </a:p>
        </p:txBody>
      </p:sp>
      <p:sp>
        <p:nvSpPr>
          <p:cNvPr id="4" name="Text 2"/>
          <p:cNvSpPr/>
          <p:nvPr/>
        </p:nvSpPr>
        <p:spPr>
          <a:xfrm>
            <a:off x="548640" y="6419088"/>
            <a:ext cx="7315200" cy="256032"/>
          </a:xfrm>
          <a:prstGeom prst="rect">
            <a:avLst/>
          </a:prstGeom>
          <a:noFill/>
          <a:ln/>
        </p:spPr>
        <p:txBody>
          <a:bodyPr wrap="square" lIns="0" tIns="0" rIns="0" bIns="0" rtlCol="0" anchor="ctr"/>
          <a:lstStyle/>
          <a:p>
            <a:pPr indent="0" marL="0">
              <a:buNone/>
            </a:pPr>
            <a:r>
              <a:rPr lang="en-US" sz="950" dirty="0">
                <a:solidFill>
                  <a:srgbClr val="7A8798"/>
                </a:solidFill>
                <a:latin typeface="Calibri" pitchFamily="34" charset="0"/>
                <a:ea typeface="Calibri" pitchFamily="34" charset="-122"/>
                <a:cs typeface="Calibri" pitchFamily="34" charset="-120"/>
              </a:rPr>
              <a:t>Detection confound &amp; the open axis</a:t>
            </a:r>
            <a:endParaRPr lang="en-US" sz="950" dirty="0"/>
          </a:p>
        </p:txBody>
      </p:sp>
      <p:sp>
        <p:nvSpPr>
          <p:cNvPr id="5" name="Text 3"/>
          <p:cNvSpPr/>
          <p:nvPr/>
        </p:nvSpPr>
        <p:spPr>
          <a:xfrm>
            <a:off x="11002975" y="6419088"/>
            <a:ext cx="640080" cy="256032"/>
          </a:xfrm>
          <a:prstGeom prst="rect">
            <a:avLst/>
          </a:prstGeom>
          <a:noFill/>
          <a:ln/>
        </p:spPr>
        <p:txBody>
          <a:bodyPr wrap="square" lIns="0" tIns="0" rIns="0" bIns="0" rtlCol="0" anchor="ctr"/>
          <a:lstStyle/>
          <a:p>
            <a:pPr algn="r" indent="0" marL="0">
              <a:buNone/>
            </a:pPr>
            <a:r>
              <a:rPr lang="en-US" sz="950" dirty="0">
                <a:solidFill>
                  <a:srgbClr val="7A8798"/>
                </a:solidFill>
                <a:latin typeface="Calibri" pitchFamily="34" charset="0"/>
                <a:ea typeface="Calibri" pitchFamily="34" charset="-122"/>
                <a:cs typeface="Calibri" pitchFamily="34" charset="-120"/>
              </a:rPr>
              <a:t>7</a:t>
            </a:r>
            <a:endParaRPr lang="en-US" sz="950" dirty="0"/>
          </a:p>
        </p:txBody>
      </p:sp>
      <p:pic>
        <p:nvPicPr>
          <p:cNvPr id="6" name="Image 0" descr="/Users/kaisar/workspace/geneformer-lung-tcell/talk/assets/detection.png">    </p:cNvPr>
          <p:cNvPicPr>
            <a:picLocks noChangeAspect="1"/>
          </p:cNvPicPr>
          <p:nvPr/>
        </p:nvPicPr>
        <p:blipFill>
          <a:blip r:embed="rId1"/>
          <a:stretch>
            <a:fillRect/>
          </a:stretch>
        </p:blipFill>
        <p:spPr>
          <a:xfrm>
            <a:off x="548640" y="1600200"/>
            <a:ext cx="6400800" cy="3223443"/>
          </a:xfrm>
          <a:prstGeom prst="rect">
            <a:avLst/>
          </a:prstGeom>
        </p:spPr>
      </p:pic>
      <p:sp>
        <p:nvSpPr>
          <p:cNvPr id="7" name="Text 4"/>
          <p:cNvSpPr/>
          <p:nvPr/>
        </p:nvSpPr>
        <p:spPr>
          <a:xfrm>
            <a:off x="548640" y="4882896"/>
            <a:ext cx="6400800" cy="237744"/>
          </a:xfrm>
          <a:prstGeom prst="rect">
            <a:avLst/>
          </a:prstGeom>
          <a:noFill/>
          <a:ln/>
        </p:spPr>
        <p:txBody>
          <a:bodyPr wrap="square" lIns="0" tIns="0" rIns="0" bIns="0" rtlCol="0" anchor="t"/>
          <a:lstStyle/>
          <a:p>
            <a:pPr indent="0" marL="0">
              <a:buNone/>
            </a:pPr>
            <a:r>
              <a:rPr lang="en-US" sz="950" i="1" dirty="0">
                <a:solidFill>
                  <a:srgbClr val="7A8798"/>
                </a:solidFill>
                <a:latin typeface="Calibri" pitchFamily="34" charset="0"/>
                <a:ea typeface="Calibri" pitchFamily="34" charset="-122"/>
                <a:cs typeface="Calibri" pitchFamily="34" charset="-120"/>
              </a:rPr>
              <a:t>Detection vs absolute deletion effect across the full 50-gene panel.</a:t>
            </a:r>
            <a:endParaRPr lang="en-US" sz="950" dirty="0"/>
          </a:p>
        </p:txBody>
      </p:sp>
      <p:sp>
        <p:nvSpPr>
          <p:cNvPr id="8" name="Text 5"/>
          <p:cNvSpPr/>
          <p:nvPr/>
        </p:nvSpPr>
        <p:spPr>
          <a:xfrm>
            <a:off x="548640" y="5138928"/>
            <a:ext cx="6400800" cy="1207008"/>
          </a:xfrm>
          <a:prstGeom prst="rect">
            <a:avLst/>
          </a:prstGeom>
          <a:noFill/>
          <a:ln/>
        </p:spPr>
        <p:txBody>
          <a:bodyPr wrap="square" lIns="0" tIns="0" rIns="0" bIns="0" rtlCol="0" anchor="t"/>
          <a:lstStyle/>
          <a:p>
            <a:pPr marL="177800" indent="-177800">
              <a:lnSpc>
                <a:spcPts val="2000"/>
              </a:lnSpc>
              <a:spcAft>
                <a:spcPts val="300"/>
              </a:spcAft>
              <a:buSzPct val="100000"/>
              <a:buChar char="•"/>
            </a:pPr>
            <a:r>
              <a:rPr lang="en-US" sz="1200" dirty="0">
                <a:solidFill>
                  <a:srgbClr val="16202C"/>
                </a:solidFill>
                <a:latin typeface="Calibri" pitchFamily="34" charset="0"/>
                <a:ea typeface="Calibri" pitchFamily="34" charset="-122"/>
                <a:cs typeface="Calibri" pitchFamily="34" charset="-120"/>
              </a:rPr>
              <a:t>Detection vs effect size: Spearman ρ = −0.60 (p = 2.7×10⁻⁵, n = 42)</a:t>
            </a:r>
            <a:endParaRPr lang="en-US" sz="1200" dirty="0"/>
          </a:p>
          <a:p>
            <a:pPr marL="177800" indent="-177800">
              <a:lnSpc>
                <a:spcPts val="2000"/>
              </a:lnSpc>
              <a:spcAft>
                <a:spcPts val="300"/>
              </a:spcAft>
              <a:buSzPct val="100000"/>
              <a:buChar char="•"/>
            </a:pPr>
            <a:r>
              <a:rPr lang="en-US" sz="1200" dirty="0">
                <a:solidFill>
                  <a:srgbClr val="16202C"/>
                </a:solidFill>
                <a:latin typeface="Calibri" pitchFamily="34" charset="0"/>
                <a:ea typeface="Calibri" pitchFamily="34" charset="-122"/>
                <a:cs typeface="Calibri" pitchFamily="34" charset="-120"/>
              </a:rPr>
              <a:t>8 of 50 genes have no deletion result — undetected, so undefined, not zero</a:t>
            </a:r>
            <a:endParaRPr lang="en-US" sz="1200" dirty="0"/>
          </a:p>
          <a:p>
            <a:pPr marL="177800" indent="-177800">
              <a:lnSpc>
                <a:spcPts val="2000"/>
              </a:lnSpc>
              <a:spcAft>
                <a:spcPts val="300"/>
              </a:spcAft>
              <a:buSzPct val="100000"/>
              <a:buChar char="•"/>
            </a:pPr>
            <a:r>
              <a:rPr lang="en-US" sz="1200" dirty="0">
                <a:solidFill>
                  <a:srgbClr val="16202C"/>
                </a:solidFill>
                <a:latin typeface="Calibri" pitchFamily="34" charset="0"/>
                <a:ea typeface="Calibri" pitchFamily="34" charset="-122"/>
                <a:cs typeface="Calibri" pitchFamily="34" charset="-120"/>
              </a:rPr>
              <a:t>18 of 50 fall below 100 detected SCLC source cells</a:t>
            </a:r>
            <a:endParaRPr lang="en-US" sz="1200" dirty="0"/>
          </a:p>
          <a:p>
            <a:pPr marL="177800" indent="-177800">
              <a:lnSpc>
                <a:spcPts val="2000"/>
              </a:lnSpc>
              <a:spcAft>
                <a:spcPts val="300"/>
              </a:spcAft>
              <a:buSzPct val="100000"/>
              <a:buChar char="•"/>
            </a:pPr>
            <a:r>
              <a:rPr lang="en-US" sz="1200" dirty="0">
                <a:solidFill>
                  <a:srgbClr val="16202C"/>
                </a:solidFill>
                <a:latin typeface="Calibri" pitchFamily="34" charset="0"/>
                <a:ea typeface="Calibri" pitchFamily="34" charset="-122"/>
                <a:cs typeface="Calibri" pitchFamily="34" charset="-120"/>
              </a:rPr>
              <a:t>Effect size alone is not evidence — which is why slide 6 ranked on replication</a:t>
            </a:r>
            <a:endParaRPr lang="en-US" sz="1200" dirty="0"/>
          </a:p>
        </p:txBody>
      </p:sp>
      <p:sp>
        <p:nvSpPr>
          <p:cNvPr id="9" name="Shape 6"/>
          <p:cNvSpPr/>
          <p:nvPr/>
        </p:nvSpPr>
        <p:spPr>
          <a:xfrm>
            <a:off x="7315200" y="1600200"/>
            <a:ext cx="4327855" cy="4617720"/>
          </a:xfrm>
          <a:prstGeom prst="roundRect">
            <a:avLst>
              <a:gd name="adj" fmla="val 1268"/>
            </a:avLst>
          </a:prstGeom>
          <a:solidFill>
            <a:srgbClr val="FDF0F3"/>
          </a:solidFill>
          <a:ln w="9525">
            <a:solidFill>
              <a:srgbClr val="D5DEE7"/>
            </a:solidFill>
            <a:prstDash val="solid"/>
          </a:ln>
        </p:spPr>
      </p:sp>
      <p:sp>
        <p:nvSpPr>
          <p:cNvPr id="10" name="Text 7"/>
          <p:cNvSpPr/>
          <p:nvPr/>
        </p:nvSpPr>
        <p:spPr>
          <a:xfrm>
            <a:off x="7571232" y="1783080"/>
            <a:ext cx="3815791" cy="292608"/>
          </a:xfrm>
          <a:prstGeom prst="rect">
            <a:avLst/>
          </a:prstGeom>
          <a:noFill/>
          <a:ln/>
        </p:spPr>
        <p:txBody>
          <a:bodyPr wrap="square" lIns="0" tIns="0" rIns="0" bIns="0" rtlCol="0" anchor="ctr"/>
          <a:lstStyle/>
          <a:p>
            <a:pPr indent="0" marL="0">
              <a:buNone/>
            </a:pPr>
            <a:r>
              <a:rPr lang="en-US" sz="1200" b="1" spc="160" kern="0" dirty="0">
                <a:solidFill>
                  <a:srgbClr val="B8465E"/>
                </a:solidFill>
                <a:latin typeface="Calibri" pitchFamily="34" charset="0"/>
                <a:ea typeface="Calibri" pitchFamily="34" charset="-122"/>
                <a:cs typeface="Calibri" pitchFamily="34" charset="-120"/>
              </a:rPr>
              <a:t>OPEN QUESTION</a:t>
            </a:r>
            <a:endParaRPr lang="en-US" sz="1200" dirty="0"/>
          </a:p>
        </p:txBody>
      </p:sp>
      <p:sp>
        <p:nvSpPr>
          <p:cNvPr id="11" name="Text 8"/>
          <p:cNvSpPr/>
          <p:nvPr/>
        </p:nvSpPr>
        <p:spPr>
          <a:xfrm>
            <a:off x="7571232" y="2121408"/>
            <a:ext cx="3815791" cy="292608"/>
          </a:xfrm>
          <a:prstGeom prst="rect">
            <a:avLst/>
          </a:prstGeom>
          <a:noFill/>
          <a:ln/>
        </p:spPr>
        <p:txBody>
          <a:bodyPr wrap="square" lIns="0" tIns="0" rIns="0" bIns="0" rtlCol="0" anchor="ctr"/>
          <a:lstStyle/>
          <a:p>
            <a:pPr indent="0" marL="0">
              <a:buNone/>
            </a:pPr>
            <a:r>
              <a:rPr lang="en-US" sz="1300" dirty="0">
                <a:solidFill>
                  <a:srgbClr val="16202C"/>
                </a:solidFill>
                <a:latin typeface="Calibri" pitchFamily="34" charset="0"/>
                <a:ea typeface="Calibri" pitchFamily="34" charset="-122"/>
                <a:cs typeface="Calibri" pitchFamily="34" charset="-120"/>
              </a:rPr>
              <a:t>The model orders the exhaustion axis</a:t>
            </a:r>
            <a:endParaRPr lang="en-US" sz="1300" dirty="0"/>
          </a:p>
        </p:txBody>
      </p:sp>
      <p:sp>
        <p:nvSpPr>
          <p:cNvPr id="12" name="Shape 9"/>
          <p:cNvSpPr/>
          <p:nvPr/>
        </p:nvSpPr>
        <p:spPr>
          <a:xfrm>
            <a:off x="7726680" y="2834640"/>
            <a:ext cx="3504895" cy="0"/>
          </a:xfrm>
          <a:prstGeom prst="line">
            <a:avLst/>
          </a:prstGeom>
          <a:noFill/>
          <a:ln w="22225">
            <a:solidFill>
              <a:srgbClr val="10243C"/>
            </a:solidFill>
            <a:prstDash val="solid"/>
          </a:ln>
        </p:spPr>
      </p:sp>
      <p:sp>
        <p:nvSpPr>
          <p:cNvPr id="13" name="Shape 10"/>
          <p:cNvSpPr/>
          <p:nvPr/>
        </p:nvSpPr>
        <p:spPr>
          <a:xfrm>
            <a:off x="7644384" y="2752344"/>
            <a:ext cx="164592" cy="164592"/>
          </a:xfrm>
          <a:prstGeom prst="ellipse">
            <a:avLst/>
          </a:prstGeom>
          <a:solidFill>
            <a:srgbClr val="10243C"/>
          </a:solidFill>
          <a:ln w="12700">
            <a:solidFill>
              <a:srgbClr val="FFFFFF"/>
            </a:solidFill>
            <a:prstDash val="solid"/>
          </a:ln>
        </p:spPr>
      </p:sp>
      <p:sp>
        <p:nvSpPr>
          <p:cNvPr id="14" name="Text 11"/>
          <p:cNvSpPr/>
          <p:nvPr/>
        </p:nvSpPr>
        <p:spPr>
          <a:xfrm>
            <a:off x="7178040" y="2980944"/>
            <a:ext cx="1097280" cy="256032"/>
          </a:xfrm>
          <a:prstGeom prst="rect">
            <a:avLst/>
          </a:prstGeom>
          <a:noFill/>
          <a:ln/>
        </p:spPr>
        <p:txBody>
          <a:bodyPr wrap="square" lIns="0" tIns="0" rIns="0" bIns="0" rtlCol="0" anchor="ctr"/>
          <a:lstStyle/>
          <a:p>
            <a:pPr algn="ctr" indent="0" marL="0">
              <a:buNone/>
            </a:pPr>
            <a:r>
              <a:rPr lang="en-US" sz="1150" dirty="0">
                <a:solidFill>
                  <a:srgbClr val="4A5768"/>
                </a:solidFill>
                <a:latin typeface="Calibri" pitchFamily="34" charset="0"/>
                <a:ea typeface="Calibri" pitchFamily="34" charset="-122"/>
                <a:cs typeface="Calibri" pitchFamily="34" charset="-120"/>
              </a:rPr>
              <a:t>Normal</a:t>
            </a:r>
            <a:endParaRPr lang="en-US" sz="1150" dirty="0"/>
          </a:p>
        </p:txBody>
      </p:sp>
      <p:sp>
        <p:nvSpPr>
          <p:cNvPr id="15" name="Shape 12"/>
          <p:cNvSpPr/>
          <p:nvPr/>
        </p:nvSpPr>
        <p:spPr>
          <a:xfrm>
            <a:off x="9396832" y="2752344"/>
            <a:ext cx="164592" cy="164592"/>
          </a:xfrm>
          <a:prstGeom prst="ellipse">
            <a:avLst/>
          </a:prstGeom>
          <a:solidFill>
            <a:srgbClr val="B8465E"/>
          </a:solidFill>
          <a:ln w="12700">
            <a:solidFill>
              <a:srgbClr val="FFFFFF"/>
            </a:solidFill>
            <a:prstDash val="solid"/>
          </a:ln>
        </p:spPr>
      </p:sp>
      <p:sp>
        <p:nvSpPr>
          <p:cNvPr id="16" name="Text 13"/>
          <p:cNvSpPr/>
          <p:nvPr/>
        </p:nvSpPr>
        <p:spPr>
          <a:xfrm>
            <a:off x="8930488" y="2980944"/>
            <a:ext cx="1097280" cy="256032"/>
          </a:xfrm>
          <a:prstGeom prst="rect">
            <a:avLst/>
          </a:prstGeom>
          <a:noFill/>
          <a:ln/>
        </p:spPr>
        <p:txBody>
          <a:bodyPr wrap="square" lIns="0" tIns="0" rIns="0" bIns="0" rtlCol="0" anchor="ctr"/>
          <a:lstStyle/>
          <a:p>
            <a:pPr algn="ctr" indent="0" marL="0">
              <a:buNone/>
            </a:pPr>
            <a:r>
              <a:rPr lang="en-US" sz="1150" b="1" dirty="0">
                <a:solidFill>
                  <a:srgbClr val="B8465E"/>
                </a:solidFill>
                <a:latin typeface="Calibri" pitchFamily="34" charset="0"/>
                <a:ea typeface="Calibri" pitchFamily="34" charset="-122"/>
                <a:cs typeface="Calibri" pitchFamily="34" charset="-120"/>
              </a:rPr>
              <a:t>SCLC</a:t>
            </a:r>
            <a:endParaRPr lang="en-US" sz="1150" dirty="0"/>
          </a:p>
        </p:txBody>
      </p:sp>
      <p:sp>
        <p:nvSpPr>
          <p:cNvPr id="17" name="Shape 14"/>
          <p:cNvSpPr/>
          <p:nvPr/>
        </p:nvSpPr>
        <p:spPr>
          <a:xfrm>
            <a:off x="11149279" y="2752344"/>
            <a:ext cx="164592" cy="164592"/>
          </a:xfrm>
          <a:prstGeom prst="ellipse">
            <a:avLst/>
          </a:prstGeom>
          <a:solidFill>
            <a:srgbClr val="10243C"/>
          </a:solidFill>
          <a:ln w="12700">
            <a:solidFill>
              <a:srgbClr val="FFFFFF"/>
            </a:solidFill>
            <a:prstDash val="solid"/>
          </a:ln>
        </p:spPr>
      </p:sp>
      <p:sp>
        <p:nvSpPr>
          <p:cNvPr id="18" name="Text 15"/>
          <p:cNvSpPr/>
          <p:nvPr/>
        </p:nvSpPr>
        <p:spPr>
          <a:xfrm>
            <a:off x="10682935" y="2980944"/>
            <a:ext cx="1097280" cy="256032"/>
          </a:xfrm>
          <a:prstGeom prst="rect">
            <a:avLst/>
          </a:prstGeom>
          <a:noFill/>
          <a:ln/>
        </p:spPr>
        <p:txBody>
          <a:bodyPr wrap="square" lIns="0" tIns="0" rIns="0" bIns="0" rtlCol="0" anchor="ctr"/>
          <a:lstStyle/>
          <a:p>
            <a:pPr algn="ctr" indent="0" marL="0">
              <a:buNone/>
            </a:pPr>
            <a:r>
              <a:rPr lang="en-US" sz="1150" dirty="0">
                <a:solidFill>
                  <a:srgbClr val="4A5768"/>
                </a:solidFill>
                <a:latin typeface="Calibri" pitchFamily="34" charset="0"/>
                <a:ea typeface="Calibri" pitchFamily="34" charset="-122"/>
                <a:cs typeface="Calibri" pitchFamily="34" charset="-120"/>
              </a:rPr>
              <a:t>LUAD</a:t>
            </a:r>
            <a:endParaRPr lang="en-US" sz="1150" dirty="0"/>
          </a:p>
        </p:txBody>
      </p:sp>
      <p:sp>
        <p:nvSpPr>
          <p:cNvPr id="19" name="Text 16"/>
          <p:cNvSpPr/>
          <p:nvPr/>
        </p:nvSpPr>
        <p:spPr>
          <a:xfrm>
            <a:off x="7571232" y="3429000"/>
            <a:ext cx="3815791" cy="868680"/>
          </a:xfrm>
          <a:prstGeom prst="rect">
            <a:avLst/>
          </a:prstGeom>
          <a:noFill/>
          <a:ln/>
        </p:spPr>
        <p:txBody>
          <a:bodyPr wrap="square" lIns="0" tIns="0" rIns="0" bIns="0" rtlCol="0" anchor="t"/>
          <a:lstStyle/>
          <a:p>
            <a:pPr indent="0" marL="0">
              <a:buNone/>
            </a:pPr>
            <a:r>
              <a:rPr lang="en-US" sz="1250" dirty="0">
                <a:solidFill>
                  <a:srgbClr val="16202C"/>
                </a:solidFill>
                <a:latin typeface="Calibri" pitchFamily="34" charset="0"/>
                <a:ea typeface="Calibri" pitchFamily="34" charset="-122"/>
                <a:cs typeface="Calibri" pitchFamily="34" charset="-120"/>
              </a:rPr>
              <a:t>TIGIT overexpression moves SCLC cells away from Normal (−0.0082) but toward LUAD (+0.0256).</a:t>
            </a:r>
            <a:endParaRPr lang="en-US" sz="1250" dirty="0"/>
          </a:p>
        </p:txBody>
      </p:sp>
      <p:sp>
        <p:nvSpPr>
          <p:cNvPr id="20" name="Shape 17"/>
          <p:cNvSpPr/>
          <p:nvPr/>
        </p:nvSpPr>
        <p:spPr>
          <a:xfrm>
            <a:off x="7571232" y="4343400"/>
            <a:ext cx="3815791" cy="658368"/>
          </a:xfrm>
          <a:prstGeom prst="roundRect">
            <a:avLst>
              <a:gd name="adj" fmla="val 8333"/>
            </a:avLst>
          </a:prstGeom>
          <a:solidFill>
            <a:srgbClr val="FFFFFF"/>
          </a:solidFill>
          <a:ln w="9525">
            <a:solidFill>
              <a:srgbClr val="D5DEE7"/>
            </a:solidFill>
            <a:prstDash val="solid"/>
          </a:ln>
        </p:spPr>
      </p:sp>
      <p:sp>
        <p:nvSpPr>
          <p:cNvPr id="21" name="Text 18"/>
          <p:cNvSpPr/>
          <p:nvPr/>
        </p:nvSpPr>
        <p:spPr>
          <a:xfrm>
            <a:off x="7699248" y="4343400"/>
            <a:ext cx="3559759" cy="658368"/>
          </a:xfrm>
          <a:prstGeom prst="rect">
            <a:avLst/>
          </a:prstGeom>
          <a:noFill/>
          <a:ln/>
        </p:spPr>
        <p:txBody>
          <a:bodyPr wrap="square" lIns="0" tIns="0" rIns="0" bIns="0" rtlCol="0" anchor="ctr"/>
          <a:lstStyle/>
          <a:p>
            <a:pPr indent="0" marL="0">
              <a:buNone/>
            </a:pPr>
            <a:r>
              <a:rPr lang="en-US" sz="1200" b="1" dirty="0">
                <a:solidFill>
                  <a:srgbClr val="0B6F6A"/>
                </a:solidFill>
                <a:latin typeface="Calibri" pitchFamily="34" charset="0"/>
                <a:ea typeface="Calibri" pitchFamily="34" charset="-122"/>
                <a:cs typeface="Calibri" pitchFamily="34" charset="-120"/>
              </a:rPr>
              <a:t>Model axis: T-cell intrinsic</a:t>
            </a:r>
            <a:endParaRPr lang="en-US" sz="1200" dirty="0"/>
          </a:p>
        </p:txBody>
      </p:sp>
      <p:sp>
        <p:nvSpPr>
          <p:cNvPr id="22" name="Shape 19"/>
          <p:cNvSpPr/>
          <p:nvPr/>
        </p:nvSpPr>
        <p:spPr>
          <a:xfrm>
            <a:off x="7571232" y="5074920"/>
            <a:ext cx="3815791" cy="658368"/>
          </a:xfrm>
          <a:prstGeom prst="roundRect">
            <a:avLst>
              <a:gd name="adj" fmla="val 8333"/>
            </a:avLst>
          </a:prstGeom>
          <a:solidFill>
            <a:srgbClr val="FFFFFF"/>
          </a:solidFill>
          <a:ln w="9525">
            <a:solidFill>
              <a:srgbClr val="D5DEE7"/>
            </a:solidFill>
            <a:prstDash val="solid"/>
          </a:ln>
        </p:spPr>
      </p:sp>
      <p:sp>
        <p:nvSpPr>
          <p:cNvPr id="23" name="Text 20"/>
          <p:cNvSpPr/>
          <p:nvPr/>
        </p:nvSpPr>
        <p:spPr>
          <a:xfrm>
            <a:off x="7699248" y="5074920"/>
            <a:ext cx="3559759" cy="658368"/>
          </a:xfrm>
          <a:prstGeom prst="rect">
            <a:avLst/>
          </a:prstGeom>
          <a:noFill/>
          <a:ln/>
        </p:spPr>
        <p:txBody>
          <a:bodyPr wrap="square" lIns="0" tIns="0" rIns="0" bIns="0" rtlCol="0" anchor="ctr"/>
          <a:lstStyle/>
          <a:p>
            <a:pPr indent="0" marL="0">
              <a:buNone/>
            </a:pPr>
            <a:r>
              <a:rPr lang="en-US" sz="1200" b="1" dirty="0">
                <a:solidFill>
                  <a:srgbClr val="B8465E"/>
                </a:solidFill>
                <a:latin typeface="Calibri" pitchFamily="34" charset="0"/>
                <a:ea typeface="Calibri" pitchFamily="34" charset="-122"/>
                <a:cs typeface="Calibri" pitchFamily="34" charset="-120"/>
              </a:rPr>
              <a:t>Clinic: tumour level — SCLC cold, ICI-resistant</a:t>
            </a:r>
            <a:endParaRPr lang="en-US" sz="1200" dirty="0"/>
          </a:p>
        </p:txBody>
      </p:sp>
      <p:sp>
        <p:nvSpPr>
          <p:cNvPr id="24" name="Text 21"/>
          <p:cNvSpPr/>
          <p:nvPr/>
        </p:nvSpPr>
        <p:spPr>
          <a:xfrm>
            <a:off x="7571232" y="5742432"/>
            <a:ext cx="3815791" cy="438912"/>
          </a:xfrm>
          <a:prstGeom prst="rect">
            <a:avLst/>
          </a:prstGeom>
          <a:noFill/>
          <a:ln/>
        </p:spPr>
        <p:txBody>
          <a:bodyPr wrap="square" lIns="0" tIns="0" rIns="0" bIns="0" rtlCol="0" anchor="t"/>
          <a:lstStyle/>
          <a:p>
            <a:pPr indent="0" marL="0">
              <a:buNone/>
            </a:pPr>
            <a:r>
              <a:rPr lang="en-US" sz="1100" i="1" dirty="0">
                <a:solidFill>
                  <a:srgbClr val="4A5768"/>
                </a:solidFill>
                <a:latin typeface="Calibri" pitchFamily="34" charset="0"/>
                <a:ea typeface="Calibri" pitchFamily="34" charset="-122"/>
                <a:cs typeface="Calibri" pitchFamily="34" charset="-120"/>
              </a:rPr>
              <a:t>Not the same measurement. Presented as an open question, not a reconciled result.</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91440"/>
            <a:ext cx="11094415" cy="201168"/>
          </a:xfrm>
          <a:prstGeom prst="rect">
            <a:avLst/>
          </a:prstGeom>
          <a:noFill/>
          <a:ln/>
        </p:spPr>
        <p:txBody>
          <a:bodyPr wrap="square" lIns="0" tIns="0" rIns="0" bIns="0" rtlCol="0" anchor="ctr"/>
          <a:lstStyle/>
          <a:p>
            <a:pPr indent="0" marL="0">
              <a:buNone/>
            </a:pPr>
            <a:r>
              <a:rPr lang="en-US" sz="1100" b="1" spc="160" kern="0" dirty="0">
                <a:solidFill>
                  <a:srgbClr val="0B6F6A"/>
                </a:solidFill>
                <a:latin typeface="Calibri" pitchFamily="34" charset="0"/>
                <a:ea typeface="Calibri" pitchFamily="34" charset="-122"/>
                <a:cs typeface="Calibri" pitchFamily="34" charset="-120"/>
              </a:rPr>
              <a:t>TRANSLATIONAL SCOPE</a:t>
            </a:r>
            <a:endParaRPr lang="en-US" sz="1100" dirty="0"/>
          </a:p>
        </p:txBody>
      </p:sp>
      <p:sp>
        <p:nvSpPr>
          <p:cNvPr id="3" name="Text 1"/>
          <p:cNvSpPr/>
          <p:nvPr/>
        </p:nvSpPr>
        <p:spPr>
          <a:xfrm>
            <a:off x="548640" y="329184"/>
            <a:ext cx="11094415" cy="1051560"/>
          </a:xfrm>
          <a:prstGeom prst="rect">
            <a:avLst/>
          </a:prstGeom>
          <a:noFill/>
          <a:ln/>
        </p:spPr>
        <p:txBody>
          <a:bodyPr wrap="square" lIns="0" tIns="0" rIns="0" bIns="0" rtlCol="0" anchor="t"/>
          <a:lstStyle/>
          <a:p>
            <a:pPr algn="l" indent="0" marL="0">
              <a:buNone/>
            </a:pPr>
            <a:r>
              <a:rPr lang="en-US" sz="2700" b="1" dirty="0">
                <a:solidFill>
                  <a:srgbClr val="10243C"/>
                </a:solidFill>
                <a:latin typeface="Cambria" pitchFamily="34" charset="0"/>
                <a:ea typeface="Cambria" pitchFamily="34" charset="-122"/>
                <a:cs typeface="Cambria" pitchFamily="34" charset="-120"/>
              </a:rPr>
              <a:t>Two of the four hits are live CAR-T engineering targets — the tumour antigens are out of reach here</a:t>
            </a:r>
            <a:endParaRPr lang="en-US" sz="2700" dirty="0"/>
          </a:p>
        </p:txBody>
      </p:sp>
      <p:sp>
        <p:nvSpPr>
          <p:cNvPr id="4" name="Text 2"/>
          <p:cNvSpPr/>
          <p:nvPr/>
        </p:nvSpPr>
        <p:spPr>
          <a:xfrm>
            <a:off x="548640" y="6419088"/>
            <a:ext cx="7315200" cy="256032"/>
          </a:xfrm>
          <a:prstGeom prst="rect">
            <a:avLst/>
          </a:prstGeom>
          <a:noFill/>
          <a:ln/>
        </p:spPr>
        <p:txBody>
          <a:bodyPr wrap="square" lIns="0" tIns="0" rIns="0" bIns="0" rtlCol="0" anchor="ctr"/>
          <a:lstStyle/>
          <a:p>
            <a:pPr indent="0" marL="0">
              <a:buNone/>
            </a:pPr>
            <a:r>
              <a:rPr lang="en-US" sz="950" dirty="0">
                <a:solidFill>
                  <a:srgbClr val="7A8798"/>
                </a:solidFill>
                <a:latin typeface="Calibri" pitchFamily="34" charset="0"/>
                <a:ea typeface="Calibri" pitchFamily="34" charset="-122"/>
                <a:cs typeface="Calibri" pitchFamily="34" charset="-120"/>
              </a:rPr>
              <a:t>CAR-T relevance and design scope</a:t>
            </a:r>
            <a:endParaRPr lang="en-US" sz="950" dirty="0"/>
          </a:p>
        </p:txBody>
      </p:sp>
      <p:sp>
        <p:nvSpPr>
          <p:cNvPr id="5" name="Text 3"/>
          <p:cNvSpPr/>
          <p:nvPr/>
        </p:nvSpPr>
        <p:spPr>
          <a:xfrm>
            <a:off x="11002975" y="6419088"/>
            <a:ext cx="640080" cy="256032"/>
          </a:xfrm>
          <a:prstGeom prst="rect">
            <a:avLst/>
          </a:prstGeom>
          <a:noFill/>
          <a:ln/>
        </p:spPr>
        <p:txBody>
          <a:bodyPr wrap="square" lIns="0" tIns="0" rIns="0" bIns="0" rtlCol="0" anchor="ctr"/>
          <a:lstStyle/>
          <a:p>
            <a:pPr algn="r" indent="0" marL="0">
              <a:buNone/>
            </a:pPr>
            <a:r>
              <a:rPr lang="en-US" sz="950" dirty="0">
                <a:solidFill>
                  <a:srgbClr val="7A8798"/>
                </a:solidFill>
                <a:latin typeface="Calibri" pitchFamily="34" charset="0"/>
                <a:ea typeface="Calibri" pitchFamily="34" charset="-122"/>
                <a:cs typeface="Calibri" pitchFamily="34" charset="-120"/>
              </a:rPr>
              <a:t>8</a:t>
            </a:r>
            <a:endParaRPr lang="en-US" sz="950" dirty="0"/>
          </a:p>
        </p:txBody>
      </p:sp>
      <p:sp>
        <p:nvSpPr>
          <p:cNvPr id="6" name="Text 4"/>
          <p:cNvSpPr/>
          <p:nvPr/>
        </p:nvSpPr>
        <p:spPr>
          <a:xfrm>
            <a:off x="548640" y="1508760"/>
            <a:ext cx="5760720" cy="292608"/>
          </a:xfrm>
          <a:prstGeom prst="rect">
            <a:avLst/>
          </a:prstGeom>
          <a:noFill/>
          <a:ln/>
        </p:spPr>
        <p:txBody>
          <a:bodyPr wrap="square" lIns="0" tIns="0" rIns="0" bIns="0" rtlCol="0" anchor="ctr"/>
          <a:lstStyle/>
          <a:p>
            <a:pPr indent="0" marL="0">
              <a:buNone/>
            </a:pPr>
            <a:r>
              <a:rPr lang="en-US" sz="1400" b="1" dirty="0">
                <a:solidFill>
                  <a:srgbClr val="10243C"/>
                </a:solidFill>
                <a:latin typeface="Calibri" pitchFamily="34" charset="0"/>
                <a:ea typeface="Calibri" pitchFamily="34" charset="-122"/>
                <a:cs typeface="Calibri" pitchFamily="34" charset="-120"/>
              </a:rPr>
              <a:t>How interpretable is each hit?</a:t>
            </a:r>
            <a:endParaRPr lang="en-US" sz="1400" dirty="0"/>
          </a:p>
        </p:txBody>
      </p:sp>
      <p:sp>
        <p:nvSpPr>
          <p:cNvPr id="7" name="Shape 5"/>
          <p:cNvSpPr/>
          <p:nvPr/>
        </p:nvSpPr>
        <p:spPr>
          <a:xfrm>
            <a:off x="548640" y="1901952"/>
            <a:ext cx="5760720" cy="932688"/>
          </a:xfrm>
          <a:prstGeom prst="roundRect">
            <a:avLst>
              <a:gd name="adj" fmla="val 5882"/>
            </a:avLst>
          </a:prstGeom>
          <a:solidFill>
            <a:srgbClr val="FFFFFF"/>
          </a:solidFill>
          <a:ln w="9525">
            <a:solidFill>
              <a:srgbClr val="D5DEE7"/>
            </a:solidFill>
            <a:prstDash val="solid"/>
          </a:ln>
        </p:spPr>
      </p:sp>
      <p:sp>
        <p:nvSpPr>
          <p:cNvPr id="8" name="Shape 6"/>
          <p:cNvSpPr/>
          <p:nvPr/>
        </p:nvSpPr>
        <p:spPr>
          <a:xfrm>
            <a:off x="749808" y="2167128"/>
            <a:ext cx="402336" cy="402336"/>
          </a:xfrm>
          <a:prstGeom prst="ellipse">
            <a:avLst/>
          </a:prstGeom>
          <a:solidFill>
            <a:srgbClr val="0B6F6A"/>
          </a:solidFill>
          <a:ln w="12700">
            <a:solidFill>
              <a:srgbClr val="0B6F6A"/>
            </a:solidFill>
            <a:prstDash val="solid"/>
          </a:ln>
        </p:spPr>
      </p:sp>
      <p:sp>
        <p:nvSpPr>
          <p:cNvPr id="9" name="Text 7"/>
          <p:cNvSpPr/>
          <p:nvPr/>
        </p:nvSpPr>
        <p:spPr>
          <a:xfrm>
            <a:off x="1298448" y="2011680"/>
            <a:ext cx="2880360" cy="320040"/>
          </a:xfrm>
          <a:prstGeom prst="rect">
            <a:avLst/>
          </a:prstGeom>
          <a:noFill/>
          <a:ln/>
        </p:spPr>
        <p:txBody>
          <a:bodyPr wrap="square" lIns="0" tIns="0" rIns="0" bIns="0" rtlCol="0" anchor="ctr"/>
          <a:lstStyle/>
          <a:p>
            <a:pPr indent="0" marL="0">
              <a:buNone/>
            </a:pPr>
            <a:r>
              <a:rPr lang="en-US" sz="1500" b="1" dirty="0">
                <a:solidFill>
                  <a:srgbClr val="10243C"/>
                </a:solidFill>
                <a:latin typeface="Cambria" pitchFamily="34" charset="0"/>
                <a:ea typeface="Cambria" pitchFamily="34" charset="-122"/>
                <a:cs typeface="Cambria" pitchFamily="34" charset="-120"/>
              </a:rPr>
              <a:t>TIGIT</a:t>
            </a:r>
            <a:endParaRPr lang="en-US" sz="1500" dirty="0"/>
          </a:p>
        </p:txBody>
      </p:sp>
      <p:sp>
        <p:nvSpPr>
          <p:cNvPr id="10" name="Text 8"/>
          <p:cNvSpPr/>
          <p:nvPr/>
        </p:nvSpPr>
        <p:spPr>
          <a:xfrm>
            <a:off x="1298448" y="2331720"/>
            <a:ext cx="4754880" cy="384048"/>
          </a:xfrm>
          <a:prstGeom prst="rect">
            <a:avLst/>
          </a:prstGeom>
          <a:noFill/>
          <a:ln/>
        </p:spPr>
        <p:txBody>
          <a:bodyPr wrap="square" lIns="0" tIns="0" rIns="0" bIns="0" rtlCol="0" anchor="t"/>
          <a:lstStyle/>
          <a:p>
            <a:pPr indent="0" marL="0">
              <a:buNone/>
            </a:pPr>
            <a:r>
              <a:rPr lang="en-US" sz="1150" dirty="0">
                <a:solidFill>
                  <a:srgbClr val="4A5768"/>
                </a:solidFill>
                <a:latin typeface="Calibri" pitchFamily="34" charset="0"/>
                <a:ea typeface="Calibri" pitchFamily="34" charset="-122"/>
                <a:cs typeface="Calibri" pitchFamily="34" charset="-120"/>
              </a:rPr>
              <a:t>Strongest external CAR-T support</a:t>
            </a:r>
            <a:endParaRPr lang="en-US" sz="1150" dirty="0"/>
          </a:p>
        </p:txBody>
      </p:sp>
      <p:sp>
        <p:nvSpPr>
          <p:cNvPr id="11" name="Text 9"/>
          <p:cNvSpPr/>
          <p:nvPr/>
        </p:nvSpPr>
        <p:spPr>
          <a:xfrm>
            <a:off x="4434840" y="2011680"/>
            <a:ext cx="1691640" cy="292608"/>
          </a:xfrm>
          <a:prstGeom prst="rect">
            <a:avLst/>
          </a:prstGeom>
          <a:noFill/>
          <a:ln/>
        </p:spPr>
        <p:txBody>
          <a:bodyPr wrap="square" lIns="0" tIns="0" rIns="0" bIns="0" rtlCol="0" anchor="ctr"/>
          <a:lstStyle/>
          <a:p>
            <a:pPr algn="r" indent="0" marL="0">
              <a:buNone/>
            </a:pPr>
            <a:r>
              <a:rPr lang="en-US" sz="950" dirty="0">
                <a:solidFill>
                  <a:srgbClr val="0B6F6A"/>
                </a:solidFill>
                <a:latin typeface="Calibri" pitchFamily="34" charset="0"/>
                <a:ea typeface="Calibri" pitchFamily="34" charset="-122"/>
                <a:cs typeface="Calibri" pitchFamily="34" charset="-120"/>
              </a:rPr>
              <a:t>Exhaustion checkpoint</a:t>
            </a:r>
            <a:endParaRPr lang="en-US" sz="950" dirty="0"/>
          </a:p>
        </p:txBody>
      </p:sp>
      <p:sp>
        <p:nvSpPr>
          <p:cNvPr id="12" name="Shape 10"/>
          <p:cNvSpPr/>
          <p:nvPr/>
        </p:nvSpPr>
        <p:spPr>
          <a:xfrm>
            <a:off x="548640" y="2926080"/>
            <a:ext cx="5760720" cy="932688"/>
          </a:xfrm>
          <a:prstGeom prst="roundRect">
            <a:avLst>
              <a:gd name="adj" fmla="val 5882"/>
            </a:avLst>
          </a:prstGeom>
          <a:solidFill>
            <a:srgbClr val="FFFFFF"/>
          </a:solidFill>
          <a:ln w="9525">
            <a:solidFill>
              <a:srgbClr val="D5DEE7"/>
            </a:solidFill>
            <a:prstDash val="solid"/>
          </a:ln>
        </p:spPr>
      </p:sp>
      <p:sp>
        <p:nvSpPr>
          <p:cNvPr id="13" name="Shape 11"/>
          <p:cNvSpPr/>
          <p:nvPr/>
        </p:nvSpPr>
        <p:spPr>
          <a:xfrm>
            <a:off x="749808" y="3191256"/>
            <a:ext cx="402336" cy="402336"/>
          </a:xfrm>
          <a:prstGeom prst="ellipse">
            <a:avLst/>
          </a:prstGeom>
          <a:solidFill>
            <a:srgbClr val="0B6F6A"/>
          </a:solidFill>
          <a:ln w="12700">
            <a:solidFill>
              <a:srgbClr val="0B6F6A"/>
            </a:solidFill>
            <a:prstDash val="solid"/>
          </a:ln>
        </p:spPr>
      </p:sp>
      <p:sp>
        <p:nvSpPr>
          <p:cNvPr id="14" name="Text 12"/>
          <p:cNvSpPr/>
          <p:nvPr/>
        </p:nvSpPr>
        <p:spPr>
          <a:xfrm>
            <a:off x="1298448" y="3035808"/>
            <a:ext cx="2880360" cy="320040"/>
          </a:xfrm>
          <a:prstGeom prst="rect">
            <a:avLst/>
          </a:prstGeom>
          <a:noFill/>
          <a:ln/>
        </p:spPr>
        <p:txBody>
          <a:bodyPr wrap="square" lIns="0" tIns="0" rIns="0" bIns="0" rtlCol="0" anchor="ctr"/>
          <a:lstStyle/>
          <a:p>
            <a:pPr indent="0" marL="0">
              <a:buNone/>
            </a:pPr>
            <a:r>
              <a:rPr lang="en-US" sz="1500" b="1" dirty="0">
                <a:solidFill>
                  <a:srgbClr val="10243C"/>
                </a:solidFill>
                <a:latin typeface="Cambria" pitchFamily="34" charset="0"/>
                <a:ea typeface="Cambria" pitchFamily="34" charset="-122"/>
                <a:cs typeface="Cambria" pitchFamily="34" charset="-120"/>
              </a:rPr>
              <a:t>TIM-3 (HAVCR2)</a:t>
            </a:r>
            <a:endParaRPr lang="en-US" sz="1500" dirty="0"/>
          </a:p>
        </p:txBody>
      </p:sp>
      <p:sp>
        <p:nvSpPr>
          <p:cNvPr id="15" name="Text 13"/>
          <p:cNvSpPr/>
          <p:nvPr/>
        </p:nvSpPr>
        <p:spPr>
          <a:xfrm>
            <a:off x="1298448" y="3355848"/>
            <a:ext cx="4754880" cy="384048"/>
          </a:xfrm>
          <a:prstGeom prst="rect">
            <a:avLst/>
          </a:prstGeom>
          <a:noFill/>
          <a:ln/>
        </p:spPr>
        <p:txBody>
          <a:bodyPr wrap="square" lIns="0" tIns="0" rIns="0" bIns="0" rtlCol="0" anchor="t"/>
          <a:lstStyle/>
          <a:p>
            <a:pPr indent="0" marL="0">
              <a:buNone/>
            </a:pPr>
            <a:r>
              <a:rPr lang="en-US" sz="1150" dirty="0">
                <a:solidFill>
                  <a:srgbClr val="4A5768"/>
                </a:solidFill>
                <a:latin typeface="Calibri" pitchFamily="34" charset="0"/>
                <a:ea typeface="Calibri" pitchFamily="34" charset="-122"/>
                <a:cs typeface="Calibri" pitchFamily="34" charset="-120"/>
              </a:rPr>
              <a:t>Direct KO precedent in solid tumours</a:t>
            </a:r>
            <a:endParaRPr lang="en-US" sz="1150" dirty="0"/>
          </a:p>
        </p:txBody>
      </p:sp>
      <p:sp>
        <p:nvSpPr>
          <p:cNvPr id="16" name="Text 14"/>
          <p:cNvSpPr/>
          <p:nvPr/>
        </p:nvSpPr>
        <p:spPr>
          <a:xfrm>
            <a:off x="4434840" y="3035808"/>
            <a:ext cx="1691640" cy="292608"/>
          </a:xfrm>
          <a:prstGeom prst="rect">
            <a:avLst/>
          </a:prstGeom>
          <a:noFill/>
          <a:ln/>
        </p:spPr>
        <p:txBody>
          <a:bodyPr wrap="square" lIns="0" tIns="0" rIns="0" bIns="0" rtlCol="0" anchor="ctr"/>
          <a:lstStyle/>
          <a:p>
            <a:pPr algn="r" indent="0" marL="0">
              <a:buNone/>
            </a:pPr>
            <a:r>
              <a:rPr lang="en-US" sz="950" dirty="0">
                <a:solidFill>
                  <a:srgbClr val="0B6F6A"/>
                </a:solidFill>
                <a:latin typeface="Calibri" pitchFamily="34" charset="0"/>
                <a:ea typeface="Calibri" pitchFamily="34" charset="-122"/>
                <a:cs typeface="Calibri" pitchFamily="34" charset="-120"/>
              </a:rPr>
              <a:t>Exhaustion checkpoint</a:t>
            </a:r>
            <a:endParaRPr lang="en-US" sz="950" dirty="0"/>
          </a:p>
        </p:txBody>
      </p:sp>
      <p:sp>
        <p:nvSpPr>
          <p:cNvPr id="17" name="Shape 15"/>
          <p:cNvSpPr/>
          <p:nvPr/>
        </p:nvSpPr>
        <p:spPr>
          <a:xfrm>
            <a:off x="548640" y="3950208"/>
            <a:ext cx="5760720" cy="932688"/>
          </a:xfrm>
          <a:prstGeom prst="roundRect">
            <a:avLst>
              <a:gd name="adj" fmla="val 5882"/>
            </a:avLst>
          </a:prstGeom>
          <a:solidFill>
            <a:srgbClr val="FFFFFF"/>
          </a:solidFill>
          <a:ln w="9525">
            <a:solidFill>
              <a:srgbClr val="D5DEE7"/>
            </a:solidFill>
            <a:prstDash val="solid"/>
          </a:ln>
        </p:spPr>
      </p:sp>
      <p:sp>
        <p:nvSpPr>
          <p:cNvPr id="18" name="Shape 16"/>
          <p:cNvSpPr/>
          <p:nvPr/>
        </p:nvSpPr>
        <p:spPr>
          <a:xfrm>
            <a:off x="749808" y="4215384"/>
            <a:ext cx="402336" cy="402336"/>
          </a:xfrm>
          <a:prstGeom prst="ellipse">
            <a:avLst/>
          </a:prstGeom>
          <a:solidFill>
            <a:srgbClr val="6B5AA8"/>
          </a:solidFill>
          <a:ln w="12700">
            <a:solidFill>
              <a:srgbClr val="6B5AA8"/>
            </a:solidFill>
            <a:prstDash val="solid"/>
          </a:ln>
        </p:spPr>
      </p:sp>
      <p:sp>
        <p:nvSpPr>
          <p:cNvPr id="19" name="Text 17"/>
          <p:cNvSpPr/>
          <p:nvPr/>
        </p:nvSpPr>
        <p:spPr>
          <a:xfrm>
            <a:off x="1298448" y="4059936"/>
            <a:ext cx="2880360" cy="320040"/>
          </a:xfrm>
          <a:prstGeom prst="rect">
            <a:avLst/>
          </a:prstGeom>
          <a:noFill/>
          <a:ln/>
        </p:spPr>
        <p:txBody>
          <a:bodyPr wrap="square" lIns="0" tIns="0" rIns="0" bIns="0" rtlCol="0" anchor="ctr"/>
          <a:lstStyle/>
          <a:p>
            <a:pPr indent="0" marL="0">
              <a:buNone/>
            </a:pPr>
            <a:r>
              <a:rPr lang="en-US" sz="1500" b="1" dirty="0">
                <a:solidFill>
                  <a:srgbClr val="10243C"/>
                </a:solidFill>
                <a:latin typeface="Cambria" pitchFamily="34" charset="0"/>
                <a:ea typeface="Cambria" pitchFamily="34" charset="-122"/>
                <a:cs typeface="Cambria" pitchFamily="34" charset="-120"/>
              </a:rPr>
              <a:t>CTLA-4</a:t>
            </a:r>
            <a:endParaRPr lang="en-US" sz="1500" dirty="0"/>
          </a:p>
        </p:txBody>
      </p:sp>
      <p:sp>
        <p:nvSpPr>
          <p:cNvPr id="20" name="Text 18"/>
          <p:cNvSpPr/>
          <p:nvPr/>
        </p:nvSpPr>
        <p:spPr>
          <a:xfrm>
            <a:off x="1298448" y="4379976"/>
            <a:ext cx="4754880" cy="384048"/>
          </a:xfrm>
          <a:prstGeom prst="rect">
            <a:avLst/>
          </a:prstGeom>
          <a:noFill/>
          <a:ln/>
        </p:spPr>
        <p:txBody>
          <a:bodyPr wrap="square" lIns="0" tIns="0" rIns="0" bIns="0" rtlCol="0" anchor="t"/>
          <a:lstStyle/>
          <a:p>
            <a:pPr indent="0" marL="0">
              <a:buNone/>
            </a:pPr>
            <a:r>
              <a:rPr lang="en-US" sz="1150" dirty="0">
                <a:solidFill>
                  <a:srgbClr val="4A5768"/>
                </a:solidFill>
                <a:latin typeface="Calibri" pitchFamily="34" charset="0"/>
                <a:ea typeface="Calibri" pitchFamily="34" charset="-122"/>
                <a:cs typeface="Calibri" pitchFamily="34" charset="-120"/>
              </a:rPr>
              <a:t>Real signal, less CAR-T-specific evidence</a:t>
            </a:r>
            <a:endParaRPr lang="en-US" sz="1150" dirty="0"/>
          </a:p>
        </p:txBody>
      </p:sp>
      <p:sp>
        <p:nvSpPr>
          <p:cNvPr id="21" name="Text 19"/>
          <p:cNvSpPr/>
          <p:nvPr/>
        </p:nvSpPr>
        <p:spPr>
          <a:xfrm>
            <a:off x="4434840" y="4059936"/>
            <a:ext cx="1691640" cy="292608"/>
          </a:xfrm>
          <a:prstGeom prst="rect">
            <a:avLst/>
          </a:prstGeom>
          <a:noFill/>
          <a:ln/>
        </p:spPr>
        <p:txBody>
          <a:bodyPr wrap="square" lIns="0" tIns="0" rIns="0" bIns="0" rtlCol="0" anchor="ctr"/>
          <a:lstStyle/>
          <a:p>
            <a:pPr algn="r" indent="0" marL="0">
              <a:buNone/>
            </a:pPr>
            <a:r>
              <a:rPr lang="en-US" sz="950" dirty="0">
                <a:solidFill>
                  <a:srgbClr val="6B5AA8"/>
                </a:solidFill>
                <a:latin typeface="Calibri" pitchFamily="34" charset="0"/>
                <a:ea typeface="Calibri" pitchFamily="34" charset="-122"/>
                <a:cs typeface="Calibri" pitchFamily="34" charset="-120"/>
              </a:rPr>
              <a:t>Exhaustion checkpoint</a:t>
            </a:r>
            <a:endParaRPr lang="en-US" sz="950" dirty="0"/>
          </a:p>
        </p:txBody>
      </p:sp>
      <p:sp>
        <p:nvSpPr>
          <p:cNvPr id="22" name="Shape 20"/>
          <p:cNvSpPr/>
          <p:nvPr/>
        </p:nvSpPr>
        <p:spPr>
          <a:xfrm>
            <a:off x="548640" y="4974336"/>
            <a:ext cx="5760720" cy="932688"/>
          </a:xfrm>
          <a:prstGeom prst="roundRect">
            <a:avLst>
              <a:gd name="adj" fmla="val 5882"/>
            </a:avLst>
          </a:prstGeom>
          <a:solidFill>
            <a:srgbClr val="FFFFFF"/>
          </a:solidFill>
          <a:ln w="9525">
            <a:solidFill>
              <a:srgbClr val="D5DEE7"/>
            </a:solidFill>
            <a:prstDash val="solid"/>
          </a:ln>
        </p:spPr>
      </p:sp>
      <p:sp>
        <p:nvSpPr>
          <p:cNvPr id="23" name="Shape 21"/>
          <p:cNvSpPr/>
          <p:nvPr/>
        </p:nvSpPr>
        <p:spPr>
          <a:xfrm>
            <a:off x="749808" y="5239512"/>
            <a:ext cx="402336" cy="402336"/>
          </a:xfrm>
          <a:prstGeom prst="ellipse">
            <a:avLst/>
          </a:prstGeom>
          <a:solidFill>
            <a:srgbClr val="B8465E"/>
          </a:solidFill>
          <a:ln w="12700">
            <a:solidFill>
              <a:srgbClr val="B8465E"/>
            </a:solidFill>
            <a:prstDash val="solid"/>
          </a:ln>
        </p:spPr>
      </p:sp>
      <p:sp>
        <p:nvSpPr>
          <p:cNvPr id="24" name="Text 22"/>
          <p:cNvSpPr/>
          <p:nvPr/>
        </p:nvSpPr>
        <p:spPr>
          <a:xfrm>
            <a:off x="1298448" y="5084064"/>
            <a:ext cx="2880360" cy="320040"/>
          </a:xfrm>
          <a:prstGeom prst="rect">
            <a:avLst/>
          </a:prstGeom>
          <a:noFill/>
          <a:ln/>
        </p:spPr>
        <p:txBody>
          <a:bodyPr wrap="square" lIns="0" tIns="0" rIns="0" bIns="0" rtlCol="0" anchor="ctr"/>
          <a:lstStyle/>
          <a:p>
            <a:pPr indent="0" marL="0">
              <a:buNone/>
            </a:pPr>
            <a:r>
              <a:rPr lang="en-US" sz="1500" b="1" dirty="0">
                <a:solidFill>
                  <a:srgbClr val="10243C"/>
                </a:solidFill>
                <a:latin typeface="Cambria" pitchFamily="34" charset="0"/>
                <a:ea typeface="Cambria" pitchFamily="34" charset="-122"/>
                <a:cs typeface="Cambria" pitchFamily="34" charset="-120"/>
              </a:rPr>
              <a:t>IL7R</a:t>
            </a:r>
            <a:endParaRPr lang="en-US" sz="1500" dirty="0"/>
          </a:p>
        </p:txBody>
      </p:sp>
      <p:sp>
        <p:nvSpPr>
          <p:cNvPr id="25" name="Text 23"/>
          <p:cNvSpPr/>
          <p:nvPr/>
        </p:nvSpPr>
        <p:spPr>
          <a:xfrm>
            <a:off x="1298448" y="5404104"/>
            <a:ext cx="4754880" cy="384048"/>
          </a:xfrm>
          <a:prstGeom prst="rect">
            <a:avLst/>
          </a:prstGeom>
          <a:noFill/>
          <a:ln/>
        </p:spPr>
        <p:txBody>
          <a:bodyPr wrap="square" lIns="0" tIns="0" rIns="0" bIns="0" rtlCol="0" anchor="t"/>
          <a:lstStyle/>
          <a:p>
            <a:pPr indent="0" marL="0">
              <a:buNone/>
            </a:pPr>
            <a:r>
              <a:rPr lang="en-US" sz="1150" dirty="0">
                <a:solidFill>
                  <a:srgbClr val="4A5768"/>
                </a:solidFill>
                <a:latin typeface="Calibri" pitchFamily="34" charset="0"/>
                <a:ea typeface="Calibri" pitchFamily="34" charset="-122"/>
                <a:cs typeface="Calibri" pitchFamily="34" charset="-120"/>
              </a:rPr>
              <a:t>Persistence / fitness — not a checkpoint</a:t>
            </a:r>
            <a:endParaRPr lang="en-US" sz="1150" dirty="0"/>
          </a:p>
        </p:txBody>
      </p:sp>
      <p:sp>
        <p:nvSpPr>
          <p:cNvPr id="26" name="Text 24"/>
          <p:cNvSpPr/>
          <p:nvPr/>
        </p:nvSpPr>
        <p:spPr>
          <a:xfrm>
            <a:off x="4434840" y="5084064"/>
            <a:ext cx="1691640" cy="292608"/>
          </a:xfrm>
          <a:prstGeom prst="rect">
            <a:avLst/>
          </a:prstGeom>
          <a:noFill/>
          <a:ln/>
        </p:spPr>
        <p:txBody>
          <a:bodyPr wrap="square" lIns="0" tIns="0" rIns="0" bIns="0" rtlCol="0" anchor="ctr"/>
          <a:lstStyle/>
          <a:p>
            <a:pPr algn="r" indent="0" marL="0">
              <a:buNone/>
            </a:pPr>
            <a:r>
              <a:rPr lang="en-US" sz="950" dirty="0">
                <a:solidFill>
                  <a:srgbClr val="B8465E"/>
                </a:solidFill>
                <a:latin typeface="Calibri" pitchFamily="34" charset="0"/>
                <a:ea typeface="Calibri" pitchFamily="34" charset="-122"/>
                <a:cs typeface="Calibri" pitchFamily="34" charset="-120"/>
              </a:rPr>
              <a:t>Persistence target</a:t>
            </a:r>
            <a:endParaRPr lang="en-US" sz="950" dirty="0"/>
          </a:p>
        </p:txBody>
      </p:sp>
      <p:sp>
        <p:nvSpPr>
          <p:cNvPr id="27" name="Shape 25"/>
          <p:cNvSpPr/>
          <p:nvPr/>
        </p:nvSpPr>
        <p:spPr>
          <a:xfrm>
            <a:off x="6720840" y="1810512"/>
            <a:ext cx="4922215" cy="2011680"/>
          </a:xfrm>
          <a:prstGeom prst="roundRect">
            <a:avLst>
              <a:gd name="adj" fmla="val 2727"/>
            </a:avLst>
          </a:prstGeom>
          <a:solidFill>
            <a:srgbClr val="EAF4F3"/>
          </a:solidFill>
          <a:ln w="9525">
            <a:solidFill>
              <a:srgbClr val="D5DEE7"/>
            </a:solidFill>
            <a:prstDash val="solid"/>
          </a:ln>
        </p:spPr>
      </p:sp>
      <p:sp>
        <p:nvSpPr>
          <p:cNvPr id="28" name="Text 26"/>
          <p:cNvSpPr/>
          <p:nvPr/>
        </p:nvSpPr>
        <p:spPr>
          <a:xfrm>
            <a:off x="6976872" y="1956816"/>
            <a:ext cx="4410151" cy="274320"/>
          </a:xfrm>
          <a:prstGeom prst="rect">
            <a:avLst/>
          </a:prstGeom>
          <a:noFill/>
          <a:ln/>
        </p:spPr>
        <p:txBody>
          <a:bodyPr wrap="square" lIns="0" tIns="0" rIns="0" bIns="0" rtlCol="0" anchor="ctr"/>
          <a:lstStyle/>
          <a:p>
            <a:pPr indent="0" marL="0">
              <a:buNone/>
            </a:pPr>
            <a:r>
              <a:rPr lang="en-US" sz="1350" b="1" dirty="0">
                <a:solidFill>
                  <a:srgbClr val="0B6F6A"/>
                </a:solidFill>
                <a:latin typeface="Calibri" pitchFamily="34" charset="0"/>
                <a:ea typeface="Calibri" pitchFamily="34" charset="-122"/>
                <a:cs typeface="Calibri" pitchFamily="34" charset="-120"/>
              </a:rPr>
              <a:t>This design CAN test</a:t>
            </a:r>
            <a:endParaRPr lang="en-US" sz="1350" dirty="0"/>
          </a:p>
        </p:txBody>
      </p:sp>
      <p:sp>
        <p:nvSpPr>
          <p:cNvPr id="29" name="Text 27"/>
          <p:cNvSpPr/>
          <p:nvPr/>
        </p:nvSpPr>
        <p:spPr>
          <a:xfrm>
            <a:off x="6976872" y="2304288"/>
            <a:ext cx="4410151" cy="1371600"/>
          </a:xfrm>
          <a:prstGeom prst="rect">
            <a:avLst/>
          </a:prstGeom>
          <a:noFill/>
          <a:ln/>
        </p:spPr>
        <p:txBody>
          <a:bodyPr wrap="square" lIns="0" tIns="0" rIns="0" bIns="0" rtlCol="0" anchor="t"/>
          <a:lstStyle/>
          <a:p>
            <a:pPr marL="177800" indent="-177800">
              <a:lnSpc>
                <a:spcPts val="2000"/>
              </a:lnSpc>
              <a:spcAft>
                <a:spcPts val="700"/>
              </a:spcAft>
              <a:buSzPct val="100000"/>
              <a:buChar char="•"/>
            </a:pPr>
            <a:r>
              <a:rPr lang="en-US" sz="1250" dirty="0">
                <a:solidFill>
                  <a:srgbClr val="16202C"/>
                </a:solidFill>
                <a:latin typeface="Calibri" pitchFamily="34" charset="0"/>
                <a:ea typeface="Calibri" pitchFamily="34" charset="-122"/>
                <a:cs typeface="Calibri" pitchFamily="34" charset="-120"/>
              </a:rPr>
              <a:t>T-cell-intrinsic checkpoint edits</a:t>
            </a:r>
            <a:endParaRPr lang="en-US" sz="1250" dirty="0"/>
          </a:p>
          <a:p>
            <a:pPr marL="177800" indent="-177800">
              <a:lnSpc>
                <a:spcPts val="2000"/>
              </a:lnSpc>
              <a:spcAft>
                <a:spcPts val="700"/>
              </a:spcAft>
              <a:buSzPct val="100000"/>
              <a:buChar char="•"/>
            </a:pPr>
            <a:r>
              <a:rPr lang="en-US" sz="1250" dirty="0">
                <a:solidFill>
                  <a:srgbClr val="16202C"/>
                </a:solidFill>
                <a:latin typeface="Calibri" pitchFamily="34" charset="0"/>
                <a:ea typeface="Calibri" pitchFamily="34" charset="-122"/>
                <a:cs typeface="Calibri" pitchFamily="34" charset="-120"/>
              </a:rPr>
              <a:t>Persistence receptors (IL7R)</a:t>
            </a:r>
            <a:endParaRPr lang="en-US" sz="1250" dirty="0"/>
          </a:p>
          <a:p>
            <a:pPr marL="177800" indent="-177800">
              <a:lnSpc>
                <a:spcPts val="2000"/>
              </a:lnSpc>
              <a:spcAft>
                <a:spcPts val="700"/>
              </a:spcAft>
              <a:buSzPct val="100000"/>
              <a:buChar char="•"/>
            </a:pPr>
            <a:r>
              <a:rPr lang="en-US" sz="1250" dirty="0">
                <a:solidFill>
                  <a:srgbClr val="16202C"/>
                </a:solidFill>
                <a:latin typeface="Calibri" pitchFamily="34" charset="0"/>
                <a:ea typeface="Calibri" pitchFamily="34" charset="-122"/>
                <a:cs typeface="Calibri" pitchFamily="34" charset="-120"/>
              </a:rPr>
              <a:t>Exhaustion-programme shifts in SCLC T cells</a:t>
            </a:r>
            <a:endParaRPr lang="en-US" sz="1250" dirty="0"/>
          </a:p>
        </p:txBody>
      </p:sp>
      <p:sp>
        <p:nvSpPr>
          <p:cNvPr id="30" name="Shape 28"/>
          <p:cNvSpPr/>
          <p:nvPr/>
        </p:nvSpPr>
        <p:spPr>
          <a:xfrm>
            <a:off x="6720840" y="3977640"/>
            <a:ext cx="4922215" cy="2240280"/>
          </a:xfrm>
          <a:prstGeom prst="roundRect">
            <a:avLst>
              <a:gd name="adj" fmla="val 2449"/>
            </a:avLst>
          </a:prstGeom>
          <a:solidFill>
            <a:srgbClr val="F2F5F9"/>
          </a:solidFill>
          <a:ln w="9525">
            <a:solidFill>
              <a:srgbClr val="D5DEE7"/>
            </a:solidFill>
            <a:prstDash val="solid"/>
          </a:ln>
        </p:spPr>
      </p:sp>
      <p:sp>
        <p:nvSpPr>
          <p:cNvPr id="31" name="Text 29"/>
          <p:cNvSpPr/>
          <p:nvPr/>
        </p:nvSpPr>
        <p:spPr>
          <a:xfrm>
            <a:off x="6976872" y="4123944"/>
            <a:ext cx="4410151" cy="274320"/>
          </a:xfrm>
          <a:prstGeom prst="rect">
            <a:avLst/>
          </a:prstGeom>
          <a:noFill/>
          <a:ln/>
        </p:spPr>
        <p:txBody>
          <a:bodyPr wrap="square" lIns="0" tIns="0" rIns="0" bIns="0" rtlCol="0" anchor="ctr"/>
          <a:lstStyle/>
          <a:p>
            <a:pPr indent="0" marL="0">
              <a:buNone/>
            </a:pPr>
            <a:r>
              <a:rPr lang="en-US" sz="1350" b="1" dirty="0">
                <a:solidFill>
                  <a:srgbClr val="7A8798"/>
                </a:solidFill>
                <a:latin typeface="Calibri" pitchFamily="34" charset="0"/>
                <a:ea typeface="Calibri" pitchFamily="34" charset="-122"/>
                <a:cs typeface="Calibri" pitchFamily="34" charset="-120"/>
              </a:rPr>
              <a:t>This design CANNOT test</a:t>
            </a:r>
            <a:endParaRPr lang="en-US" sz="1350" dirty="0"/>
          </a:p>
        </p:txBody>
      </p:sp>
      <p:sp>
        <p:nvSpPr>
          <p:cNvPr id="32" name="Text 30"/>
          <p:cNvSpPr/>
          <p:nvPr/>
        </p:nvSpPr>
        <p:spPr>
          <a:xfrm>
            <a:off x="6976872" y="4471416"/>
            <a:ext cx="4410151" cy="1097280"/>
          </a:xfrm>
          <a:prstGeom prst="rect">
            <a:avLst/>
          </a:prstGeom>
          <a:noFill/>
          <a:ln/>
        </p:spPr>
        <p:txBody>
          <a:bodyPr wrap="square" lIns="0" tIns="0" rIns="0" bIns="0" rtlCol="0" anchor="t"/>
          <a:lstStyle/>
          <a:p>
            <a:pPr marL="177800" indent="-177800">
              <a:lnSpc>
                <a:spcPts val="2000"/>
              </a:lnSpc>
              <a:spcAft>
                <a:spcPts val="700"/>
              </a:spcAft>
              <a:buSzPct val="100000"/>
              <a:buChar char="•"/>
            </a:pPr>
            <a:r>
              <a:rPr lang="en-US" sz="1250" dirty="0">
                <a:solidFill>
                  <a:srgbClr val="4A5768"/>
                </a:solidFill>
                <a:latin typeface="Calibri" pitchFamily="34" charset="0"/>
                <a:ea typeface="Calibri" pitchFamily="34" charset="-122"/>
                <a:cs typeface="Calibri" pitchFamily="34" charset="-120"/>
              </a:rPr>
              <a:t>CAR-T tumour antigens: DLL3, SEZ6, NCAM1, CD276, CEACAM5</a:t>
            </a:r>
            <a:endParaRPr lang="en-US" sz="1250" dirty="0"/>
          </a:p>
          <a:p>
            <a:pPr marL="177800" indent="-177800">
              <a:lnSpc>
                <a:spcPts val="2000"/>
              </a:lnSpc>
              <a:spcAft>
                <a:spcPts val="700"/>
              </a:spcAft>
              <a:buSzPct val="100000"/>
              <a:buChar char="•"/>
            </a:pPr>
            <a:r>
              <a:rPr lang="en-US" sz="1250" dirty="0">
                <a:solidFill>
                  <a:srgbClr val="4A5768"/>
                </a:solidFill>
                <a:latin typeface="Calibri" pitchFamily="34" charset="0"/>
                <a:ea typeface="Calibri" pitchFamily="34" charset="-122"/>
                <a:cs typeface="Calibri" pitchFamily="34" charset="-120"/>
              </a:rPr>
              <a:t>PD-L1 (CD274) — absent from the T-cell atlas</a:t>
            </a:r>
            <a:endParaRPr lang="en-US" sz="1250" dirty="0"/>
          </a:p>
        </p:txBody>
      </p:sp>
      <p:sp>
        <p:nvSpPr>
          <p:cNvPr id="33" name="Text 31"/>
          <p:cNvSpPr/>
          <p:nvPr/>
        </p:nvSpPr>
        <p:spPr>
          <a:xfrm>
            <a:off x="6976872" y="5532120"/>
            <a:ext cx="4410151" cy="548640"/>
          </a:xfrm>
          <a:prstGeom prst="rect">
            <a:avLst/>
          </a:prstGeom>
          <a:noFill/>
          <a:ln/>
        </p:spPr>
        <p:txBody>
          <a:bodyPr wrap="square" lIns="0" tIns="0" rIns="0" bIns="0" rtlCol="0" anchor="t"/>
          <a:lstStyle/>
          <a:p>
            <a:pPr indent="0" marL="0">
              <a:buNone/>
            </a:pPr>
            <a:r>
              <a:rPr lang="en-US" sz="1100" i="1" dirty="0">
                <a:solidFill>
                  <a:srgbClr val="7A8798"/>
                </a:solidFill>
                <a:latin typeface="Calibri" pitchFamily="34" charset="0"/>
                <a:ea typeface="Calibri" pitchFamily="34" charset="-122"/>
                <a:cs typeface="Calibri" pitchFamily="34" charset="-120"/>
              </a:rPr>
              <a:t>Not expressed by T cells — this is scope, not failure. No PD-L1 claim is made.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91440"/>
            <a:ext cx="11094415" cy="201168"/>
          </a:xfrm>
          <a:prstGeom prst="rect">
            <a:avLst/>
          </a:prstGeom>
          <a:noFill/>
          <a:ln/>
        </p:spPr>
        <p:txBody>
          <a:bodyPr wrap="square" lIns="0" tIns="0" rIns="0" bIns="0" rtlCol="0" anchor="ctr"/>
          <a:lstStyle/>
          <a:p>
            <a:pPr indent="0" marL="0">
              <a:buNone/>
            </a:pPr>
            <a:r>
              <a:rPr lang="en-US" sz="1100" b="1" spc="160" kern="0" dirty="0">
                <a:solidFill>
                  <a:srgbClr val="B8465E"/>
                </a:solidFill>
                <a:latin typeface="Calibri" pitchFamily="34" charset="0"/>
                <a:ea typeface="Calibri" pitchFamily="34" charset="-122"/>
                <a:cs typeface="Calibri" pitchFamily="34" charset="-120"/>
              </a:rPr>
              <a:t>TISSUE VALIDATION</a:t>
            </a:r>
            <a:endParaRPr lang="en-US" sz="1100" dirty="0"/>
          </a:p>
        </p:txBody>
      </p:sp>
      <p:sp>
        <p:nvSpPr>
          <p:cNvPr id="3" name="Text 1"/>
          <p:cNvSpPr/>
          <p:nvPr/>
        </p:nvSpPr>
        <p:spPr>
          <a:xfrm>
            <a:off x="548640" y="329184"/>
            <a:ext cx="11094415" cy="1051560"/>
          </a:xfrm>
          <a:prstGeom prst="rect">
            <a:avLst/>
          </a:prstGeom>
          <a:noFill/>
          <a:ln/>
        </p:spPr>
        <p:txBody>
          <a:bodyPr wrap="square" lIns="0" tIns="0" rIns="0" bIns="0" rtlCol="0" anchor="t"/>
          <a:lstStyle/>
          <a:p>
            <a:pPr algn="l" indent="0" marL="0">
              <a:buNone/>
            </a:pPr>
            <a:r>
              <a:rPr lang="en-US" sz="2700" b="1" dirty="0">
                <a:solidFill>
                  <a:srgbClr val="10243C"/>
                </a:solidFill>
                <a:latin typeface="Cambria" pitchFamily="34" charset="0"/>
                <a:ea typeface="Cambria" pitchFamily="34" charset="-122"/>
                <a:cs typeface="Cambria" pitchFamily="34" charset="-120"/>
              </a:rPr>
              <a:t>In intact tumour tissue, dysfunction tracks T-cell abundance — and antigen presentation tracks it hardest</a:t>
            </a:r>
            <a:endParaRPr lang="en-US" sz="2700" dirty="0"/>
          </a:p>
        </p:txBody>
      </p:sp>
      <p:sp>
        <p:nvSpPr>
          <p:cNvPr id="4" name="Text 2"/>
          <p:cNvSpPr/>
          <p:nvPr/>
        </p:nvSpPr>
        <p:spPr>
          <a:xfrm>
            <a:off x="548640" y="6419088"/>
            <a:ext cx="7315200" cy="256032"/>
          </a:xfrm>
          <a:prstGeom prst="rect">
            <a:avLst/>
          </a:prstGeom>
          <a:noFill/>
          <a:ln/>
        </p:spPr>
        <p:txBody>
          <a:bodyPr wrap="square" lIns="0" tIns="0" rIns="0" bIns="0" rtlCol="0" anchor="ctr"/>
          <a:lstStyle/>
          <a:p>
            <a:pPr indent="0" marL="0">
              <a:buNone/>
            </a:pPr>
            <a:r>
              <a:rPr lang="en-US" sz="950" dirty="0">
                <a:solidFill>
                  <a:srgbClr val="7A8798"/>
                </a:solidFill>
                <a:latin typeface="Calibri" pitchFamily="34" charset="0"/>
                <a:ea typeface="Calibri" pitchFamily="34" charset="-122"/>
                <a:cs typeface="Calibri" pitchFamily="34" charset="-120"/>
              </a:rPr>
              <a:t>GSE263196 Visium validation</a:t>
            </a:r>
            <a:endParaRPr lang="en-US" sz="950" dirty="0"/>
          </a:p>
        </p:txBody>
      </p:sp>
      <p:sp>
        <p:nvSpPr>
          <p:cNvPr id="5" name="Text 3"/>
          <p:cNvSpPr/>
          <p:nvPr/>
        </p:nvSpPr>
        <p:spPr>
          <a:xfrm>
            <a:off x="11002975" y="6419088"/>
            <a:ext cx="640080" cy="256032"/>
          </a:xfrm>
          <a:prstGeom prst="rect">
            <a:avLst/>
          </a:prstGeom>
          <a:noFill/>
          <a:ln/>
        </p:spPr>
        <p:txBody>
          <a:bodyPr wrap="square" lIns="0" tIns="0" rIns="0" bIns="0" rtlCol="0" anchor="ctr"/>
          <a:lstStyle/>
          <a:p>
            <a:pPr algn="r" indent="0" marL="0">
              <a:buNone/>
            </a:pPr>
            <a:r>
              <a:rPr lang="en-US" sz="950" dirty="0">
                <a:solidFill>
                  <a:srgbClr val="7A8798"/>
                </a:solidFill>
                <a:latin typeface="Calibri" pitchFamily="34" charset="0"/>
                <a:ea typeface="Calibri" pitchFamily="34" charset="-122"/>
                <a:cs typeface="Calibri" pitchFamily="34" charset="-120"/>
              </a:rPr>
              <a:t>9</a:t>
            </a:r>
            <a:endParaRPr lang="en-US" sz="950" dirty="0"/>
          </a:p>
        </p:txBody>
      </p:sp>
      <p:sp>
        <p:nvSpPr>
          <p:cNvPr id="6" name="Shape 4"/>
          <p:cNvSpPr/>
          <p:nvPr/>
        </p:nvSpPr>
        <p:spPr>
          <a:xfrm>
            <a:off x="548640" y="1536192"/>
            <a:ext cx="3931920" cy="292608"/>
          </a:xfrm>
          <a:prstGeom prst="roundRect">
            <a:avLst>
              <a:gd name="adj" fmla="val 9375"/>
            </a:avLst>
          </a:prstGeom>
          <a:solidFill>
            <a:srgbClr val="10243C"/>
          </a:solidFill>
          <a:ln w="12700">
            <a:solidFill>
              <a:srgbClr val="10243C"/>
            </a:solidFill>
            <a:prstDash val="solid"/>
          </a:ln>
        </p:spPr>
      </p:sp>
      <p:sp>
        <p:nvSpPr>
          <p:cNvPr id="7" name="Text 5"/>
          <p:cNvSpPr/>
          <p:nvPr/>
        </p:nvSpPr>
        <p:spPr>
          <a:xfrm>
            <a:off x="658368" y="1536192"/>
            <a:ext cx="3712464" cy="292608"/>
          </a:xfrm>
          <a:prstGeom prst="rect">
            <a:avLst/>
          </a:prstGeom>
          <a:noFill/>
          <a:ln/>
        </p:spPr>
        <p:txBody>
          <a:bodyPr wrap="square" lIns="0" tIns="0" rIns="0" bIns="0" rtlCol="0" anchor="ctr"/>
          <a:lstStyle/>
          <a:p>
            <a:pPr indent="0" marL="0">
              <a:buNone/>
            </a:pPr>
            <a:r>
              <a:rPr lang="en-US" sz="850" dirty="0">
                <a:solidFill>
                  <a:srgbClr val="CFE0EC"/>
                </a:solidFill>
                <a:latin typeface="Calibri" pitchFamily="34" charset="0"/>
                <a:ea typeface="Calibri" pitchFamily="34" charset="-122"/>
                <a:cs typeface="Calibri" pitchFamily="34" charset="-120"/>
              </a:rPr>
              <a:t>GSE263196  ·  10x Visium  ·  5 specimens  ·  15,632 spots</a:t>
            </a:r>
            <a:endParaRPr lang="en-US" sz="850" dirty="0"/>
          </a:p>
        </p:txBody>
      </p:sp>
      <p:pic>
        <p:nvPicPr>
          <p:cNvPr id="8" name="Image 0" descr="/Users/kaisar/workspace/geneformer-lung-tcell/talk/assets/spatial.png">    </p:cNvPr>
          <p:cNvPicPr>
            <a:picLocks noChangeAspect="1"/>
          </p:cNvPicPr>
          <p:nvPr/>
        </p:nvPicPr>
        <p:blipFill>
          <a:blip r:embed="rId1"/>
          <a:stretch>
            <a:fillRect/>
          </a:stretch>
        </p:blipFill>
        <p:spPr>
          <a:xfrm>
            <a:off x="548640" y="1828800"/>
            <a:ext cx="3931920" cy="2542032"/>
          </a:xfrm>
          <a:prstGeom prst="rect">
            <a:avLst/>
          </a:prstGeom>
        </p:spPr>
      </p:pic>
      <p:sp>
        <p:nvSpPr>
          <p:cNvPr id="9" name="Text 6"/>
          <p:cNvSpPr/>
          <p:nvPr/>
        </p:nvSpPr>
        <p:spPr>
          <a:xfrm>
            <a:off x="548640" y="4544568"/>
            <a:ext cx="3931920" cy="237744"/>
          </a:xfrm>
          <a:prstGeom prst="rect">
            <a:avLst/>
          </a:prstGeom>
          <a:noFill/>
          <a:ln/>
        </p:spPr>
        <p:txBody>
          <a:bodyPr wrap="square" lIns="0" tIns="0" rIns="0" bIns="0" rtlCol="0" anchor="t"/>
          <a:lstStyle/>
          <a:p>
            <a:pPr indent="0" marL="0">
              <a:buNone/>
            </a:pPr>
            <a:r>
              <a:rPr lang="en-US" sz="950" i="1" dirty="0">
                <a:solidFill>
                  <a:srgbClr val="7A8798"/>
                </a:solidFill>
                <a:latin typeface="Calibri" pitchFamily="34" charset="0"/>
                <a:ea typeface="Calibri" pitchFamily="34" charset="-122"/>
                <a:cs typeface="Calibri" pitchFamily="34" charset="-120"/>
              </a:rPr>
              <a:t>A: T-cell identity.  B: dysfunction.  C: per-specimen and pooled ρ.</a:t>
            </a:r>
            <a:endParaRPr lang="en-US" sz="950" dirty="0"/>
          </a:p>
        </p:txBody>
      </p:sp>
      <p:sp>
        <p:nvSpPr>
          <p:cNvPr id="10" name="Shape 7"/>
          <p:cNvSpPr/>
          <p:nvPr/>
        </p:nvSpPr>
        <p:spPr>
          <a:xfrm>
            <a:off x="548640" y="4983480"/>
            <a:ext cx="3931920" cy="1207008"/>
          </a:xfrm>
          <a:prstGeom prst="roundRect">
            <a:avLst>
              <a:gd name="adj" fmla="val 4545"/>
            </a:avLst>
          </a:prstGeom>
          <a:solidFill>
            <a:srgbClr val="F2F5F9"/>
          </a:solidFill>
          <a:ln w="9525">
            <a:solidFill>
              <a:srgbClr val="D5DEE7"/>
            </a:solidFill>
            <a:prstDash val="solid"/>
          </a:ln>
        </p:spPr>
      </p:sp>
      <p:sp>
        <p:nvSpPr>
          <p:cNvPr id="11" name="Text 8"/>
          <p:cNvSpPr/>
          <p:nvPr/>
        </p:nvSpPr>
        <p:spPr>
          <a:xfrm>
            <a:off x="768096" y="5102352"/>
            <a:ext cx="3493008" cy="256032"/>
          </a:xfrm>
          <a:prstGeom prst="rect">
            <a:avLst/>
          </a:prstGeom>
          <a:noFill/>
          <a:ln/>
        </p:spPr>
        <p:txBody>
          <a:bodyPr wrap="square" lIns="0" tIns="0" rIns="0" bIns="0" rtlCol="0" anchor="ctr"/>
          <a:lstStyle/>
          <a:p>
            <a:pPr indent="0" marL="0">
              <a:buNone/>
            </a:pPr>
            <a:r>
              <a:rPr lang="en-US" sz="1200" b="1" dirty="0">
                <a:solidFill>
                  <a:srgbClr val="10243C"/>
                </a:solidFill>
                <a:latin typeface="Calibri" pitchFamily="34" charset="0"/>
                <a:ea typeface="Calibri" pitchFamily="34" charset="-122"/>
                <a:cs typeface="Calibri" pitchFamily="34" charset="-120"/>
              </a:rPr>
              <a:t>Why this is independent</a:t>
            </a:r>
            <a:endParaRPr lang="en-US" sz="1200" dirty="0"/>
          </a:p>
        </p:txBody>
      </p:sp>
      <p:sp>
        <p:nvSpPr>
          <p:cNvPr id="12" name="Text 9"/>
          <p:cNvSpPr/>
          <p:nvPr/>
        </p:nvSpPr>
        <p:spPr>
          <a:xfrm>
            <a:off x="768096" y="5394960"/>
            <a:ext cx="3493008" cy="777240"/>
          </a:xfrm>
          <a:prstGeom prst="rect">
            <a:avLst/>
          </a:prstGeom>
          <a:noFill/>
          <a:ln/>
        </p:spPr>
        <p:txBody>
          <a:bodyPr wrap="square" lIns="0" tIns="0" rIns="0" bIns="0" rtlCol="0" anchor="t"/>
          <a:lstStyle/>
          <a:p>
            <a:pPr marL="177800" indent="-177800">
              <a:lnSpc>
                <a:spcPts val="1400"/>
              </a:lnSpc>
              <a:spcAft>
                <a:spcPts val="200"/>
              </a:spcAft>
              <a:buSzPct val="100000"/>
              <a:buChar char="•"/>
            </a:pPr>
            <a:r>
              <a:rPr lang="en-US" sz="1000" dirty="0">
                <a:solidFill>
                  <a:srgbClr val="4A5768"/>
                </a:solidFill>
                <a:latin typeface="Calibri" pitchFamily="34" charset="0"/>
                <a:ea typeface="Calibri" pitchFamily="34" charset="-122"/>
                <a:cs typeface="Calibri" pitchFamily="34" charset="-120"/>
              </a:rPr>
              <a:t>Different cohort, assay and lab</a:t>
            </a:r>
            <a:endParaRPr lang="en-US" sz="1000" dirty="0"/>
          </a:p>
          <a:p>
            <a:pPr marL="177800" indent="-177800">
              <a:lnSpc>
                <a:spcPts val="1400"/>
              </a:lnSpc>
              <a:spcAft>
                <a:spcPts val="200"/>
              </a:spcAft>
              <a:buSzPct val="100000"/>
              <a:buChar char="•"/>
            </a:pPr>
            <a:r>
              <a:rPr lang="en-US" sz="1000" dirty="0">
                <a:solidFill>
                  <a:srgbClr val="4A5768"/>
                </a:solidFill>
                <a:latin typeface="Calibri" pitchFamily="34" charset="0"/>
                <a:ea typeface="Calibri" pitchFamily="34" charset="-122"/>
                <a:cs typeface="Calibri" pitchFamily="34" charset="-120"/>
              </a:rPr>
              <a:t>15,632 / 15,774 in-tissue spots kept (99.1%)</a:t>
            </a:r>
            <a:endParaRPr lang="en-US" sz="1000" dirty="0"/>
          </a:p>
          <a:p>
            <a:pPr marL="177800" indent="-177800">
              <a:lnSpc>
                <a:spcPts val="1400"/>
              </a:lnSpc>
              <a:spcAft>
                <a:spcPts val="200"/>
              </a:spcAft>
              <a:buSzPct val="100000"/>
              <a:buChar char="•"/>
            </a:pPr>
            <a:r>
              <a:rPr lang="en-US" sz="1000" dirty="0">
                <a:solidFill>
                  <a:srgbClr val="4A5768"/>
                </a:solidFill>
                <a:latin typeface="Calibri" pitchFamily="34" charset="0"/>
                <a:ea typeface="Calibri" pitchFamily="34" charset="-122"/>
                <a:cs typeface="Calibri" pitchFamily="34" charset="-120"/>
              </a:rPr>
              <a:t>Marker panels share no genes — not a self-correlation</a:t>
            </a:r>
            <a:endParaRPr lang="en-US" sz="1000" dirty="0"/>
          </a:p>
        </p:txBody>
      </p:sp>
      <p:sp>
        <p:nvSpPr>
          <p:cNvPr id="13" name="Shape 10"/>
          <p:cNvSpPr/>
          <p:nvPr/>
        </p:nvSpPr>
        <p:spPr>
          <a:xfrm>
            <a:off x="4892040" y="1536192"/>
            <a:ext cx="6751015" cy="1024128"/>
          </a:xfrm>
          <a:prstGeom prst="roundRect">
            <a:avLst>
              <a:gd name="adj" fmla="val 5357"/>
            </a:avLst>
          </a:prstGeom>
          <a:solidFill>
            <a:srgbClr val="F2F5F9"/>
          </a:solidFill>
          <a:ln w="9525">
            <a:solidFill>
              <a:srgbClr val="D5DEE7"/>
            </a:solidFill>
            <a:prstDash val="solid"/>
          </a:ln>
        </p:spPr>
      </p:sp>
      <p:sp>
        <p:nvSpPr>
          <p:cNvPr id="14" name="Text 11"/>
          <p:cNvSpPr/>
          <p:nvPr/>
        </p:nvSpPr>
        <p:spPr>
          <a:xfrm>
            <a:off x="5129784" y="1536192"/>
            <a:ext cx="6275527" cy="1024128"/>
          </a:xfrm>
          <a:prstGeom prst="rect">
            <a:avLst/>
          </a:prstGeom>
          <a:noFill/>
          <a:ln/>
        </p:spPr>
        <p:txBody>
          <a:bodyPr wrap="square" lIns="0" tIns="0" rIns="0" bIns="0" rtlCol="0" anchor="ctr"/>
          <a:lstStyle/>
          <a:p>
            <a:pPr indent="0" marL="0">
              <a:buNone/>
            </a:pPr>
            <a:r>
              <a:rPr lang="en-US" sz="2200" b="1" dirty="0">
                <a:solidFill>
                  <a:srgbClr val="10243C"/>
                </a:solidFill>
                <a:latin typeface="Cambria" pitchFamily="34" charset="0"/>
                <a:ea typeface="Cambria" pitchFamily="34" charset="-122"/>
                <a:cs typeface="Cambria" pitchFamily="34" charset="-120"/>
              </a:rPr>
              <a:t>ρ = 0.161</a:t>
            </a:r>
            <a:endParaRPr lang="en-US" sz="2200" dirty="0"/>
          </a:p>
          <a:p>
            <a:pPr indent="0" marL="0">
              <a:buNone/>
            </a:pPr>
            <a:r>
              <a:rPr lang="en-US" sz="1100" dirty="0">
                <a:solidFill>
                  <a:srgbClr val="4A5768"/>
                </a:solidFill>
                <a:latin typeface="Calibri" pitchFamily="34" charset="0"/>
                <a:ea typeface="Calibri" pitchFamily="34" charset="-122"/>
                <a:cs typeface="Calibri" pitchFamily="34" charset="-120"/>
              </a:rPr>
              <a:t>7-gene dysfunction benchmark  ·  [0.146, 0.176]  ·  4 of 5 specimens p &lt; 0.001</a:t>
            </a:r>
            <a:endParaRPr lang="en-US" sz="2200" dirty="0"/>
          </a:p>
        </p:txBody>
      </p:sp>
      <p:sp>
        <p:nvSpPr>
          <p:cNvPr id="15" name="Shape 12"/>
          <p:cNvSpPr/>
          <p:nvPr/>
        </p:nvSpPr>
        <p:spPr>
          <a:xfrm>
            <a:off x="4892040" y="2697480"/>
            <a:ext cx="6751015" cy="1024128"/>
          </a:xfrm>
          <a:prstGeom prst="roundRect">
            <a:avLst>
              <a:gd name="adj" fmla="val 5357"/>
            </a:avLst>
          </a:prstGeom>
          <a:solidFill>
            <a:srgbClr val="F0EDF9"/>
          </a:solidFill>
          <a:ln w="9525">
            <a:solidFill>
              <a:srgbClr val="D5DEE7"/>
            </a:solidFill>
            <a:prstDash val="solid"/>
          </a:ln>
        </p:spPr>
      </p:sp>
      <p:sp>
        <p:nvSpPr>
          <p:cNvPr id="16" name="Text 13"/>
          <p:cNvSpPr/>
          <p:nvPr/>
        </p:nvSpPr>
        <p:spPr>
          <a:xfrm>
            <a:off x="5129784" y="2697480"/>
            <a:ext cx="6275527" cy="1024128"/>
          </a:xfrm>
          <a:prstGeom prst="rect">
            <a:avLst/>
          </a:prstGeom>
          <a:noFill/>
          <a:ln/>
        </p:spPr>
        <p:txBody>
          <a:bodyPr wrap="square" lIns="0" tIns="0" rIns="0" bIns="0" rtlCol="0" anchor="ctr"/>
          <a:lstStyle/>
          <a:p>
            <a:pPr indent="0" marL="0">
              <a:buNone/>
            </a:pPr>
            <a:r>
              <a:rPr lang="en-US" sz="2200" b="1" dirty="0">
                <a:solidFill>
                  <a:srgbClr val="3D2F6B"/>
                </a:solidFill>
                <a:latin typeface="Cambria" pitchFamily="34" charset="0"/>
                <a:ea typeface="Cambria" pitchFamily="34" charset="-122"/>
                <a:cs typeface="Cambria" pitchFamily="34" charset="-120"/>
              </a:rPr>
              <a:t>ρ = 0.361 → 0.384</a:t>
            </a:r>
            <a:endParaRPr lang="en-US" sz="2200" dirty="0"/>
          </a:p>
          <a:p>
            <a:pPr indent="0" marL="0">
              <a:buNone/>
            </a:pPr>
            <a:r>
              <a:rPr lang="en-US" sz="1100" dirty="0">
                <a:solidFill>
                  <a:srgbClr val="4A5768"/>
                </a:solidFill>
                <a:latin typeface="Calibri" pitchFamily="34" charset="0"/>
                <a:ea typeface="Calibri" pitchFamily="34" charset="-122"/>
                <a:cs typeface="Calibri" pitchFamily="34" charset="-120"/>
              </a:rPr>
              <a:t>13-gene antigen-presentation programme  ·  depth-controlled  ·  7.95 σ above null</a:t>
            </a:r>
            <a:endParaRPr lang="en-US" sz="2200" dirty="0"/>
          </a:p>
        </p:txBody>
      </p:sp>
      <p:graphicFrame>
        <p:nvGraphicFramePr>
          <p:cNvPr id="17" name="Chart 0" descr=""/>
          <p:cNvGraphicFramePr/>
          <p:nvPr/>
        </p:nvGraphicFramePr>
        <p:xfrm>
          <a:off x="4892040" y="3858768"/>
          <a:ext cx="6751015" cy="2148840"/>
        </p:xfrm>
        <a:graphic xmlns:a="http://schemas.openxmlformats.org/drawingml/2006/main">
          <a:graphicData uri="http://schemas.openxmlformats.org/drawingml/2006/chart">
            <c:chart xmlns:c="http://schemas.openxmlformats.org/drawingml/2006/chart" r:id="rId2"/>
          </a:graphicData>
        </a:graphic>
      </p:graphicFrame>
      <p:sp>
        <p:nvSpPr>
          <p:cNvPr id="18" name="Text 14"/>
          <p:cNvSpPr/>
          <p:nvPr/>
        </p:nvSpPr>
        <p:spPr>
          <a:xfrm>
            <a:off x="4892040" y="5943600"/>
            <a:ext cx="6751015" cy="438912"/>
          </a:xfrm>
          <a:prstGeom prst="rect">
            <a:avLst/>
          </a:prstGeom>
          <a:noFill/>
          <a:ln/>
        </p:spPr>
        <p:txBody>
          <a:bodyPr wrap="square" lIns="0" tIns="0" rIns="0" bIns="0" rtlCol="0" anchor="t"/>
          <a:lstStyle/>
          <a:p>
            <a:pPr indent="0" marL="0">
              <a:buNone/>
            </a:pPr>
            <a:r>
              <a:rPr lang="en-US" sz="1050" i="1" dirty="0">
                <a:solidFill>
                  <a:srgbClr val="7A8798"/>
                </a:solidFill>
                <a:latin typeface="Calibri" pitchFamily="34" charset="0"/>
                <a:ea typeface="Calibri" pitchFamily="34" charset="-122"/>
                <a:cs typeface="Calibri" pitchFamily="34" charset="-120"/>
              </a:rPr>
              <a:t>Modest effects, high between-specimen heterogeneity (I² ≈ 99%) — real differences in microenvironment composition, not measurement noise.</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91440"/>
            <a:ext cx="11094415" cy="201168"/>
          </a:xfrm>
          <a:prstGeom prst="rect">
            <a:avLst/>
          </a:prstGeom>
          <a:noFill/>
          <a:ln/>
        </p:spPr>
        <p:txBody>
          <a:bodyPr wrap="square" lIns="0" tIns="0" rIns="0" bIns="0" rtlCol="0" anchor="ctr"/>
          <a:lstStyle/>
          <a:p>
            <a:pPr indent="0" marL="0">
              <a:buNone/>
            </a:pPr>
            <a:r>
              <a:rPr lang="en-US" sz="1100" b="1" spc="160" kern="0" dirty="0">
                <a:solidFill>
                  <a:srgbClr val="0B6F6A"/>
                </a:solidFill>
                <a:latin typeface="Calibri" pitchFamily="34" charset="0"/>
                <a:ea typeface="Calibri" pitchFamily="34" charset="-122"/>
                <a:cs typeface="Calibri" pitchFamily="34" charset="-120"/>
              </a:rPr>
              <a:t>MECHANISM</a:t>
            </a:r>
            <a:endParaRPr lang="en-US" sz="1100" dirty="0"/>
          </a:p>
        </p:txBody>
      </p:sp>
      <p:sp>
        <p:nvSpPr>
          <p:cNvPr id="3" name="Text 1"/>
          <p:cNvSpPr/>
          <p:nvPr/>
        </p:nvSpPr>
        <p:spPr>
          <a:xfrm>
            <a:off x="548640" y="329184"/>
            <a:ext cx="11094415" cy="1051560"/>
          </a:xfrm>
          <a:prstGeom prst="rect">
            <a:avLst/>
          </a:prstGeom>
          <a:noFill/>
          <a:ln/>
        </p:spPr>
        <p:txBody>
          <a:bodyPr wrap="square" lIns="0" tIns="0" rIns="0" bIns="0" rtlCol="0" anchor="t"/>
          <a:lstStyle/>
          <a:p>
            <a:pPr algn="l" indent="0" marL="0">
              <a:buNone/>
            </a:pPr>
            <a:r>
              <a:rPr lang="en-US" sz="2700" b="1" dirty="0">
                <a:solidFill>
                  <a:srgbClr val="10243C"/>
                </a:solidFill>
                <a:latin typeface="Cambria" pitchFamily="34" charset="0"/>
                <a:ea typeface="Cambria" pitchFamily="34" charset="-122"/>
                <a:cs typeface="Cambria" pitchFamily="34" charset="-120"/>
              </a:rPr>
              <a:t>The hits sit in one connected interaction neighbourhood — from prior knowledge, not inferred here</a:t>
            </a:r>
            <a:endParaRPr lang="en-US" sz="2700" dirty="0"/>
          </a:p>
        </p:txBody>
      </p:sp>
      <p:sp>
        <p:nvSpPr>
          <p:cNvPr id="4" name="Text 2"/>
          <p:cNvSpPr/>
          <p:nvPr/>
        </p:nvSpPr>
        <p:spPr>
          <a:xfrm>
            <a:off x="548640" y="6419088"/>
            <a:ext cx="7315200" cy="256032"/>
          </a:xfrm>
          <a:prstGeom prst="rect">
            <a:avLst/>
          </a:prstGeom>
          <a:noFill/>
          <a:ln/>
        </p:spPr>
        <p:txBody>
          <a:bodyPr wrap="square" lIns="0" tIns="0" rIns="0" bIns="0" rtlCol="0" anchor="ctr"/>
          <a:lstStyle/>
          <a:p>
            <a:pPr indent="0" marL="0">
              <a:buNone/>
            </a:pPr>
            <a:r>
              <a:rPr lang="en-US" sz="950" dirty="0">
                <a:solidFill>
                  <a:srgbClr val="7A8798"/>
                </a:solidFill>
                <a:latin typeface="Calibri" pitchFamily="34" charset="0"/>
                <a:ea typeface="Calibri" pitchFamily="34" charset="-122"/>
                <a:cs typeface="Calibri" pitchFamily="34" charset="-120"/>
              </a:rPr>
              <a:t>STRING literature overlay</a:t>
            </a:r>
            <a:endParaRPr lang="en-US" sz="950" dirty="0"/>
          </a:p>
        </p:txBody>
      </p:sp>
      <p:sp>
        <p:nvSpPr>
          <p:cNvPr id="5" name="Text 3"/>
          <p:cNvSpPr/>
          <p:nvPr/>
        </p:nvSpPr>
        <p:spPr>
          <a:xfrm>
            <a:off x="11002975" y="6419088"/>
            <a:ext cx="640080" cy="256032"/>
          </a:xfrm>
          <a:prstGeom prst="rect">
            <a:avLst/>
          </a:prstGeom>
          <a:noFill/>
          <a:ln/>
        </p:spPr>
        <p:txBody>
          <a:bodyPr wrap="square" lIns="0" tIns="0" rIns="0" bIns="0" rtlCol="0" anchor="ctr"/>
          <a:lstStyle/>
          <a:p>
            <a:pPr algn="r" indent="0" marL="0">
              <a:buNone/>
            </a:pPr>
            <a:r>
              <a:rPr lang="en-US" sz="950" dirty="0">
                <a:solidFill>
                  <a:srgbClr val="7A8798"/>
                </a:solidFill>
                <a:latin typeface="Calibri" pitchFamily="34" charset="0"/>
                <a:ea typeface="Calibri" pitchFamily="34" charset="-122"/>
                <a:cs typeface="Calibri" pitchFamily="34" charset="-120"/>
              </a:rPr>
              <a:t>10</a:t>
            </a:r>
            <a:endParaRPr lang="en-US" sz="950" dirty="0"/>
          </a:p>
        </p:txBody>
      </p:sp>
      <p:pic>
        <p:nvPicPr>
          <p:cNvPr id="6" name="Image 0" descr="/Users/kaisar/workspace/geneformer-lung-tcell/talk/assets/network_c.png">    </p:cNvPr>
          <p:cNvPicPr>
            <a:picLocks noChangeAspect="1"/>
          </p:cNvPicPr>
          <p:nvPr/>
        </p:nvPicPr>
        <p:blipFill>
          <a:blip r:embed="rId1"/>
          <a:stretch>
            <a:fillRect/>
          </a:stretch>
        </p:blipFill>
        <p:spPr>
          <a:xfrm>
            <a:off x="548640" y="1554480"/>
            <a:ext cx="5943600" cy="3997665"/>
          </a:xfrm>
          <a:prstGeom prst="rect">
            <a:avLst/>
          </a:prstGeom>
        </p:spPr>
      </p:pic>
      <p:sp>
        <p:nvSpPr>
          <p:cNvPr id="7" name="Text 4"/>
          <p:cNvSpPr/>
          <p:nvPr/>
        </p:nvSpPr>
        <p:spPr>
          <a:xfrm>
            <a:off x="548640" y="5596128"/>
            <a:ext cx="5943600" cy="237744"/>
          </a:xfrm>
          <a:prstGeom prst="rect">
            <a:avLst/>
          </a:prstGeom>
          <a:noFill/>
          <a:ln/>
        </p:spPr>
        <p:txBody>
          <a:bodyPr wrap="square" lIns="0" tIns="0" rIns="0" bIns="0" rtlCol="0" anchor="t"/>
          <a:lstStyle/>
          <a:p>
            <a:pPr indent="0" marL="0">
              <a:buNone/>
            </a:pPr>
            <a:r>
              <a:rPr lang="en-US" sz="950" i="1" dirty="0">
                <a:solidFill>
                  <a:srgbClr val="7A8798"/>
                </a:solidFill>
                <a:latin typeface="Calibri" pitchFamily="34" charset="0"/>
                <a:ea typeface="Calibri" pitchFamily="34" charset="-122"/>
                <a:cs typeface="Calibri" pitchFamily="34" charset="-120"/>
              </a:rPr>
              <a:t>All 11 ICI/CAR-T candidates on the STRING map; colour = SCLC→Normal deletion shift.</a:t>
            </a:r>
            <a:endParaRPr lang="en-US" sz="950" dirty="0"/>
          </a:p>
        </p:txBody>
      </p:sp>
      <p:sp>
        <p:nvSpPr>
          <p:cNvPr id="8" name="Text 5"/>
          <p:cNvSpPr/>
          <p:nvPr/>
        </p:nvSpPr>
        <p:spPr>
          <a:xfrm>
            <a:off x="6903720" y="1554480"/>
            <a:ext cx="4739335" cy="292608"/>
          </a:xfrm>
          <a:prstGeom prst="rect">
            <a:avLst/>
          </a:prstGeom>
          <a:noFill/>
          <a:ln/>
        </p:spPr>
        <p:txBody>
          <a:bodyPr wrap="square" lIns="0" tIns="0" rIns="0" bIns="0" rtlCol="0" anchor="ctr"/>
          <a:lstStyle/>
          <a:p>
            <a:pPr indent="0" marL="0">
              <a:buNone/>
            </a:pPr>
            <a:r>
              <a:rPr lang="en-US" sz="1400" b="1" dirty="0">
                <a:solidFill>
                  <a:srgbClr val="10243C"/>
                </a:solidFill>
                <a:latin typeface="Calibri" pitchFamily="34" charset="0"/>
                <a:ea typeface="Calibri" pitchFamily="34" charset="-122"/>
                <a:cs typeface="Calibri" pitchFamily="34" charset="-120"/>
              </a:rPr>
              <a:t>Evidence behind each hit</a:t>
            </a:r>
            <a:endParaRPr lang="en-US" sz="1400" dirty="0"/>
          </a:p>
        </p:txBody>
      </p:sp>
      <p:sp>
        <p:nvSpPr>
          <p:cNvPr id="9" name="Text 6"/>
          <p:cNvSpPr/>
          <p:nvPr/>
        </p:nvSpPr>
        <p:spPr>
          <a:xfrm>
            <a:off x="6903720" y="1938528"/>
            <a:ext cx="1371600" cy="256032"/>
          </a:xfrm>
          <a:prstGeom prst="rect">
            <a:avLst/>
          </a:prstGeom>
          <a:noFill/>
          <a:ln/>
        </p:spPr>
        <p:txBody>
          <a:bodyPr wrap="square" lIns="0" tIns="0" rIns="0" bIns="0" rtlCol="0" anchor="ctr"/>
          <a:lstStyle/>
          <a:p>
            <a:pPr indent="0" marL="0">
              <a:buNone/>
            </a:pPr>
            <a:r>
              <a:rPr lang="en-US" sz="1300" b="1" dirty="0">
                <a:solidFill>
                  <a:srgbClr val="10243C"/>
                </a:solidFill>
                <a:latin typeface="Calibri" pitchFamily="34" charset="0"/>
                <a:ea typeface="Calibri" pitchFamily="34" charset="-122"/>
                <a:cs typeface="Calibri" pitchFamily="34" charset="-120"/>
              </a:rPr>
              <a:t>TIGIT</a:t>
            </a:r>
            <a:endParaRPr lang="en-US" sz="1300" dirty="0"/>
          </a:p>
        </p:txBody>
      </p:sp>
      <p:sp>
        <p:nvSpPr>
          <p:cNvPr id="10" name="Shape 7"/>
          <p:cNvSpPr/>
          <p:nvPr/>
        </p:nvSpPr>
        <p:spPr>
          <a:xfrm>
            <a:off x="8275320" y="2002536"/>
            <a:ext cx="3367735" cy="137160"/>
          </a:xfrm>
          <a:prstGeom prst="roundRect">
            <a:avLst>
              <a:gd name="adj" fmla="val 46667"/>
            </a:avLst>
          </a:prstGeom>
          <a:solidFill>
            <a:srgbClr val="E4EAF0"/>
          </a:solidFill>
          <a:ln w="12700">
            <a:solidFill>
              <a:srgbClr val="E4EAF0"/>
            </a:solidFill>
            <a:prstDash val="solid"/>
          </a:ln>
        </p:spPr>
      </p:sp>
      <p:sp>
        <p:nvSpPr>
          <p:cNvPr id="11" name="Shape 8"/>
          <p:cNvSpPr/>
          <p:nvPr/>
        </p:nvSpPr>
        <p:spPr>
          <a:xfrm>
            <a:off x="8275320" y="2002536"/>
            <a:ext cx="3199348" cy="137160"/>
          </a:xfrm>
          <a:prstGeom prst="roundRect">
            <a:avLst>
              <a:gd name="adj" fmla="val 46667"/>
            </a:avLst>
          </a:prstGeom>
          <a:solidFill>
            <a:srgbClr val="0B6F6A"/>
          </a:solidFill>
          <a:ln w="12700">
            <a:solidFill>
              <a:srgbClr val="0B6F6A"/>
            </a:solidFill>
            <a:prstDash val="solid"/>
          </a:ln>
        </p:spPr>
      </p:sp>
      <p:sp>
        <p:nvSpPr>
          <p:cNvPr id="12" name="Text 9"/>
          <p:cNvSpPr/>
          <p:nvPr/>
        </p:nvSpPr>
        <p:spPr>
          <a:xfrm>
            <a:off x="6903720" y="2212848"/>
            <a:ext cx="4739335" cy="274320"/>
          </a:xfrm>
          <a:prstGeom prst="rect">
            <a:avLst/>
          </a:prstGeom>
          <a:noFill/>
          <a:ln/>
        </p:spPr>
        <p:txBody>
          <a:bodyPr wrap="square" lIns="0" tIns="0" rIns="0" bIns="0" rtlCol="0" anchor="t"/>
          <a:lstStyle/>
          <a:p>
            <a:pPr indent="0" marL="0">
              <a:buNone/>
            </a:pPr>
            <a:r>
              <a:rPr lang="en-US" sz="1050" dirty="0">
                <a:solidFill>
                  <a:srgbClr val="4A5768"/>
                </a:solidFill>
                <a:latin typeface="Calibri" pitchFamily="34" charset="0"/>
                <a:ea typeface="Calibri" pitchFamily="34" charset="-122"/>
                <a:cs typeface="Calibri" pitchFamily="34" charset="-120"/>
              </a:rPr>
              <a:t>CAR-T support</a:t>
            </a:r>
            <a:endParaRPr lang="en-US" sz="1050" dirty="0"/>
          </a:p>
        </p:txBody>
      </p:sp>
      <p:sp>
        <p:nvSpPr>
          <p:cNvPr id="13" name="Text 10"/>
          <p:cNvSpPr/>
          <p:nvPr/>
        </p:nvSpPr>
        <p:spPr>
          <a:xfrm>
            <a:off x="6903720" y="2651760"/>
            <a:ext cx="1371600" cy="256032"/>
          </a:xfrm>
          <a:prstGeom prst="rect">
            <a:avLst/>
          </a:prstGeom>
          <a:noFill/>
          <a:ln/>
        </p:spPr>
        <p:txBody>
          <a:bodyPr wrap="square" lIns="0" tIns="0" rIns="0" bIns="0" rtlCol="0" anchor="ctr"/>
          <a:lstStyle/>
          <a:p>
            <a:pPr indent="0" marL="0">
              <a:buNone/>
            </a:pPr>
            <a:r>
              <a:rPr lang="en-US" sz="1300" b="1" dirty="0">
                <a:solidFill>
                  <a:srgbClr val="10243C"/>
                </a:solidFill>
                <a:latin typeface="Calibri" pitchFamily="34" charset="0"/>
                <a:ea typeface="Calibri" pitchFamily="34" charset="-122"/>
                <a:cs typeface="Calibri" pitchFamily="34" charset="-120"/>
              </a:rPr>
              <a:t>TIM-3</a:t>
            </a:r>
            <a:endParaRPr lang="en-US" sz="1300" dirty="0"/>
          </a:p>
        </p:txBody>
      </p:sp>
      <p:sp>
        <p:nvSpPr>
          <p:cNvPr id="14" name="Shape 11"/>
          <p:cNvSpPr/>
          <p:nvPr/>
        </p:nvSpPr>
        <p:spPr>
          <a:xfrm>
            <a:off x="8275320" y="2715768"/>
            <a:ext cx="3367735" cy="137160"/>
          </a:xfrm>
          <a:prstGeom prst="roundRect">
            <a:avLst>
              <a:gd name="adj" fmla="val 46667"/>
            </a:avLst>
          </a:prstGeom>
          <a:solidFill>
            <a:srgbClr val="E4EAF0"/>
          </a:solidFill>
          <a:ln w="12700">
            <a:solidFill>
              <a:srgbClr val="E4EAF0"/>
            </a:solidFill>
            <a:prstDash val="solid"/>
          </a:ln>
        </p:spPr>
      </p:sp>
      <p:sp>
        <p:nvSpPr>
          <p:cNvPr id="15" name="Shape 12"/>
          <p:cNvSpPr/>
          <p:nvPr/>
        </p:nvSpPr>
        <p:spPr>
          <a:xfrm>
            <a:off x="8275320" y="2715768"/>
            <a:ext cx="3030962" cy="137160"/>
          </a:xfrm>
          <a:prstGeom prst="roundRect">
            <a:avLst>
              <a:gd name="adj" fmla="val 46667"/>
            </a:avLst>
          </a:prstGeom>
          <a:solidFill>
            <a:srgbClr val="0B6F6A"/>
          </a:solidFill>
          <a:ln w="12700">
            <a:solidFill>
              <a:srgbClr val="0B6F6A"/>
            </a:solidFill>
            <a:prstDash val="solid"/>
          </a:ln>
        </p:spPr>
      </p:sp>
      <p:sp>
        <p:nvSpPr>
          <p:cNvPr id="16" name="Text 13"/>
          <p:cNvSpPr/>
          <p:nvPr/>
        </p:nvSpPr>
        <p:spPr>
          <a:xfrm>
            <a:off x="6903720" y="2926080"/>
            <a:ext cx="4739335" cy="274320"/>
          </a:xfrm>
          <a:prstGeom prst="rect">
            <a:avLst/>
          </a:prstGeom>
          <a:noFill/>
          <a:ln/>
        </p:spPr>
        <p:txBody>
          <a:bodyPr wrap="square" lIns="0" tIns="0" rIns="0" bIns="0" rtlCol="0" anchor="t"/>
          <a:lstStyle/>
          <a:p>
            <a:pPr indent="0" marL="0">
              <a:buNone/>
            </a:pPr>
            <a:r>
              <a:rPr lang="en-US" sz="1050" dirty="0">
                <a:solidFill>
                  <a:srgbClr val="4A5768"/>
                </a:solidFill>
                <a:latin typeface="Calibri" pitchFamily="34" charset="0"/>
                <a:ea typeface="Calibri" pitchFamily="34" charset="-122"/>
                <a:cs typeface="Calibri" pitchFamily="34" charset="-120"/>
              </a:rPr>
              <a:t>Solid-tumour KO precedent</a:t>
            </a:r>
            <a:endParaRPr lang="en-US" sz="1050" dirty="0"/>
          </a:p>
        </p:txBody>
      </p:sp>
      <p:sp>
        <p:nvSpPr>
          <p:cNvPr id="17" name="Text 14"/>
          <p:cNvSpPr/>
          <p:nvPr/>
        </p:nvSpPr>
        <p:spPr>
          <a:xfrm>
            <a:off x="6903720" y="3364992"/>
            <a:ext cx="1371600" cy="256032"/>
          </a:xfrm>
          <a:prstGeom prst="rect">
            <a:avLst/>
          </a:prstGeom>
          <a:noFill/>
          <a:ln/>
        </p:spPr>
        <p:txBody>
          <a:bodyPr wrap="square" lIns="0" tIns="0" rIns="0" bIns="0" rtlCol="0" anchor="ctr"/>
          <a:lstStyle/>
          <a:p>
            <a:pPr indent="0" marL="0">
              <a:buNone/>
            </a:pPr>
            <a:r>
              <a:rPr lang="en-US" sz="1300" b="1" dirty="0">
                <a:solidFill>
                  <a:srgbClr val="10243C"/>
                </a:solidFill>
                <a:latin typeface="Calibri" pitchFamily="34" charset="0"/>
                <a:ea typeface="Calibri" pitchFamily="34" charset="-122"/>
                <a:cs typeface="Calibri" pitchFamily="34" charset="-120"/>
              </a:rPr>
              <a:t>CTLA-4</a:t>
            </a:r>
            <a:endParaRPr lang="en-US" sz="1300" dirty="0"/>
          </a:p>
        </p:txBody>
      </p:sp>
      <p:sp>
        <p:nvSpPr>
          <p:cNvPr id="18" name="Shape 15"/>
          <p:cNvSpPr/>
          <p:nvPr/>
        </p:nvSpPr>
        <p:spPr>
          <a:xfrm>
            <a:off x="8275320" y="3429000"/>
            <a:ext cx="3367735" cy="137160"/>
          </a:xfrm>
          <a:prstGeom prst="roundRect">
            <a:avLst>
              <a:gd name="adj" fmla="val 46667"/>
            </a:avLst>
          </a:prstGeom>
          <a:solidFill>
            <a:srgbClr val="E4EAF0"/>
          </a:solidFill>
          <a:ln w="12700">
            <a:solidFill>
              <a:srgbClr val="E4EAF0"/>
            </a:solidFill>
            <a:prstDash val="solid"/>
          </a:ln>
        </p:spPr>
      </p:sp>
      <p:sp>
        <p:nvSpPr>
          <p:cNvPr id="19" name="Shape 16"/>
          <p:cNvSpPr/>
          <p:nvPr/>
        </p:nvSpPr>
        <p:spPr>
          <a:xfrm>
            <a:off x="8275320" y="3429000"/>
            <a:ext cx="1852254" cy="137160"/>
          </a:xfrm>
          <a:prstGeom prst="roundRect">
            <a:avLst>
              <a:gd name="adj" fmla="val 46667"/>
            </a:avLst>
          </a:prstGeom>
          <a:solidFill>
            <a:srgbClr val="6B5AA8"/>
          </a:solidFill>
          <a:ln w="12700">
            <a:solidFill>
              <a:srgbClr val="6B5AA8"/>
            </a:solidFill>
            <a:prstDash val="solid"/>
          </a:ln>
        </p:spPr>
      </p:sp>
      <p:sp>
        <p:nvSpPr>
          <p:cNvPr id="20" name="Text 17"/>
          <p:cNvSpPr/>
          <p:nvPr/>
        </p:nvSpPr>
        <p:spPr>
          <a:xfrm>
            <a:off x="6903720" y="3639312"/>
            <a:ext cx="4739335" cy="274320"/>
          </a:xfrm>
          <a:prstGeom prst="rect">
            <a:avLst/>
          </a:prstGeom>
          <a:noFill/>
          <a:ln/>
        </p:spPr>
        <p:txBody>
          <a:bodyPr wrap="square" lIns="0" tIns="0" rIns="0" bIns="0" rtlCol="0" anchor="t"/>
          <a:lstStyle/>
          <a:p>
            <a:pPr indent="0" marL="0">
              <a:buNone/>
            </a:pPr>
            <a:r>
              <a:rPr lang="en-US" sz="1050" dirty="0">
                <a:solidFill>
                  <a:srgbClr val="4A5768"/>
                </a:solidFill>
                <a:latin typeface="Calibri" pitchFamily="34" charset="0"/>
                <a:ea typeface="Calibri" pitchFamily="34" charset="-122"/>
                <a:cs typeface="Calibri" pitchFamily="34" charset="-120"/>
              </a:rPr>
              <a:t>Real signal, less CAR-T-specific</a:t>
            </a:r>
            <a:endParaRPr lang="en-US" sz="1050" dirty="0"/>
          </a:p>
        </p:txBody>
      </p:sp>
      <p:sp>
        <p:nvSpPr>
          <p:cNvPr id="21" name="Text 18"/>
          <p:cNvSpPr/>
          <p:nvPr/>
        </p:nvSpPr>
        <p:spPr>
          <a:xfrm>
            <a:off x="6903720" y="4078224"/>
            <a:ext cx="1371600" cy="256032"/>
          </a:xfrm>
          <a:prstGeom prst="rect">
            <a:avLst/>
          </a:prstGeom>
          <a:noFill/>
          <a:ln/>
        </p:spPr>
        <p:txBody>
          <a:bodyPr wrap="square" lIns="0" tIns="0" rIns="0" bIns="0" rtlCol="0" anchor="ctr"/>
          <a:lstStyle/>
          <a:p>
            <a:pPr indent="0" marL="0">
              <a:buNone/>
            </a:pPr>
            <a:r>
              <a:rPr lang="en-US" sz="1300" b="1" dirty="0">
                <a:solidFill>
                  <a:srgbClr val="10243C"/>
                </a:solidFill>
                <a:latin typeface="Calibri" pitchFamily="34" charset="0"/>
                <a:ea typeface="Calibri" pitchFamily="34" charset="-122"/>
                <a:cs typeface="Calibri" pitchFamily="34" charset="-120"/>
              </a:rPr>
              <a:t>IL7R</a:t>
            </a:r>
            <a:endParaRPr lang="en-US" sz="1300" dirty="0"/>
          </a:p>
        </p:txBody>
      </p:sp>
      <p:sp>
        <p:nvSpPr>
          <p:cNvPr id="22" name="Shape 19"/>
          <p:cNvSpPr/>
          <p:nvPr/>
        </p:nvSpPr>
        <p:spPr>
          <a:xfrm>
            <a:off x="8275320" y="4142232"/>
            <a:ext cx="3367735" cy="137160"/>
          </a:xfrm>
          <a:prstGeom prst="roundRect">
            <a:avLst>
              <a:gd name="adj" fmla="val 46667"/>
            </a:avLst>
          </a:prstGeom>
          <a:solidFill>
            <a:srgbClr val="E4EAF0"/>
          </a:solidFill>
          <a:ln w="12700">
            <a:solidFill>
              <a:srgbClr val="E4EAF0"/>
            </a:solidFill>
            <a:prstDash val="solid"/>
          </a:ln>
        </p:spPr>
      </p:sp>
      <p:sp>
        <p:nvSpPr>
          <p:cNvPr id="23" name="Shape 20"/>
          <p:cNvSpPr/>
          <p:nvPr/>
        </p:nvSpPr>
        <p:spPr>
          <a:xfrm>
            <a:off x="8275320" y="4142232"/>
            <a:ext cx="1515481" cy="137160"/>
          </a:xfrm>
          <a:prstGeom prst="roundRect">
            <a:avLst>
              <a:gd name="adj" fmla="val 46667"/>
            </a:avLst>
          </a:prstGeom>
          <a:solidFill>
            <a:srgbClr val="B8465E"/>
          </a:solidFill>
          <a:ln w="12700">
            <a:solidFill>
              <a:srgbClr val="B8465E"/>
            </a:solidFill>
            <a:prstDash val="solid"/>
          </a:ln>
        </p:spPr>
      </p:sp>
      <p:sp>
        <p:nvSpPr>
          <p:cNvPr id="24" name="Text 21"/>
          <p:cNvSpPr/>
          <p:nvPr/>
        </p:nvSpPr>
        <p:spPr>
          <a:xfrm>
            <a:off x="6903720" y="4352544"/>
            <a:ext cx="4739335" cy="274320"/>
          </a:xfrm>
          <a:prstGeom prst="rect">
            <a:avLst/>
          </a:prstGeom>
          <a:noFill/>
          <a:ln/>
        </p:spPr>
        <p:txBody>
          <a:bodyPr wrap="square" lIns="0" tIns="0" rIns="0" bIns="0" rtlCol="0" anchor="t"/>
          <a:lstStyle/>
          <a:p>
            <a:pPr indent="0" marL="0">
              <a:buNone/>
            </a:pPr>
            <a:r>
              <a:rPr lang="en-US" sz="1050" dirty="0">
                <a:solidFill>
                  <a:srgbClr val="4A5768"/>
                </a:solidFill>
                <a:latin typeface="Calibri" pitchFamily="34" charset="0"/>
                <a:ea typeface="Calibri" pitchFamily="34" charset="-122"/>
                <a:cs typeface="Calibri" pitchFamily="34" charset="-120"/>
              </a:rPr>
              <a:t>Persistence, not exhaustion</a:t>
            </a:r>
            <a:endParaRPr lang="en-US" sz="1050" dirty="0"/>
          </a:p>
        </p:txBody>
      </p:sp>
      <p:sp>
        <p:nvSpPr>
          <p:cNvPr id="25" name="Shape 22"/>
          <p:cNvSpPr/>
          <p:nvPr/>
        </p:nvSpPr>
        <p:spPr>
          <a:xfrm>
            <a:off x="6903720" y="4937760"/>
            <a:ext cx="4739335" cy="1234440"/>
          </a:xfrm>
          <a:prstGeom prst="roundRect">
            <a:avLst>
              <a:gd name="adj" fmla="val 4444"/>
            </a:avLst>
          </a:prstGeom>
          <a:solidFill>
            <a:srgbClr val="F2F5F9"/>
          </a:solidFill>
          <a:ln w="9525">
            <a:solidFill>
              <a:srgbClr val="D5DEE7"/>
            </a:solidFill>
            <a:prstDash val="solid"/>
          </a:ln>
        </p:spPr>
      </p:sp>
      <p:sp>
        <p:nvSpPr>
          <p:cNvPr id="26" name="Text 23"/>
          <p:cNvSpPr/>
          <p:nvPr/>
        </p:nvSpPr>
        <p:spPr>
          <a:xfrm>
            <a:off x="7123176" y="5084064"/>
            <a:ext cx="4300423" cy="960120"/>
          </a:xfrm>
          <a:prstGeom prst="rect">
            <a:avLst/>
          </a:prstGeom>
          <a:noFill/>
          <a:ln/>
        </p:spPr>
        <p:txBody>
          <a:bodyPr wrap="square" lIns="0" tIns="0" rIns="0" bIns="0" rtlCol="0" anchor="t"/>
          <a:lstStyle/>
          <a:p>
            <a:pPr marL="177800" indent="-177800">
              <a:lnSpc>
                <a:spcPts val="2000"/>
              </a:lnSpc>
              <a:spcAft>
                <a:spcPts val="300"/>
              </a:spcAft>
              <a:buSzPct val="100000"/>
              <a:buChar char="•"/>
            </a:pPr>
            <a:r>
              <a:rPr lang="en-US" sz="1100" dirty="0">
                <a:solidFill>
                  <a:srgbClr val="4A5768"/>
                </a:solidFill>
                <a:latin typeface="Calibri" pitchFamily="34" charset="0"/>
                <a:ea typeface="Calibri" pitchFamily="34" charset="-122"/>
                <a:cs typeface="Calibri" pitchFamily="34" charset="-120"/>
              </a:rPr>
              <a:t>54 STRING edges among 16 context genes</a:t>
            </a:r>
            <a:endParaRPr lang="en-US" sz="1100" dirty="0"/>
          </a:p>
          <a:p>
            <a:pPr marL="177800" indent="-177800">
              <a:lnSpc>
                <a:spcPts val="2000"/>
              </a:lnSpc>
              <a:spcAft>
                <a:spcPts val="300"/>
              </a:spcAft>
              <a:buSzPct val="100000"/>
              <a:buChar char="•"/>
            </a:pPr>
            <a:r>
              <a:rPr lang="en-US" sz="1100" dirty="0">
                <a:solidFill>
                  <a:srgbClr val="4A5768"/>
                </a:solidFill>
                <a:latin typeface="Calibri" pitchFamily="34" charset="0"/>
                <a:ea typeface="Calibri" pitchFamily="34" charset="-122"/>
                <a:cs typeface="Calibri" pitchFamily="34" charset="-120"/>
              </a:rPr>
              <a:t>TOX, LAYN: no edge above threshold</a:t>
            </a:r>
            <a:endParaRPr lang="en-US" sz="1100" dirty="0"/>
          </a:p>
          <a:p>
            <a:pPr marL="177800" indent="-177800">
              <a:lnSpc>
                <a:spcPts val="2000"/>
              </a:lnSpc>
              <a:spcAft>
                <a:spcPts val="300"/>
              </a:spcAft>
              <a:buSzPct val="100000"/>
              <a:buChar char="•"/>
            </a:pPr>
            <a:r>
              <a:rPr lang="en-US" sz="1100" dirty="0">
                <a:solidFill>
                  <a:srgbClr val="4A5768"/>
                </a:solidFill>
                <a:latin typeface="Calibri" pitchFamily="34" charset="0"/>
                <a:ea typeface="Calibri" pitchFamily="34" charset="-122"/>
                <a:cs typeface="Calibri" pitchFamily="34" charset="-120"/>
              </a:rPr>
              <a:t>PD-L1 absent from the T-cell atlas</a:t>
            </a:r>
            <a:endParaRPr lang="en-US" sz="1100" dirty="0"/>
          </a:p>
        </p:txBody>
      </p:sp>
      <p:sp>
        <p:nvSpPr>
          <p:cNvPr id="27" name="Text 24"/>
          <p:cNvSpPr/>
          <p:nvPr/>
        </p:nvSpPr>
        <p:spPr>
          <a:xfrm>
            <a:off x="548640" y="5989320"/>
            <a:ext cx="5943600" cy="292608"/>
          </a:xfrm>
          <a:prstGeom prst="rect">
            <a:avLst/>
          </a:prstGeom>
          <a:noFill/>
          <a:ln/>
        </p:spPr>
        <p:txBody>
          <a:bodyPr wrap="square" lIns="0" tIns="0" rIns="0" bIns="0" rtlCol="0" anchor="ctr"/>
          <a:lstStyle/>
          <a:p>
            <a:pPr indent="0" marL="0">
              <a:buNone/>
            </a:pPr>
            <a:r>
              <a:rPr lang="en-US" sz="1200" b="1" dirty="0">
                <a:solidFill>
                  <a:srgbClr val="B8465E"/>
                </a:solidFill>
                <a:latin typeface="Calibri" pitchFamily="34" charset="0"/>
                <a:ea typeface="Calibri" pitchFamily="34" charset="-122"/>
                <a:cs typeface="Calibri" pitchFamily="34" charset="-120"/>
              </a:rPr>
              <a:t>Prior interaction evidence — not a network inferred from these cells.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91440"/>
            <a:ext cx="11094415" cy="201168"/>
          </a:xfrm>
          <a:prstGeom prst="rect">
            <a:avLst/>
          </a:prstGeom>
          <a:noFill/>
          <a:ln/>
        </p:spPr>
        <p:txBody>
          <a:bodyPr wrap="square" lIns="0" tIns="0" rIns="0" bIns="0" rtlCol="0" anchor="ctr"/>
          <a:lstStyle/>
          <a:p>
            <a:pPr indent="0" marL="0">
              <a:buNone/>
            </a:pPr>
            <a:r>
              <a:rPr lang="en-US" sz="1100" b="1" spc="160" kern="0" dirty="0">
                <a:solidFill>
                  <a:srgbClr val="7A8798"/>
                </a:solidFill>
                <a:latin typeface="Calibri" pitchFamily="34" charset="0"/>
                <a:ea typeface="Calibri" pitchFamily="34" charset="-122"/>
                <a:cs typeface="Calibri" pitchFamily="34" charset="-120"/>
              </a:rPr>
              <a:t>SCOPE</a:t>
            </a:r>
            <a:endParaRPr lang="en-US" sz="1100" dirty="0"/>
          </a:p>
        </p:txBody>
      </p:sp>
      <p:sp>
        <p:nvSpPr>
          <p:cNvPr id="3" name="Text 1"/>
          <p:cNvSpPr/>
          <p:nvPr/>
        </p:nvSpPr>
        <p:spPr>
          <a:xfrm>
            <a:off x="548640" y="329184"/>
            <a:ext cx="11094415" cy="1051560"/>
          </a:xfrm>
          <a:prstGeom prst="rect">
            <a:avLst/>
          </a:prstGeom>
          <a:noFill/>
          <a:ln/>
        </p:spPr>
        <p:txBody>
          <a:bodyPr wrap="square" lIns="0" tIns="0" rIns="0" bIns="0" rtlCol="0" anchor="t"/>
          <a:lstStyle/>
          <a:p>
            <a:pPr algn="l" indent="0" marL="0">
              <a:buNone/>
            </a:pPr>
            <a:r>
              <a:rPr lang="en-US" sz="2700" b="1" dirty="0">
                <a:solidFill>
                  <a:srgbClr val="10243C"/>
                </a:solidFill>
                <a:latin typeface="Cambria" pitchFamily="34" charset="0"/>
                <a:ea typeface="Cambria" pitchFamily="34" charset="-122"/>
                <a:cs typeface="Cambria" pitchFamily="34" charset="-120"/>
              </a:rPr>
              <a:t>What this study does not claim</a:t>
            </a:r>
            <a:endParaRPr lang="en-US" sz="2700" dirty="0"/>
          </a:p>
        </p:txBody>
      </p:sp>
      <p:sp>
        <p:nvSpPr>
          <p:cNvPr id="4" name="Text 2"/>
          <p:cNvSpPr/>
          <p:nvPr/>
        </p:nvSpPr>
        <p:spPr>
          <a:xfrm>
            <a:off x="548640" y="6419088"/>
            <a:ext cx="7315200" cy="256032"/>
          </a:xfrm>
          <a:prstGeom prst="rect">
            <a:avLst/>
          </a:prstGeom>
          <a:noFill/>
          <a:ln/>
        </p:spPr>
        <p:txBody>
          <a:bodyPr wrap="square" lIns="0" tIns="0" rIns="0" bIns="0" rtlCol="0" anchor="ctr"/>
          <a:lstStyle/>
          <a:p>
            <a:pPr indent="0" marL="0">
              <a:buNone/>
            </a:pPr>
            <a:r>
              <a:rPr lang="en-US" sz="950" dirty="0">
                <a:solidFill>
                  <a:srgbClr val="7A8798"/>
                </a:solidFill>
                <a:latin typeface="Calibri" pitchFamily="34" charset="0"/>
                <a:ea typeface="Calibri" pitchFamily="34" charset="-122"/>
                <a:cs typeface="Calibri" pitchFamily="34" charset="-120"/>
              </a:rPr>
              <a:t>Limits</a:t>
            </a:r>
            <a:endParaRPr lang="en-US" sz="950" dirty="0"/>
          </a:p>
        </p:txBody>
      </p:sp>
      <p:sp>
        <p:nvSpPr>
          <p:cNvPr id="5" name="Text 3"/>
          <p:cNvSpPr/>
          <p:nvPr/>
        </p:nvSpPr>
        <p:spPr>
          <a:xfrm>
            <a:off x="11002975" y="6419088"/>
            <a:ext cx="640080" cy="256032"/>
          </a:xfrm>
          <a:prstGeom prst="rect">
            <a:avLst/>
          </a:prstGeom>
          <a:noFill/>
          <a:ln/>
        </p:spPr>
        <p:txBody>
          <a:bodyPr wrap="square" lIns="0" tIns="0" rIns="0" bIns="0" rtlCol="0" anchor="ctr"/>
          <a:lstStyle/>
          <a:p>
            <a:pPr algn="r" indent="0" marL="0">
              <a:buNone/>
            </a:pPr>
            <a:r>
              <a:rPr lang="en-US" sz="950" dirty="0">
                <a:solidFill>
                  <a:srgbClr val="7A8798"/>
                </a:solidFill>
                <a:latin typeface="Calibri" pitchFamily="34" charset="0"/>
                <a:ea typeface="Calibri" pitchFamily="34" charset="-122"/>
                <a:cs typeface="Calibri" pitchFamily="34" charset="-120"/>
              </a:rPr>
              <a:t>11</a:t>
            </a:r>
            <a:endParaRPr lang="en-US" sz="950" dirty="0"/>
          </a:p>
        </p:txBody>
      </p:sp>
      <p:sp>
        <p:nvSpPr>
          <p:cNvPr id="6" name="Shape 4"/>
          <p:cNvSpPr/>
          <p:nvPr/>
        </p:nvSpPr>
        <p:spPr>
          <a:xfrm>
            <a:off x="640080" y="2002536"/>
            <a:ext cx="274320" cy="274320"/>
          </a:xfrm>
          <a:prstGeom prst="ellipse">
            <a:avLst/>
          </a:prstGeom>
          <a:solidFill>
            <a:srgbClr val="FFFFFF"/>
          </a:solidFill>
          <a:ln w="25400">
            <a:solidFill>
              <a:srgbClr val="B8465E"/>
            </a:solidFill>
            <a:prstDash val="solid"/>
          </a:ln>
        </p:spPr>
      </p:sp>
      <p:sp>
        <p:nvSpPr>
          <p:cNvPr id="7" name="Text 5"/>
          <p:cNvSpPr/>
          <p:nvPr/>
        </p:nvSpPr>
        <p:spPr>
          <a:xfrm>
            <a:off x="1234440" y="1874520"/>
            <a:ext cx="9997135" cy="384048"/>
          </a:xfrm>
          <a:prstGeom prst="rect">
            <a:avLst/>
          </a:prstGeom>
          <a:noFill/>
          <a:ln/>
        </p:spPr>
        <p:txBody>
          <a:bodyPr wrap="square" lIns="0" tIns="0" rIns="0" bIns="0" rtlCol="0" anchor="ctr"/>
          <a:lstStyle/>
          <a:p>
            <a:pPr indent="0" marL="0">
              <a:buNone/>
            </a:pPr>
            <a:r>
              <a:rPr lang="en-US" sz="1800" b="1" dirty="0">
                <a:solidFill>
                  <a:srgbClr val="B8465E"/>
                </a:solidFill>
                <a:latin typeface="Cambria" pitchFamily="34" charset="0"/>
                <a:ea typeface="Cambria" pitchFamily="34" charset="-122"/>
                <a:cs typeface="Cambria" pitchFamily="34" charset="-120"/>
              </a:rPr>
              <a:t>Model-derived predictions, not experimental knockouts</a:t>
            </a:r>
            <a:endParaRPr lang="en-US" sz="1800" dirty="0"/>
          </a:p>
        </p:txBody>
      </p:sp>
      <p:sp>
        <p:nvSpPr>
          <p:cNvPr id="8" name="Text 6"/>
          <p:cNvSpPr/>
          <p:nvPr/>
        </p:nvSpPr>
        <p:spPr>
          <a:xfrm>
            <a:off x="1234440" y="2276856"/>
            <a:ext cx="9631375" cy="402336"/>
          </a:xfrm>
          <a:prstGeom prst="rect">
            <a:avLst/>
          </a:prstGeom>
          <a:noFill/>
          <a:ln/>
        </p:spPr>
        <p:txBody>
          <a:bodyPr wrap="square" lIns="0" tIns="0" rIns="0" bIns="0" rtlCol="0" anchor="t"/>
          <a:lstStyle/>
          <a:p>
            <a:pPr indent="0" marL="0">
              <a:buNone/>
            </a:pPr>
            <a:r>
              <a:rPr lang="en-US" sz="1300" dirty="0">
                <a:solidFill>
                  <a:srgbClr val="4A5768"/>
                </a:solidFill>
                <a:latin typeface="Calibri" pitchFamily="34" charset="0"/>
                <a:ea typeface="Calibri" pitchFamily="34" charset="-122"/>
                <a:cs typeface="Calibri" pitchFamily="34" charset="-120"/>
              </a:rPr>
              <a:t>Perturbation shifts are interventions on a rank-value encoding. Everything upstream is a prioritised hypothesis.</a:t>
            </a:r>
            <a:endParaRPr lang="en-US" sz="1300" dirty="0"/>
          </a:p>
        </p:txBody>
      </p:sp>
      <p:sp>
        <p:nvSpPr>
          <p:cNvPr id="9" name="Shape 7"/>
          <p:cNvSpPr/>
          <p:nvPr/>
        </p:nvSpPr>
        <p:spPr>
          <a:xfrm>
            <a:off x="640080" y="3026664"/>
            <a:ext cx="274320" cy="274320"/>
          </a:xfrm>
          <a:prstGeom prst="ellipse">
            <a:avLst/>
          </a:prstGeom>
          <a:solidFill>
            <a:srgbClr val="FFFFFF"/>
          </a:solidFill>
          <a:ln w="25400">
            <a:solidFill>
              <a:srgbClr val="AEBCCB"/>
            </a:solidFill>
            <a:prstDash val="solid"/>
          </a:ln>
        </p:spPr>
      </p:sp>
      <p:sp>
        <p:nvSpPr>
          <p:cNvPr id="10" name="Text 8"/>
          <p:cNvSpPr/>
          <p:nvPr/>
        </p:nvSpPr>
        <p:spPr>
          <a:xfrm>
            <a:off x="1234440" y="2898648"/>
            <a:ext cx="9997135" cy="384048"/>
          </a:xfrm>
          <a:prstGeom prst="rect">
            <a:avLst/>
          </a:prstGeom>
          <a:noFill/>
          <a:ln/>
        </p:spPr>
        <p:txBody>
          <a:bodyPr wrap="square" lIns="0" tIns="0" rIns="0" bIns="0" rtlCol="0" anchor="ctr"/>
          <a:lstStyle/>
          <a:p>
            <a:pPr indent="0" marL="0">
              <a:buNone/>
            </a:pPr>
            <a:r>
              <a:rPr lang="en-US" sz="1800" b="1" dirty="0">
                <a:solidFill>
                  <a:srgbClr val="10243C"/>
                </a:solidFill>
                <a:latin typeface="Cambria" pitchFamily="34" charset="0"/>
                <a:ea typeface="Cambria" pitchFamily="34" charset="-122"/>
                <a:cs typeface="Cambria" pitchFamily="34" charset="-120"/>
              </a:rPr>
              <a:t>Marker-score proxy, not deconvolution</a:t>
            </a:r>
            <a:endParaRPr lang="en-US" sz="1800" dirty="0"/>
          </a:p>
        </p:txBody>
      </p:sp>
      <p:sp>
        <p:nvSpPr>
          <p:cNvPr id="11" name="Text 9"/>
          <p:cNvSpPr/>
          <p:nvPr/>
        </p:nvSpPr>
        <p:spPr>
          <a:xfrm>
            <a:off x="1234440" y="3300984"/>
            <a:ext cx="9631375" cy="402336"/>
          </a:xfrm>
          <a:prstGeom prst="rect">
            <a:avLst/>
          </a:prstGeom>
          <a:noFill/>
          <a:ln/>
        </p:spPr>
        <p:txBody>
          <a:bodyPr wrap="square" lIns="0" tIns="0" rIns="0" bIns="0" rtlCol="0" anchor="t"/>
          <a:lstStyle/>
          <a:p>
            <a:pPr indent="0" marL="0">
              <a:buNone/>
            </a:pPr>
            <a:r>
              <a:rPr lang="en-US" sz="1300" dirty="0">
                <a:solidFill>
                  <a:srgbClr val="4A5768"/>
                </a:solidFill>
                <a:latin typeface="Calibri" pitchFamily="34" charset="0"/>
                <a:ea typeface="Calibri" pitchFamily="34" charset="-122"/>
                <a:cs typeface="Calibri" pitchFamily="34" charset="-120"/>
              </a:rPr>
              <a:t>Spot scores reflect panel expression, not inferred cell-type composition.</a:t>
            </a:r>
            <a:endParaRPr lang="en-US" sz="1300" dirty="0"/>
          </a:p>
        </p:txBody>
      </p:sp>
      <p:sp>
        <p:nvSpPr>
          <p:cNvPr id="12" name="Shape 10"/>
          <p:cNvSpPr/>
          <p:nvPr/>
        </p:nvSpPr>
        <p:spPr>
          <a:xfrm>
            <a:off x="640080" y="4050792"/>
            <a:ext cx="274320" cy="274320"/>
          </a:xfrm>
          <a:prstGeom prst="ellipse">
            <a:avLst/>
          </a:prstGeom>
          <a:solidFill>
            <a:srgbClr val="FFFFFF"/>
          </a:solidFill>
          <a:ln w="25400">
            <a:solidFill>
              <a:srgbClr val="AEBCCB"/>
            </a:solidFill>
            <a:prstDash val="solid"/>
          </a:ln>
        </p:spPr>
      </p:sp>
      <p:sp>
        <p:nvSpPr>
          <p:cNvPr id="13" name="Text 11"/>
          <p:cNvSpPr/>
          <p:nvPr/>
        </p:nvSpPr>
        <p:spPr>
          <a:xfrm>
            <a:off x="1234440" y="3922776"/>
            <a:ext cx="9997135" cy="384048"/>
          </a:xfrm>
          <a:prstGeom prst="rect">
            <a:avLst/>
          </a:prstGeom>
          <a:noFill/>
          <a:ln/>
        </p:spPr>
        <p:txBody>
          <a:bodyPr wrap="square" lIns="0" tIns="0" rIns="0" bIns="0" rtlCol="0" anchor="ctr"/>
          <a:lstStyle/>
          <a:p>
            <a:pPr indent="0" marL="0">
              <a:buNone/>
            </a:pPr>
            <a:r>
              <a:rPr lang="en-US" sz="1800" b="1" dirty="0">
                <a:solidFill>
                  <a:srgbClr val="10243C"/>
                </a:solidFill>
                <a:latin typeface="Cambria" pitchFamily="34" charset="0"/>
                <a:ea typeface="Cambria" pitchFamily="34" charset="-122"/>
                <a:cs typeface="Cambria" pitchFamily="34" charset="-120"/>
              </a:rPr>
              <a:t>SCLC-specificity untested</a:t>
            </a:r>
            <a:endParaRPr lang="en-US" sz="1800" dirty="0"/>
          </a:p>
        </p:txBody>
      </p:sp>
      <p:sp>
        <p:nvSpPr>
          <p:cNvPr id="14" name="Text 12"/>
          <p:cNvSpPr/>
          <p:nvPr/>
        </p:nvSpPr>
        <p:spPr>
          <a:xfrm>
            <a:off x="1234440" y="4325112"/>
            <a:ext cx="9631375" cy="402336"/>
          </a:xfrm>
          <a:prstGeom prst="rect">
            <a:avLst/>
          </a:prstGeom>
          <a:noFill/>
          <a:ln/>
        </p:spPr>
        <p:txBody>
          <a:bodyPr wrap="square" lIns="0" tIns="0" rIns="0" bIns="0" rtlCol="0" anchor="t"/>
          <a:lstStyle/>
          <a:p>
            <a:pPr indent="0" marL="0">
              <a:buNone/>
            </a:pPr>
            <a:r>
              <a:rPr lang="en-US" sz="1300" dirty="0">
                <a:solidFill>
                  <a:srgbClr val="4A5768"/>
                </a:solidFill>
                <a:latin typeface="Calibri" pitchFamily="34" charset="0"/>
                <a:ea typeface="Calibri" pitchFamily="34" charset="-122"/>
                <a:cs typeface="Calibri" pitchFamily="34" charset="-120"/>
              </a:rPr>
              <a:t>The validation cohort has no Normal or LUAD sections to serve as controls.</a:t>
            </a:r>
            <a:endParaRPr lang="en-US" sz="1300" dirty="0"/>
          </a:p>
        </p:txBody>
      </p:sp>
      <p:sp>
        <p:nvSpPr>
          <p:cNvPr id="15" name="Shape 13"/>
          <p:cNvSpPr/>
          <p:nvPr/>
        </p:nvSpPr>
        <p:spPr>
          <a:xfrm>
            <a:off x="640080" y="5074920"/>
            <a:ext cx="274320" cy="274320"/>
          </a:xfrm>
          <a:prstGeom prst="ellipse">
            <a:avLst/>
          </a:prstGeom>
          <a:solidFill>
            <a:srgbClr val="FFFFFF"/>
          </a:solidFill>
          <a:ln w="25400">
            <a:solidFill>
              <a:srgbClr val="AEBCCB"/>
            </a:solidFill>
            <a:prstDash val="solid"/>
          </a:ln>
        </p:spPr>
      </p:sp>
      <p:sp>
        <p:nvSpPr>
          <p:cNvPr id="16" name="Text 14"/>
          <p:cNvSpPr/>
          <p:nvPr/>
        </p:nvSpPr>
        <p:spPr>
          <a:xfrm>
            <a:off x="1234440" y="4946904"/>
            <a:ext cx="9997135" cy="384048"/>
          </a:xfrm>
          <a:prstGeom prst="rect">
            <a:avLst/>
          </a:prstGeom>
          <a:noFill/>
          <a:ln/>
        </p:spPr>
        <p:txBody>
          <a:bodyPr wrap="square" lIns="0" tIns="0" rIns="0" bIns="0" rtlCol="0" anchor="ctr"/>
          <a:lstStyle/>
          <a:p>
            <a:pPr indent="0" marL="0">
              <a:buNone/>
            </a:pPr>
            <a:r>
              <a:rPr lang="en-US" sz="1800" b="1" dirty="0">
                <a:solidFill>
                  <a:srgbClr val="10243C"/>
                </a:solidFill>
                <a:latin typeface="Cambria" pitchFamily="34" charset="0"/>
                <a:ea typeface="Cambria" pitchFamily="34" charset="-122"/>
                <a:cs typeface="Cambria" pitchFamily="34" charset="-120"/>
              </a:rPr>
              <a:t>Correlational, in archival tissue</a:t>
            </a:r>
            <a:endParaRPr lang="en-US" sz="1800" dirty="0"/>
          </a:p>
        </p:txBody>
      </p:sp>
      <p:sp>
        <p:nvSpPr>
          <p:cNvPr id="17" name="Text 15"/>
          <p:cNvSpPr/>
          <p:nvPr/>
        </p:nvSpPr>
        <p:spPr>
          <a:xfrm>
            <a:off x="1234440" y="5349240"/>
            <a:ext cx="9631375" cy="402336"/>
          </a:xfrm>
          <a:prstGeom prst="rect">
            <a:avLst/>
          </a:prstGeom>
          <a:noFill/>
          <a:ln/>
        </p:spPr>
        <p:txBody>
          <a:bodyPr wrap="square" lIns="0" tIns="0" rIns="0" bIns="0" rtlCol="0" anchor="t"/>
          <a:lstStyle/>
          <a:p>
            <a:pPr indent="0" marL="0">
              <a:buNone/>
            </a:pPr>
            <a:r>
              <a:rPr lang="en-US" sz="1300" dirty="0">
                <a:solidFill>
                  <a:srgbClr val="4A5768"/>
                </a:solidFill>
                <a:latin typeface="Calibri" pitchFamily="34" charset="0"/>
                <a:ea typeface="Calibri" pitchFamily="34" charset="-122"/>
                <a:cs typeface="Calibri" pitchFamily="34" charset="-120"/>
              </a:rPr>
              <a:t>Detection is source-state specific — absence of a result is not evidence of absence.</a:t>
            </a:r>
            <a:endParaRPr lang="en-US" sz="1300" dirty="0"/>
          </a:p>
        </p:txBody>
      </p:sp>
      <p:sp>
        <p:nvSpPr>
          <p:cNvPr id="18" name="Text 16"/>
          <p:cNvSpPr/>
          <p:nvPr/>
        </p:nvSpPr>
        <p:spPr>
          <a:xfrm>
            <a:off x="1234440" y="5943600"/>
            <a:ext cx="9997135" cy="365760"/>
          </a:xfrm>
          <a:prstGeom prst="rect">
            <a:avLst/>
          </a:prstGeom>
          <a:noFill/>
          <a:ln/>
        </p:spPr>
        <p:txBody>
          <a:bodyPr wrap="square" lIns="0" tIns="0" rIns="0" bIns="0" rtlCol="0" anchor="t"/>
          <a:lstStyle/>
          <a:p>
            <a:pPr indent="0" marL="0">
              <a:buNone/>
            </a:pPr>
            <a:r>
              <a:rPr lang="en-US" sz="1250" i="1" dirty="0">
                <a:solidFill>
                  <a:srgbClr val="7A8798"/>
                </a:solidFill>
                <a:latin typeface="Calibri" pitchFamily="34" charset="0"/>
                <a:ea typeface="Calibri" pitchFamily="34" charset="-122"/>
                <a:cs typeface="Calibri" pitchFamily="34" charset="-120"/>
              </a:rPr>
              <a:t>Stating these plainly is what makes everything on the previous ten slides usable.</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0243C"/>
        </a:solidFill>
      </p:bgPr>
    </p:bg>
    <p:spTree>
      <p:nvGrpSpPr>
        <p:cNvPr id="1" name=""/>
        <p:cNvGrpSpPr/>
        <p:nvPr/>
      </p:nvGrpSpPr>
      <p:grpSpPr>
        <a:xfrm>
          <a:off x="0" y="0"/>
          <a:ext cx="0" cy="0"/>
          <a:chOff x="0" y="0"/>
          <a:chExt cx="0" cy="0"/>
        </a:xfrm>
      </p:grpSpPr>
      <p:sp>
        <p:nvSpPr>
          <p:cNvPr id="2" name="Text 0"/>
          <p:cNvSpPr/>
          <p:nvPr/>
        </p:nvSpPr>
        <p:spPr>
          <a:xfrm>
            <a:off x="548640" y="384048"/>
            <a:ext cx="10911535" cy="1051560"/>
          </a:xfrm>
          <a:prstGeom prst="rect">
            <a:avLst/>
          </a:prstGeom>
          <a:noFill/>
          <a:ln/>
        </p:spPr>
        <p:txBody>
          <a:bodyPr wrap="square" lIns="0" tIns="0" rIns="0" bIns="0" rtlCol="0" anchor="t"/>
          <a:lstStyle/>
          <a:p>
            <a:pPr indent="0" marL="0">
              <a:buNone/>
            </a:pPr>
            <a:r>
              <a:rPr lang="en-US" sz="2800" b="1" dirty="0">
                <a:solidFill>
                  <a:srgbClr val="FFFFFF"/>
                </a:solidFill>
                <a:latin typeface="Cambria" pitchFamily="34" charset="0"/>
                <a:ea typeface="Cambria" pitchFamily="34" charset="-122"/>
                <a:cs typeface="Cambria" pitchFamily="34" charset="-120"/>
              </a:rPr>
              <a:t>A tissue-validated hypothesis, and the CRISPR experiment that would test it</a:t>
            </a:r>
            <a:endParaRPr lang="en-US" sz="2800" dirty="0"/>
          </a:p>
        </p:txBody>
      </p:sp>
      <p:sp>
        <p:nvSpPr>
          <p:cNvPr id="3" name="Shape 1"/>
          <p:cNvSpPr/>
          <p:nvPr/>
        </p:nvSpPr>
        <p:spPr>
          <a:xfrm>
            <a:off x="548640" y="1481328"/>
            <a:ext cx="3466490" cy="841248"/>
          </a:xfrm>
          <a:prstGeom prst="roundRect">
            <a:avLst>
              <a:gd name="adj" fmla="val 8696"/>
            </a:avLst>
          </a:prstGeom>
          <a:solidFill>
            <a:srgbClr val="1B3454"/>
          </a:solidFill>
          <a:ln w="19050">
            <a:solidFill>
              <a:srgbClr val="0B6F6A"/>
            </a:solidFill>
            <a:prstDash val="solid"/>
          </a:ln>
        </p:spPr>
      </p:sp>
      <p:sp>
        <p:nvSpPr>
          <p:cNvPr id="4" name="Text 2"/>
          <p:cNvSpPr/>
          <p:nvPr/>
        </p:nvSpPr>
        <p:spPr>
          <a:xfrm>
            <a:off x="694944" y="1481328"/>
            <a:ext cx="365760" cy="841248"/>
          </a:xfrm>
          <a:prstGeom prst="rect">
            <a:avLst/>
          </a:prstGeom>
          <a:noFill/>
          <a:ln/>
        </p:spPr>
        <p:txBody>
          <a:bodyPr wrap="square" lIns="0" tIns="0" rIns="0" bIns="0" rtlCol="0" anchor="ctr"/>
          <a:lstStyle/>
          <a:p>
            <a:pPr indent="0" marL="0">
              <a:buNone/>
            </a:pPr>
            <a:r>
              <a:rPr lang="en-US" sz="1500" b="1" dirty="0">
                <a:solidFill>
                  <a:srgbClr val="0B6F6A"/>
                </a:solidFill>
                <a:latin typeface="Calibri" pitchFamily="34" charset="0"/>
                <a:ea typeface="Calibri" pitchFamily="34" charset="-122"/>
                <a:cs typeface="Calibri" pitchFamily="34" charset="-120"/>
              </a:rPr>
              <a:t>✓</a:t>
            </a:r>
            <a:endParaRPr lang="en-US" sz="1500" dirty="0"/>
          </a:p>
        </p:txBody>
      </p:sp>
      <p:sp>
        <p:nvSpPr>
          <p:cNvPr id="5" name="Text 3"/>
          <p:cNvSpPr/>
          <p:nvPr/>
        </p:nvSpPr>
        <p:spPr>
          <a:xfrm>
            <a:off x="1097280" y="1481328"/>
            <a:ext cx="2780690" cy="8412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Donor-clean model</a:t>
            </a:r>
            <a:endParaRPr lang="en-US" sz="1300" dirty="0"/>
          </a:p>
          <a:p>
            <a:pPr indent="0" marL="0">
              <a:buNone/>
            </a:pPr>
            <a:r>
              <a:rPr lang="en-US" sz="1100" dirty="0">
                <a:solidFill>
                  <a:srgbClr val="9DB4C8"/>
                </a:solidFill>
                <a:latin typeface="Calibri" pitchFamily="34" charset="0"/>
                <a:ea typeface="Calibri" pitchFamily="34" charset="-122"/>
                <a:cs typeface="Calibri" pitchFamily="34" charset="-120"/>
              </a:rPr>
              <a:t>91.9%  ·  F1 0.903</a:t>
            </a:r>
            <a:endParaRPr lang="en-US" sz="1300" dirty="0"/>
          </a:p>
        </p:txBody>
      </p:sp>
      <p:sp>
        <p:nvSpPr>
          <p:cNvPr id="6" name="Text 4"/>
          <p:cNvSpPr/>
          <p:nvPr/>
        </p:nvSpPr>
        <p:spPr>
          <a:xfrm>
            <a:off x="4015130" y="1481328"/>
            <a:ext cx="347472" cy="841248"/>
          </a:xfrm>
          <a:prstGeom prst="rect">
            <a:avLst/>
          </a:prstGeom>
          <a:noFill/>
          <a:ln/>
        </p:spPr>
        <p:txBody>
          <a:bodyPr wrap="square" lIns="0" tIns="0" rIns="0" bIns="0" rtlCol="0" anchor="ctr"/>
          <a:lstStyle/>
          <a:p>
            <a:pPr algn="ctr" indent="0" marL="0">
              <a:buNone/>
            </a:pPr>
            <a:r>
              <a:rPr lang="en-US" sz="1700" dirty="0">
                <a:solidFill>
                  <a:srgbClr val="6E8AA6"/>
                </a:solidFill>
                <a:latin typeface="Calibri" pitchFamily="34" charset="0"/>
                <a:ea typeface="Calibri" pitchFamily="34" charset="-122"/>
                <a:cs typeface="Calibri" pitchFamily="34" charset="-120"/>
              </a:rPr>
              <a:t>→</a:t>
            </a:r>
            <a:endParaRPr lang="en-US" sz="1700" dirty="0"/>
          </a:p>
        </p:txBody>
      </p:sp>
      <p:sp>
        <p:nvSpPr>
          <p:cNvPr id="7" name="Shape 5"/>
          <p:cNvSpPr/>
          <p:nvPr/>
        </p:nvSpPr>
        <p:spPr>
          <a:xfrm>
            <a:off x="4362602" y="1481328"/>
            <a:ext cx="3466490" cy="841248"/>
          </a:xfrm>
          <a:prstGeom prst="roundRect">
            <a:avLst>
              <a:gd name="adj" fmla="val 8696"/>
            </a:avLst>
          </a:prstGeom>
          <a:solidFill>
            <a:srgbClr val="1B3454"/>
          </a:solidFill>
          <a:ln w="19050">
            <a:solidFill>
              <a:srgbClr val="6B5AA8"/>
            </a:solidFill>
            <a:prstDash val="solid"/>
          </a:ln>
        </p:spPr>
      </p:sp>
      <p:sp>
        <p:nvSpPr>
          <p:cNvPr id="8" name="Text 6"/>
          <p:cNvSpPr/>
          <p:nvPr/>
        </p:nvSpPr>
        <p:spPr>
          <a:xfrm>
            <a:off x="4508906" y="1481328"/>
            <a:ext cx="365760" cy="841248"/>
          </a:xfrm>
          <a:prstGeom prst="rect">
            <a:avLst/>
          </a:prstGeom>
          <a:noFill/>
          <a:ln/>
        </p:spPr>
        <p:txBody>
          <a:bodyPr wrap="square" lIns="0" tIns="0" rIns="0" bIns="0" rtlCol="0" anchor="ctr"/>
          <a:lstStyle/>
          <a:p>
            <a:pPr indent="0" marL="0">
              <a:buNone/>
            </a:pPr>
            <a:r>
              <a:rPr lang="en-US" sz="1500" b="1" dirty="0">
                <a:solidFill>
                  <a:srgbClr val="6B5AA8"/>
                </a:solidFill>
                <a:latin typeface="Calibri" pitchFamily="34" charset="0"/>
                <a:ea typeface="Calibri" pitchFamily="34" charset="-122"/>
                <a:cs typeface="Calibri" pitchFamily="34" charset="-120"/>
              </a:rPr>
              <a:t>✓</a:t>
            </a:r>
            <a:endParaRPr lang="en-US" sz="1500" dirty="0"/>
          </a:p>
        </p:txBody>
      </p:sp>
      <p:sp>
        <p:nvSpPr>
          <p:cNvPr id="9" name="Text 7"/>
          <p:cNvSpPr/>
          <p:nvPr/>
        </p:nvSpPr>
        <p:spPr>
          <a:xfrm>
            <a:off x="4911242" y="1481328"/>
            <a:ext cx="2780690" cy="8412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Four replicated edits</a:t>
            </a:r>
            <a:endParaRPr lang="en-US" sz="1300" dirty="0"/>
          </a:p>
          <a:p>
            <a:pPr indent="0" marL="0">
              <a:buNone/>
            </a:pPr>
            <a:r>
              <a:rPr lang="en-US" sz="1100" dirty="0">
                <a:solidFill>
                  <a:srgbClr val="9DB4C8"/>
                </a:solidFill>
                <a:latin typeface="Calibri" pitchFamily="34" charset="0"/>
                <a:ea typeface="Calibri" pitchFamily="34" charset="-122"/>
                <a:cs typeface="Calibri" pitchFamily="34" charset="-120"/>
              </a:rPr>
              <a:t>TIM-3 · TIGIT · CTLA-4 · IL7R</a:t>
            </a:r>
            <a:endParaRPr lang="en-US" sz="1300" dirty="0"/>
          </a:p>
        </p:txBody>
      </p:sp>
      <p:sp>
        <p:nvSpPr>
          <p:cNvPr id="10" name="Text 8"/>
          <p:cNvSpPr/>
          <p:nvPr/>
        </p:nvSpPr>
        <p:spPr>
          <a:xfrm>
            <a:off x="7829093" y="1481328"/>
            <a:ext cx="347472" cy="841248"/>
          </a:xfrm>
          <a:prstGeom prst="rect">
            <a:avLst/>
          </a:prstGeom>
          <a:noFill/>
          <a:ln/>
        </p:spPr>
        <p:txBody>
          <a:bodyPr wrap="square" lIns="0" tIns="0" rIns="0" bIns="0" rtlCol="0" anchor="ctr"/>
          <a:lstStyle/>
          <a:p>
            <a:pPr algn="ctr" indent="0" marL="0">
              <a:buNone/>
            </a:pPr>
            <a:r>
              <a:rPr lang="en-US" sz="1700" dirty="0">
                <a:solidFill>
                  <a:srgbClr val="6E8AA6"/>
                </a:solidFill>
                <a:latin typeface="Calibri" pitchFamily="34" charset="0"/>
                <a:ea typeface="Calibri" pitchFamily="34" charset="-122"/>
                <a:cs typeface="Calibri" pitchFamily="34" charset="-120"/>
              </a:rPr>
              <a:t>→</a:t>
            </a:r>
            <a:endParaRPr lang="en-US" sz="1700" dirty="0"/>
          </a:p>
        </p:txBody>
      </p:sp>
      <p:sp>
        <p:nvSpPr>
          <p:cNvPr id="11" name="Shape 9"/>
          <p:cNvSpPr/>
          <p:nvPr/>
        </p:nvSpPr>
        <p:spPr>
          <a:xfrm>
            <a:off x="8176565" y="1481328"/>
            <a:ext cx="3466490" cy="841248"/>
          </a:xfrm>
          <a:prstGeom prst="roundRect">
            <a:avLst>
              <a:gd name="adj" fmla="val 8696"/>
            </a:avLst>
          </a:prstGeom>
          <a:solidFill>
            <a:srgbClr val="1B3454"/>
          </a:solidFill>
          <a:ln w="19050">
            <a:solidFill>
              <a:srgbClr val="B8465E"/>
            </a:solidFill>
            <a:prstDash val="solid"/>
          </a:ln>
        </p:spPr>
      </p:sp>
      <p:sp>
        <p:nvSpPr>
          <p:cNvPr id="12" name="Text 10"/>
          <p:cNvSpPr/>
          <p:nvPr/>
        </p:nvSpPr>
        <p:spPr>
          <a:xfrm>
            <a:off x="8322869" y="1481328"/>
            <a:ext cx="365760" cy="841248"/>
          </a:xfrm>
          <a:prstGeom prst="rect">
            <a:avLst/>
          </a:prstGeom>
          <a:noFill/>
          <a:ln/>
        </p:spPr>
        <p:txBody>
          <a:bodyPr wrap="square" lIns="0" tIns="0" rIns="0" bIns="0" rtlCol="0" anchor="ctr"/>
          <a:lstStyle/>
          <a:p>
            <a:pPr indent="0" marL="0">
              <a:buNone/>
            </a:pPr>
            <a:r>
              <a:rPr lang="en-US" sz="1500" b="1" dirty="0">
                <a:solidFill>
                  <a:srgbClr val="B8465E"/>
                </a:solidFill>
                <a:latin typeface="Calibri" pitchFamily="34" charset="0"/>
                <a:ea typeface="Calibri" pitchFamily="34" charset="-122"/>
                <a:cs typeface="Calibri" pitchFamily="34" charset="-120"/>
              </a:rPr>
              <a:t>✓</a:t>
            </a:r>
            <a:endParaRPr lang="en-US" sz="1500" dirty="0"/>
          </a:p>
        </p:txBody>
      </p:sp>
      <p:sp>
        <p:nvSpPr>
          <p:cNvPr id="13" name="Text 11"/>
          <p:cNvSpPr/>
          <p:nvPr/>
        </p:nvSpPr>
        <p:spPr>
          <a:xfrm>
            <a:off x="8725205" y="1481328"/>
            <a:ext cx="2780690" cy="8412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Tissue-validated programme</a:t>
            </a:r>
            <a:endParaRPr lang="en-US" sz="1300" dirty="0"/>
          </a:p>
          <a:p>
            <a:pPr indent="0" marL="0">
              <a:buNone/>
            </a:pPr>
            <a:r>
              <a:rPr lang="en-US" sz="1100" dirty="0">
                <a:solidFill>
                  <a:srgbClr val="9DB4C8"/>
                </a:solidFill>
                <a:latin typeface="Calibri" pitchFamily="34" charset="0"/>
                <a:ea typeface="Calibri" pitchFamily="34" charset="-122"/>
                <a:cs typeface="Calibri" pitchFamily="34" charset="-120"/>
              </a:rPr>
              <a:t>ρ 0.361  ·  7.95 σ</a:t>
            </a:r>
            <a:endParaRPr lang="en-US" sz="1300" dirty="0"/>
          </a:p>
        </p:txBody>
      </p:sp>
      <p:sp>
        <p:nvSpPr>
          <p:cNvPr id="14" name="Shape 12"/>
          <p:cNvSpPr/>
          <p:nvPr/>
        </p:nvSpPr>
        <p:spPr>
          <a:xfrm>
            <a:off x="548640" y="2606040"/>
            <a:ext cx="5341468" cy="1828800"/>
          </a:xfrm>
          <a:prstGeom prst="roundRect">
            <a:avLst>
              <a:gd name="adj" fmla="val 4000"/>
            </a:avLst>
          </a:prstGeom>
          <a:solidFill>
            <a:srgbClr val="18304E"/>
          </a:solidFill>
          <a:ln w="12700">
            <a:solidFill>
              <a:srgbClr val="2B4A6E"/>
            </a:solidFill>
            <a:prstDash val="solid"/>
          </a:ln>
        </p:spPr>
      </p:sp>
      <p:sp>
        <p:nvSpPr>
          <p:cNvPr id="15" name="Text 13"/>
          <p:cNvSpPr/>
          <p:nvPr/>
        </p:nvSpPr>
        <p:spPr>
          <a:xfrm>
            <a:off x="804672" y="2743200"/>
            <a:ext cx="4829404" cy="274320"/>
          </a:xfrm>
          <a:prstGeom prst="rect">
            <a:avLst/>
          </a:prstGeom>
          <a:noFill/>
          <a:ln/>
        </p:spPr>
        <p:txBody>
          <a:bodyPr wrap="square" lIns="0" tIns="0" rIns="0" bIns="0" rtlCol="0" anchor="ctr"/>
          <a:lstStyle/>
          <a:p>
            <a:pPr indent="0" marL="0">
              <a:buNone/>
            </a:pPr>
            <a:r>
              <a:rPr lang="en-US" sz="1150" b="1" spc="140" kern="0" dirty="0">
                <a:solidFill>
                  <a:srgbClr val="B8465E"/>
                </a:solidFill>
                <a:latin typeface="Calibri" pitchFamily="34" charset="0"/>
                <a:ea typeface="Calibri" pitchFamily="34" charset="-122"/>
                <a:cs typeface="Calibri" pitchFamily="34" charset="-120"/>
              </a:rPr>
              <a:t>EXPERIMENTAL</a:t>
            </a:r>
            <a:endParaRPr lang="en-US" sz="1150" dirty="0"/>
          </a:p>
        </p:txBody>
      </p:sp>
      <p:sp>
        <p:nvSpPr>
          <p:cNvPr id="16" name="Text 14"/>
          <p:cNvSpPr/>
          <p:nvPr/>
        </p:nvSpPr>
        <p:spPr>
          <a:xfrm>
            <a:off x="804672" y="3090672"/>
            <a:ext cx="4829404" cy="1234440"/>
          </a:xfrm>
          <a:prstGeom prst="rect">
            <a:avLst/>
          </a:prstGeom>
          <a:noFill/>
          <a:ln/>
        </p:spPr>
        <p:txBody>
          <a:bodyPr wrap="square" lIns="0" tIns="0" rIns="0" bIns="0" rtlCol="0" anchor="t"/>
          <a:lstStyle/>
          <a:p>
            <a:pPr marL="177800" indent="-177800">
              <a:lnSpc>
                <a:spcPts val="1900"/>
              </a:lnSpc>
              <a:spcAft>
                <a:spcPts val="600"/>
              </a:spcAft>
              <a:buSzPct val="100000"/>
              <a:buChar char="•"/>
            </a:pPr>
            <a:r>
              <a:rPr lang="en-US" sz="1250" dirty="0">
                <a:solidFill>
                  <a:srgbClr val="DCE7F0"/>
                </a:solidFill>
                <a:latin typeface="Calibri" pitchFamily="34" charset="0"/>
                <a:ea typeface="Calibri" pitchFamily="34" charset="-122"/>
                <a:cs typeface="Calibri" pitchFamily="34" charset="-120"/>
              </a:rPr>
              <a:t>CRISPR knockout of TIGIT and HAVCR2 in SCLC co-culture</a:t>
            </a:r>
            <a:endParaRPr lang="en-US" sz="1250" dirty="0"/>
          </a:p>
          <a:p>
            <a:pPr marL="177800" indent="-177800">
              <a:lnSpc>
                <a:spcPts val="1900"/>
              </a:lnSpc>
              <a:spcAft>
                <a:spcPts val="600"/>
              </a:spcAft>
              <a:buSzPct val="100000"/>
              <a:buChar char="•"/>
            </a:pPr>
            <a:r>
              <a:rPr lang="en-US" sz="1250" dirty="0">
                <a:solidFill>
                  <a:srgbClr val="DCE7F0"/>
                </a:solidFill>
                <a:latin typeface="Calibri" pitchFamily="34" charset="0"/>
                <a:ea typeface="Calibri" pitchFamily="34" charset="-122"/>
                <a:cs typeface="Calibri" pitchFamily="34" charset="-120"/>
              </a:rPr>
              <a:t>Perturb-seq in primary T cells vs in silico predictions</a:t>
            </a:r>
            <a:endParaRPr lang="en-US" sz="1250" dirty="0"/>
          </a:p>
          <a:p>
            <a:pPr marL="177800" indent="-177800">
              <a:lnSpc>
                <a:spcPts val="1900"/>
              </a:lnSpc>
              <a:spcAft>
                <a:spcPts val="600"/>
              </a:spcAft>
              <a:buSzPct val="100000"/>
              <a:buChar char="•"/>
            </a:pPr>
            <a:r>
              <a:rPr lang="en-US" sz="1250" dirty="0">
                <a:solidFill>
                  <a:srgbClr val="DCE7F0"/>
                </a:solidFill>
                <a:latin typeface="Calibri" pitchFamily="34" charset="0"/>
                <a:ea typeface="Calibri" pitchFamily="34" charset="-122"/>
                <a:cs typeface="Calibri" pitchFamily="34" charset="-120"/>
              </a:rPr>
              <a:t>Clinical outcome correlation once metadata is available</a:t>
            </a:r>
            <a:endParaRPr lang="en-US" sz="1250" dirty="0"/>
          </a:p>
        </p:txBody>
      </p:sp>
      <p:sp>
        <p:nvSpPr>
          <p:cNvPr id="17" name="Shape 15"/>
          <p:cNvSpPr/>
          <p:nvPr/>
        </p:nvSpPr>
        <p:spPr>
          <a:xfrm>
            <a:off x="6301588" y="2606040"/>
            <a:ext cx="5341468" cy="1828800"/>
          </a:xfrm>
          <a:prstGeom prst="roundRect">
            <a:avLst>
              <a:gd name="adj" fmla="val 4000"/>
            </a:avLst>
          </a:prstGeom>
          <a:solidFill>
            <a:srgbClr val="18304E"/>
          </a:solidFill>
          <a:ln w="12700">
            <a:solidFill>
              <a:srgbClr val="2B4A6E"/>
            </a:solidFill>
            <a:prstDash val="solid"/>
          </a:ln>
        </p:spPr>
      </p:sp>
      <p:sp>
        <p:nvSpPr>
          <p:cNvPr id="18" name="Text 16"/>
          <p:cNvSpPr/>
          <p:nvPr/>
        </p:nvSpPr>
        <p:spPr>
          <a:xfrm>
            <a:off x="6557620" y="2743200"/>
            <a:ext cx="4829404" cy="274320"/>
          </a:xfrm>
          <a:prstGeom prst="rect">
            <a:avLst/>
          </a:prstGeom>
          <a:noFill/>
          <a:ln/>
        </p:spPr>
        <p:txBody>
          <a:bodyPr wrap="square" lIns="0" tIns="0" rIns="0" bIns="0" rtlCol="0" anchor="ctr"/>
          <a:lstStyle/>
          <a:p>
            <a:pPr indent="0" marL="0">
              <a:buNone/>
            </a:pPr>
            <a:r>
              <a:rPr lang="en-US" sz="1150" b="1" spc="140" kern="0" dirty="0">
                <a:solidFill>
                  <a:srgbClr val="0B6F6A"/>
                </a:solidFill>
                <a:latin typeface="Calibri" pitchFamily="34" charset="0"/>
                <a:ea typeface="Calibri" pitchFamily="34" charset="-122"/>
                <a:cs typeface="Calibri" pitchFamily="34" charset="-120"/>
              </a:rPr>
              <a:t>COMPUTATIONAL</a:t>
            </a:r>
            <a:endParaRPr lang="en-US" sz="1150" dirty="0"/>
          </a:p>
        </p:txBody>
      </p:sp>
      <p:sp>
        <p:nvSpPr>
          <p:cNvPr id="19" name="Text 17"/>
          <p:cNvSpPr/>
          <p:nvPr/>
        </p:nvSpPr>
        <p:spPr>
          <a:xfrm>
            <a:off x="6557620" y="3090672"/>
            <a:ext cx="4829404" cy="1234440"/>
          </a:xfrm>
          <a:prstGeom prst="rect">
            <a:avLst/>
          </a:prstGeom>
          <a:noFill/>
          <a:ln/>
        </p:spPr>
        <p:txBody>
          <a:bodyPr wrap="square" lIns="0" tIns="0" rIns="0" bIns="0" rtlCol="0" anchor="t"/>
          <a:lstStyle/>
          <a:p>
            <a:pPr marL="177800" indent="-177800">
              <a:lnSpc>
                <a:spcPts val="1900"/>
              </a:lnSpc>
              <a:spcAft>
                <a:spcPts val="600"/>
              </a:spcAft>
              <a:buSzPct val="100000"/>
              <a:buChar char="•"/>
            </a:pPr>
            <a:r>
              <a:rPr lang="en-US" sz="1250" dirty="0">
                <a:solidFill>
                  <a:srgbClr val="DCE7F0"/>
                </a:solidFill>
                <a:latin typeface="Calibri" pitchFamily="34" charset="0"/>
                <a:ea typeface="Calibri" pitchFamily="34" charset="-122"/>
                <a:cs typeface="Calibri" pitchFamily="34" charset="-120"/>
              </a:rPr>
              <a:t>cell2location deconvolution in place of marker scores</a:t>
            </a:r>
            <a:endParaRPr lang="en-US" sz="1250" dirty="0"/>
          </a:p>
          <a:p>
            <a:pPr marL="177800" indent="-177800">
              <a:lnSpc>
                <a:spcPts val="1900"/>
              </a:lnSpc>
              <a:spcAft>
                <a:spcPts val="600"/>
              </a:spcAft>
              <a:buSzPct val="100000"/>
              <a:buChar char="•"/>
            </a:pPr>
            <a:r>
              <a:rPr lang="en-US" sz="1250" dirty="0">
                <a:solidFill>
                  <a:srgbClr val="DCE7F0"/>
                </a:solidFill>
                <a:latin typeface="Calibri" pitchFamily="34" charset="0"/>
                <a:ea typeface="Calibri" pitchFamily="34" charset="-122"/>
                <a:cs typeface="Calibri" pitchFamily="34" charset="-120"/>
              </a:rPr>
              <a:t>Normal / LUAD sections as specificity controls</a:t>
            </a:r>
            <a:endParaRPr lang="en-US" sz="1250" dirty="0"/>
          </a:p>
          <a:p>
            <a:pPr marL="177800" indent="-177800">
              <a:lnSpc>
                <a:spcPts val="1900"/>
              </a:lnSpc>
              <a:spcAft>
                <a:spcPts val="600"/>
              </a:spcAft>
              <a:buSzPct val="100000"/>
              <a:buChar char="•"/>
            </a:pPr>
            <a:r>
              <a:rPr lang="en-US" sz="1250" dirty="0">
                <a:solidFill>
                  <a:srgbClr val="DCE7F0"/>
                </a:solidFill>
                <a:latin typeface="Calibri" pitchFamily="34" charset="0"/>
                <a:ea typeface="Calibri" pitchFamily="34" charset="-122"/>
                <a:cs typeface="Calibri" pitchFamily="34" charset="-120"/>
              </a:rPr>
              <a:t>scGPT cross-model replication</a:t>
            </a:r>
            <a:endParaRPr lang="en-US" sz="1250" dirty="0"/>
          </a:p>
        </p:txBody>
      </p:sp>
      <p:sp>
        <p:nvSpPr>
          <p:cNvPr id="20" name="Shape 18"/>
          <p:cNvSpPr/>
          <p:nvPr/>
        </p:nvSpPr>
        <p:spPr>
          <a:xfrm>
            <a:off x="548640" y="4663440"/>
            <a:ext cx="9402775" cy="731520"/>
          </a:xfrm>
          <a:prstGeom prst="roundRect">
            <a:avLst>
              <a:gd name="adj" fmla="val 10000"/>
            </a:avLst>
          </a:prstGeom>
          <a:solidFill>
            <a:srgbClr val="3A2230"/>
          </a:solidFill>
          <a:ln w="15875">
            <a:solidFill>
              <a:srgbClr val="B8465E"/>
            </a:solidFill>
            <a:prstDash val="solid"/>
          </a:ln>
        </p:spPr>
      </p:sp>
      <p:sp>
        <p:nvSpPr>
          <p:cNvPr id="21" name="Text 19"/>
          <p:cNvSpPr/>
          <p:nvPr/>
        </p:nvSpPr>
        <p:spPr>
          <a:xfrm>
            <a:off x="804672" y="4663440"/>
            <a:ext cx="8899855" cy="731520"/>
          </a:xfrm>
          <a:prstGeom prst="rect">
            <a:avLst/>
          </a:prstGeom>
          <a:noFill/>
          <a:ln/>
        </p:spPr>
        <p:txBody>
          <a:bodyPr wrap="square" lIns="0" tIns="0" rIns="0" bIns="0" rtlCol="0" anchor="ctr"/>
          <a:lstStyle/>
          <a:p>
            <a:pPr indent="0" marL="0">
              <a:buNone/>
            </a:pPr>
            <a:r>
              <a:rPr lang="en-US" sz="1400" b="1" dirty="0">
                <a:solidFill>
                  <a:srgbClr val="F0C9D3"/>
                </a:solidFill>
                <a:latin typeface="Calibri" pitchFamily="34" charset="0"/>
                <a:ea typeface="Calibri" pitchFamily="34" charset="-122"/>
                <a:cs typeface="Calibri" pitchFamily="34" charset="-120"/>
              </a:rPr>
              <a:t>Still open: why does the model order Normal &lt; SCLC &lt; LUAD on the exhaustion axis?</a:t>
            </a:r>
            <a:endParaRPr lang="en-US" sz="1400" dirty="0"/>
          </a:p>
        </p:txBody>
      </p:sp>
      <p:pic>
        <p:nvPicPr>
          <p:cNvPr id="22" name="Image 0" descr="/Users/kaisar/workspace/geneformer-lung-tcell/talk/assets/qr.png">    </p:cNvPr>
          <p:cNvPicPr>
            <a:picLocks noChangeAspect="1"/>
          </p:cNvPicPr>
          <p:nvPr/>
        </p:nvPicPr>
        <p:blipFill>
          <a:blip r:embed="rId1"/>
          <a:stretch>
            <a:fillRect/>
          </a:stretch>
        </p:blipFill>
        <p:spPr>
          <a:xfrm>
            <a:off x="10271455" y="4663440"/>
            <a:ext cx="1371600" cy="1371600"/>
          </a:xfrm>
          <a:prstGeom prst="rect">
            <a:avLst/>
          </a:prstGeom>
        </p:spPr>
      </p:pic>
      <p:sp>
        <p:nvSpPr>
          <p:cNvPr id="23" name="Text 20"/>
          <p:cNvSpPr/>
          <p:nvPr/>
        </p:nvSpPr>
        <p:spPr>
          <a:xfrm>
            <a:off x="548640" y="5577840"/>
            <a:ext cx="9402775" cy="320040"/>
          </a:xfrm>
          <a:prstGeom prst="rect">
            <a:avLst/>
          </a:prstGeom>
          <a:noFill/>
          <a:ln/>
        </p:spPr>
        <p:txBody>
          <a:bodyPr wrap="square" lIns="0" tIns="0" rIns="0" bIns="0" rtlCol="0" anchor="ctr"/>
          <a:lstStyle/>
          <a:p>
            <a:pPr indent="0" marL="0">
              <a:buNone/>
            </a:pPr>
            <a:r>
              <a:rPr lang="en-US" sz="1150" dirty="0">
                <a:solidFill>
                  <a:srgbClr val="8FB3C9"/>
                </a:solidFill>
                <a:latin typeface="Calibri" pitchFamily="34" charset="0"/>
                <a:ea typeface="Calibri" pitchFamily="34" charset="-122"/>
                <a:cs typeface="Calibri" pitchFamily="34" charset="-120"/>
              </a:rPr>
              <a:t>github.com/Kays3/geneformer-lung-tcell  ·  snakaoka@sci.hokudai.ac.jp</a:t>
            </a:r>
            <a:endParaRPr lang="en-US" sz="1150" dirty="0"/>
          </a:p>
        </p:txBody>
      </p:sp>
      <p:sp>
        <p:nvSpPr>
          <p:cNvPr id="24" name="Text 21"/>
          <p:cNvSpPr/>
          <p:nvPr/>
        </p:nvSpPr>
        <p:spPr>
          <a:xfrm>
            <a:off x="548640" y="5943600"/>
            <a:ext cx="9402775" cy="320040"/>
          </a:xfrm>
          <a:prstGeom prst="rect">
            <a:avLst/>
          </a:prstGeom>
          <a:noFill/>
          <a:ln/>
        </p:spPr>
        <p:txBody>
          <a:bodyPr wrap="square" lIns="0" tIns="0" rIns="0" bIns="0" rtlCol="0" anchor="ctr"/>
          <a:lstStyle/>
          <a:p>
            <a:pPr indent="0" marL="0">
              <a:buNone/>
            </a:pPr>
            <a:r>
              <a:rPr lang="en-US" sz="1050" dirty="0">
                <a:solidFill>
                  <a:srgbClr val="6E8AA6"/>
                </a:solidFill>
                <a:latin typeface="Calibri" pitchFamily="34" charset="0"/>
                <a:ea typeface="Calibri" pitchFamily="34" charset="-122"/>
                <a:cs typeface="Calibri" pitchFamily="34" charset="-120"/>
              </a:rPr>
              <a:t>Kaisar Dauyey &amp; Shinji Nakaoka  ·  Hokkaido University  ·  24JSDP P25</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Foundation-model perturbation analysis in SCLC</dc:title>
  <dc:subject>PptxGenJS Presentation</dc:subject>
  <dc:creator>Kaisar Dauyey</dc:creator>
  <cp:lastModifiedBy>Kaisar Dauyey</cp:lastModifiedBy>
  <cp:revision>1</cp:revision>
  <dcterms:created xsi:type="dcterms:W3CDTF">2026-08-12T06:51:16Z</dcterms:created>
  <dcterms:modified xsi:type="dcterms:W3CDTF">2026-08-12T06:51:16Z</dcterms:modified>
</cp:coreProperties>
</file>